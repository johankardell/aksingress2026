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We will cover four shifts that change how we build platforms on AKS this year:</a:t>
            </a:r>
          </a:p>
          <a:p>
            <a:r>
              <a:rPr sz="1100"/>
              <a:t>1. Istio: sidecar → ambient mode, with the repo demo using Azure Kubernetes Application Network preview because the classic AKS Istio add-on does not provide this Gateway API ambient path.</a:t>
            </a:r>
          </a:p>
          <a:p>
            <a:r>
              <a:rPr sz="1100"/>
              <a:t>2. Ingress → Gateway API (the new standard, role-oriented, vendor-neutral).</a:t>
            </a:r>
          </a:p>
          <a:p>
            <a:r>
              <a:rPr sz="1100"/>
              <a:t>3. Application Gateway for Containers (AGC) — the Azure-native Gateway API implementation using the ALB Controller and `ApplicationLoadBalancer` CRD, successor to AGIC.</a:t>
            </a:r>
          </a:p>
          <a:p>
            <a:r>
              <a:rPr sz="1100"/>
              <a:t>4. Managed Argo CD on AKS — a first-class GitOps option next to managed Flux.</a:t>
            </a:r>
          </a:p>
          <a:p>
            <a:r>
              <a:rPr sz="1100"/>
              <a:t>Audience is expected to know AKS basics, kubectl, Helm and CRDs.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honest answer: most teams discover they want *parts* of a mesh (mTLS, retries, observability) before they want all of it. Ambient mode finally lets you adopt those parts incrementally without committing every pod to a sidecar. Use this slide to set expectations: a mesh is a platform investment, not a free feature.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Sidecars worked, but the cost model scales linearly with pod count, not with the actual traffic you want governed. Every Java pod paid the Envoy tax even if it only talked to one other service. Upgrading Istio meant restarting every app pod. That is what ambient mode fixes.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big idea: separate the security plane (always-on, cheap, L4 + mTLS) from the policy plane (L7, on-demand). Most pods only ever needed mTLS and identity. They now get that from ztunnel without an injected container. Only pods that actually need L7 features route through a waypoint Envoy, and that waypoint is shared per namespace/identity instead of one-per-pod.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Walk through the seven steps live. Emphasize that the app sends *plain* TCP — no client library, no port change. The node's CNI/redirect (eBPF on AKS with Cilium dataplane, iptables otherwise) hands the packet to ztunnel. HBONE is the tunnel protocol: HTTP/2 CONNECT carrying the original TCP, secured by mTLS using SPIFFE identities. The waypoint is *optional and per-namespace*, which is why ambient is cheaper than sidecars.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For this repo, the managed ambient demo does **not** use the classic AKS Istio service mesh add-on. Current AKS add-on constraints make Azure Kubernetes Application Network preview the managed ambient path for the requested Gateway API ingress and east-west mesh visualization. The namespace is still labeled with `istio.io/dataplane-mode=ambient`, waypoints are expressed as Gateway API resources, and Kiali is used to explain ztunnel and waypoint traffic when the preview telemetry is available.</a:t>
            </a:r>
          </a:p>
          <a:p>
            <a:r>
              <a:rPr sz="1100"/>
              <a:t/>
            </a:r>
          </a:p>
          <a:p>
            <a:r>
              <a:rPr sz="1100"/>
              <a:t>--- Azure CLI script ---</a:t>
            </a:r>
          </a:p>
          <a:p>
            <a:r>
              <a:rPr sz="1100"/>
              <a:t># Demo 04 uses an explicit preview exception: Azure Kubernetes Application Network in North Europe.</a:t>
            </a:r>
          </a:p>
          <a:p>
            <a:r>
              <a:rPr sz="1100"/>
              <a:t>cd 04-managed-istio-ambient</a:t>
            </a:r>
          </a:p>
          <a:p>
            <a:r>
              <a:rPr sz="1100"/>
              <a:t/>
            </a:r>
          </a:p>
          <a:p>
            <a:r>
              <a:rPr sz="1100"/>
              <a:t># 1. Verify preview regional support before a workshop.</a:t>
            </a:r>
          </a:p>
          <a:p>
            <a:r>
              <a:rPr sz="1100"/>
              <a:t>az appnet list-versions --location northeurope -o table</a:t>
            </a:r>
          </a:p>
          <a:p>
            <a:r>
              <a:rPr sz="1100"/>
              <a:t>az aks get-versions --location northeurope --output table</a:t>
            </a:r>
          </a:p>
          <a:p>
            <a:r>
              <a:rPr sz="1100"/>
              <a:t>az vm list-skus --location northeurope --size Standard_B4as_v2 --all --output table</a:t>
            </a:r>
          </a:p>
          <a:p>
            <a:r>
              <a:rPr sz="1100"/>
              <a:t/>
            </a:r>
          </a:p>
          <a:p>
            <a:r>
              <a:rPr sz="1100"/>
              <a:t># 2. Deploy AKS, Application Network membership, managed Gateway API, app, Prometheus, and Kiali.</a:t>
            </a:r>
          </a:p>
          <a:p>
            <a:r>
              <a:rPr sz="1100"/>
              <a:t>./scripts/deploy.sh</a:t>
            </a:r>
          </a:p>
          <a:p>
            <a:r>
              <a:rPr sz="1100"/>
              <a:t/>
            </a:r>
          </a:p>
          <a:p>
            <a:r>
              <a:rPr sz="1100"/>
              <a:t># 3. Generate traffic for the graph.</a:t>
            </a:r>
          </a:p>
          <a:p>
            <a:r>
              <a:rPr sz="1100"/>
              <a:t>./scripts/generate-traffic.sh</a:t>
            </a:r>
          </a:p>
          <a:p>
            <a:r>
              <a:rPr sz="1100"/>
              <a:t/>
            </a:r>
          </a:p>
          <a:p>
            <a:r>
              <a:rPr sz="1100"/>
              <a:t># 4. Open Kiali locally.</a:t>
            </a:r>
          </a:p>
          <a:p>
            <a:r>
              <a:rPr sz="1100"/>
              <a:t>kubectl port-forward -n kiali-system svc/kiali 20001:20001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Before we talk about *why* Ingress isn't enough anymore, let's make sure everyone has the same mental model. An `Ingress` object is just YAML — it does nothing on its own. The Ingress Controller is what brings it to life: it watches the API server and programs a reverse proxy (NGINX, Envoy, …) that actually handles the requests. Externally, a cloud load balancer fronts the controller's pods. Some implementations (like Application Gateway for Containers) push the data plane *outside* the cluster, but the conceptual model is the same: a controller reconciles intent, a proxy carries traffic.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Be precise here: the Kubernetes `Ingress` API is stable and existing workloads can keep using it. The retirement concern is specifically the community `kubernetes/ingress-nginx` controller implementation, not the core API. Gateway API is to Ingress what `Deployment` was to `ReplicationController`: same intent, much better data model and extension points. The key word is *role-oriented*: a platform team owns the `Gateway`, dev teams own `HTTPRoute`s and attach to it via `parentRefs`. That alone removes 80% of the annotation collisions we used to have.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Show the contrast. With Ingress, the app developer files a PR that touches a cluster-scoped resource with annotations the platform team has to review. With Gateway API, the platform team publishes one `Gateway` with hostnames/cert/IP; dev teams ship `HTTPRoute` objects in their own namespace and attach to that Gateway. The `ReferenceGrant` resource controls cross-namespace attachment. RBAC finally lines up with how teams actually 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Envoy Gateway is the upstream-reference implementation. The current demo script applies the stable upstream v1.2.3 `install.yaml`, verifies `GatewayClass/envoy-gateway`, then applies the application `Gateway` and `HTTPRoute` in the `demo` namespace. On AKS, Envoy's Service of type LoadBalancer triggers an Azure SLB and public IP — same north-south model you already use, but routing is portable Gateway API YAML rather than controller-specific annotations. The repository deployment flow is split into infra, image build, and Kubernetes configuration phases so only the final phase touches the active `kubectl` context.</a:t>
            </a:r>
          </a:p>
          <a:p>
            <a:r>
              <a:rPr sz="1100"/>
              <a:t/>
            </a:r>
          </a:p>
          <a:p>
            <a:r>
              <a:rPr sz="1100"/>
              <a:t>--- Azure CLI script ---</a:t>
            </a:r>
          </a:p>
          <a:p>
            <a:r>
              <a:rPr sz="1100"/>
              <a:t># Demo path: 02-envoy-gateway-api</a:t>
            </a:r>
          </a:p>
          <a:p>
            <a:r>
              <a:rPr sz="1100"/>
              <a:t>cd 02-envoy-gateway-api</a:t>
            </a:r>
          </a:p>
          <a:p>
            <a:r>
              <a:rPr sz="1100"/>
              <a:t/>
            </a:r>
          </a:p>
          <a:p>
            <a:r>
              <a:rPr sz="1100"/>
              <a:t># 1. Deploy AKS/ACR infra with Bicep, Entra ID + Azure RBAC, and local accounts disabled</a:t>
            </a:r>
          </a:p>
          <a:p>
            <a:r>
              <a:rPr sz="1100"/>
              <a:t>./scripts/deploy-infra.sh</a:t>
            </a:r>
          </a:p>
          <a:p>
            <a:r>
              <a:rPr sz="1100"/>
              <a:t/>
            </a:r>
          </a:p>
          <a:p>
            <a:r>
              <a:rPr sz="1100"/>
              <a:t># 2. Build the sample app remotely only when the source-content image tag is missing</a:t>
            </a:r>
          </a:p>
          <a:p>
            <a:r>
              <a:rPr sz="1100"/>
              <a:t>./scripts/build-image.sh</a:t>
            </a:r>
          </a:p>
          <a:p>
            <a:r>
              <a:rPr sz="1100"/>
              <a:t/>
            </a:r>
          </a:p>
          <a:p>
            <a:r>
              <a:rPr sz="1100"/>
              <a:t># 3. Install Envoy Gateway v1.2.3 and deploy the Gateway/HTTPRoute/application manifests</a:t>
            </a:r>
          </a:p>
          <a:p>
            <a:r>
              <a:rPr sz="1100"/>
              <a:t>./scripts/configure-kubernetes.sh</a:t>
            </a:r>
          </a:p>
          <a:p>
            <a:r>
              <a:rPr sz="1100"/>
              <a:t/>
            </a:r>
          </a:p>
          <a:p>
            <a:r>
              <a:rPr sz="1100"/>
              <a:t># The resulting Gateway API shape:</a:t>
            </a:r>
          </a:p>
          <a:p>
            <a:r>
              <a:rPr sz="1100"/>
              <a:t>kubectl apply -f - &lt;&lt;'YAML'</a:t>
            </a:r>
          </a:p>
          <a:p>
            <a:r>
              <a:rPr sz="1100"/>
              <a:t>---</a:t>
            </a:r>
          </a:p>
          <a:p>
            <a:r>
              <a:rPr sz="1100"/>
              <a:t>apiVersion: gateway.networking.k8s.io/v1</a:t>
            </a:r>
          </a:p>
          <a:p>
            <a:r>
              <a:rPr sz="1100"/>
              <a:t>kind: Gateway</a:t>
            </a:r>
          </a:p>
          <a:p>
            <a:r>
              <a:rPr sz="1100"/>
              <a:t>metadata: { name: envoy-demo-gateway, namespace: demo }</a:t>
            </a:r>
          </a:p>
          <a:p>
            <a:r>
              <a:rPr sz="1100"/>
              <a:t>spec:</a:t>
            </a:r>
          </a:p>
          <a:p>
            <a:r>
              <a:rPr sz="1100"/>
              <a:t>  gatewayClassName: envoy-gateway</a:t>
            </a:r>
          </a:p>
          <a:p>
            <a:r>
              <a:rPr sz="1100"/>
              <a:t>  listeners:</a:t>
            </a:r>
          </a:p>
          <a:p>
            <a:r>
              <a:rPr sz="1100"/>
              <a:t>  - name: http</a:t>
            </a:r>
          </a:p>
          <a:p>
            <a:r>
              <a:rPr sz="1100"/>
              <a:t>    port: 80</a:t>
            </a:r>
          </a:p>
          <a:p>
            <a:r>
              <a:rPr sz="1100"/>
              <a:t>    protocol: HTTP</a:t>
            </a:r>
          </a:p>
          <a:p>
            <a:r>
              <a:rPr sz="1100"/>
              <a:t>    allowedRoutes:</a:t>
            </a:r>
          </a:p>
          <a:p>
            <a:r>
              <a:rPr sz="1100"/>
              <a:t>      namespaces: { from: Same }</a:t>
            </a:r>
          </a:p>
          <a:p>
            <a:r>
              <a:rPr sz="1100"/>
              <a:t>---</a:t>
            </a:r>
          </a:p>
          <a:p>
            <a:r>
              <a:rPr sz="1100"/>
              <a:t>apiVersion: gateway.networking.k8s.io/v1</a:t>
            </a:r>
          </a:p>
          <a:p>
            <a:r>
              <a:rPr sz="1100"/>
              <a:t>kind: HTTPRoute</a:t>
            </a:r>
          </a:p>
          <a:p>
            <a:r>
              <a:rPr sz="1100"/>
              <a:t>metadata: { name: envoy-demo-route, namespace: demo }</a:t>
            </a:r>
          </a:p>
          <a:p>
            <a:r>
              <a:rPr sz="1100"/>
              <a:t>spec:</a:t>
            </a:r>
          </a:p>
          <a:p>
            <a:r>
              <a:rPr sz="1100"/>
              <a:t>  parentRefs:</a:t>
            </a:r>
          </a:p>
          <a:p>
            <a:r>
              <a:rPr sz="1100"/>
              <a:t>  - { name: envoy-demo-gateway }</a:t>
            </a:r>
          </a:p>
          <a:p>
            <a:r>
              <a:rPr sz="1100"/>
              <a:t>  rules:</a:t>
            </a:r>
          </a:p>
          <a:p>
            <a:r>
              <a:rPr sz="1100"/>
              <a:t>  - matches: [ { path: { type: PathPrefix, value: / } } ]</a:t>
            </a:r>
          </a:p>
          <a:p>
            <a:r>
              <a:rPr sz="1100"/>
              <a:t>    backendRefs:</a:t>
            </a:r>
          </a:p>
          <a:p>
            <a:r>
              <a:rPr sz="1100"/>
              <a:t>    - { name: envoy-demo-service, port: 80 }</a:t>
            </a:r>
          </a:p>
          <a:p>
            <a:r>
              <a:rPr sz="1100"/>
              <a:t>YAML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shape to remember: AGC is a *PaaS L7 LB* that lives in your VNet via a delegated subnet, and it talks to pod IPs directly because AKS uses Azure CNI. The current demo creates an `ApplicationLoadBalancer` resource in the `alb-infra` namespace and installs the ALB Controller with Helm in `azure-alb-system`; it intentionally does not enable AKS Web App Routing. The in-cluster ALB Controller is the bridge that translates Gateway API objects and the ALB CRD into ARM calls. There's no in-cluster proxy hop, which is the latency win over Envoy/NGINX-in-cluster designs.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Pay attention to three repo-specific details. First, `deploy-infra.sh` does the Azure-safe work: Bicep deployment, Entra/Azure RBAC user access, local accounts disabled, and post-deployment AGC identity role assignments once the AKS-managed infrastructure resource group exists. Second, `configure-kubernetes.sh` installs the ALB Controller with Helm and creates the `ApplicationLoadBalancer` CRD instance in `alb-infra`; the demo does not call `az aks approuting`. Third, the role-assignment retry path handles both `RoleAssignmentExists` and `RoleAssignmentUpdateNotPermitted`, which matters because Azure role assignment principal fields are immutable after creation.</a:t>
            </a:r>
          </a:p>
          <a:p>
            <a:r>
              <a:rPr sz="1100"/>
              <a:t/>
            </a:r>
          </a:p>
          <a:p>
            <a:r>
              <a:rPr sz="1100"/>
              <a:t>--- Azure CLI script ---</a:t>
            </a:r>
          </a:p>
          <a:p>
            <a:r>
              <a:rPr sz="1100"/>
              <a:t>RG=rg-03-agc-containers-demo</a:t>
            </a:r>
          </a:p>
          <a:p>
            <a:r>
              <a:rPr sz="1100"/>
              <a:t>LOC=swedencentral</a:t>
            </a:r>
          </a:p>
          <a:p>
            <a:r>
              <a:rPr sz="1100"/>
              <a:t>DEMO_DIR=03-agc-for-containers</a:t>
            </a:r>
          </a:p>
          <a:p>
            <a:r>
              <a:rPr sz="1100"/>
              <a:t/>
            </a:r>
          </a:p>
          <a:p>
            <a:r>
              <a:rPr sz="1100"/>
              <a:t># 1. Deploy VNet/AKS/ACR/AGC identity with Bicep</a:t>
            </a:r>
          </a:p>
          <a:p>
            <a:r>
              <a:rPr sz="1100"/>
              <a:t>#    - AKS 1.35.4, Free tier, 2 x Standard_B4as_v2 nodes</a:t>
            </a:r>
          </a:p>
          <a:p>
            <a:r>
              <a:rPr sz="1100"/>
              <a:t>#    - Entra ID + Azure RBAC enabled; local AKS accounts disabled</a:t>
            </a:r>
          </a:p>
          <a:p>
            <a:r>
              <a:rPr sz="1100"/>
              <a:t>#    - Retries cleanly if immutable role assignments already exist</a:t>
            </a:r>
          </a:p>
          <a:p>
            <a:r>
              <a:rPr sz="1100"/>
              <a:t>cd $DEMO_DIR</a:t>
            </a:r>
          </a:p>
          <a:p>
            <a:r>
              <a:rPr sz="1100"/>
              <a:t>./scripts/deploy-infra.sh</a:t>
            </a:r>
          </a:p>
          <a:p>
            <a:r>
              <a:rPr sz="1100"/>
              <a:t/>
            </a:r>
          </a:p>
          <a:p>
            <a:r>
              <a:rPr sz="1100"/>
              <a:t># 2. Build the .NET sample app remotely with ACR Tasks only when the source hash tag is missing</a:t>
            </a:r>
          </a:p>
          <a:p>
            <a:r>
              <a:rPr sz="1100"/>
              <a:t>./scripts/build-image.sh</a:t>
            </a:r>
          </a:p>
          <a:p>
            <a:r>
              <a:rPr sz="1100"/>
              <a:t/>
            </a:r>
          </a:p>
          <a:p>
            <a:r>
              <a:rPr sz="1100"/>
              <a:t># 3. Configure Kubernetes</a:t>
            </a:r>
          </a:p>
          <a:p>
            <a:r>
              <a:rPr sz="1100"/>
              <a:t>#    - Federate AGC identity to azure-alb-system/alb-controller-sa</a:t>
            </a:r>
          </a:p>
          <a:p>
            <a:r>
              <a:rPr sz="1100"/>
              <a:t>#    - Install ALB Controller Helm chart 1.10.28</a:t>
            </a:r>
          </a:p>
          <a:p>
            <a:r>
              <a:rPr sz="1100"/>
              <a:t>#    - Create ApplicationLoadBalancer alb in namespace alb-infra</a:t>
            </a:r>
          </a:p>
          <a:p>
            <a:r>
              <a:rPr sz="1100"/>
              <a:t>#    - Deploy Gateway, HTTPRoute, Service, and Deployment</a:t>
            </a:r>
          </a:p>
          <a:p>
            <a:r>
              <a:rPr sz="1100"/>
              <a:t>./scripts/configure-kubernetes.sh</a:t>
            </a:r>
          </a:p>
          <a:p>
            <a:r>
              <a:rPr sz="1100"/>
              <a:t/>
            </a:r>
          </a:p>
          <a:p>
            <a:r>
              <a:rPr sz="1100"/>
              <a:t># Resulting AGC-specific resources:</a:t>
            </a:r>
          </a:p>
          <a:p>
            <a:r>
              <a:rPr sz="1100"/>
              <a:t>kubectl apply -f - &lt;&lt;'YAML'</a:t>
            </a:r>
          </a:p>
          <a:p>
            <a:r>
              <a:rPr sz="1100"/>
              <a:t>---</a:t>
            </a:r>
          </a:p>
          <a:p>
            <a:r>
              <a:rPr sz="1100"/>
              <a:t>apiVersion: alb.networking.azure.io/v1</a:t>
            </a:r>
          </a:p>
          <a:p>
            <a:r>
              <a:rPr sz="1100"/>
              <a:t>kind: ApplicationLoadBalancer</a:t>
            </a:r>
          </a:p>
          <a:p>
            <a:r>
              <a:rPr sz="1100"/>
              <a:t>metadata:</a:t>
            </a:r>
          </a:p>
          <a:p>
            <a:r>
              <a:rPr sz="1100"/>
              <a:t>  name: alb</a:t>
            </a:r>
          </a:p>
          <a:p>
            <a:r>
              <a:rPr sz="1100"/>
              <a:t>  namespace: alb-infra</a:t>
            </a:r>
          </a:p>
          <a:p>
            <a:r>
              <a:rPr sz="1100"/>
              <a:t>spec:</a:t>
            </a:r>
          </a:p>
          <a:p>
            <a:r>
              <a:rPr sz="1100"/>
              <a:t>  associations:</a:t>
            </a:r>
          </a:p>
          <a:p>
            <a:r>
              <a:rPr sz="1100"/>
              <a:t>  - &lt;agc-subnet-resource-id&gt;</a:t>
            </a:r>
          </a:p>
          <a:p>
            <a:r>
              <a:rPr sz="1100"/>
              <a:t>---</a:t>
            </a:r>
          </a:p>
          <a:p>
            <a:r>
              <a:rPr sz="1100"/>
              <a:t>apiVersion: gateway.networking.k8s.io/v1</a:t>
            </a:r>
          </a:p>
          <a:p>
            <a:r>
              <a:rPr sz="1100"/>
              <a:t>kind: Gateway</a:t>
            </a:r>
          </a:p>
          <a:p>
            <a:r>
              <a:rPr sz="1100"/>
              <a:t>metadata:</a:t>
            </a:r>
          </a:p>
          <a:p>
            <a:r>
              <a:rPr sz="1100"/>
              <a:t>  name: agc-demo-gateway</a:t>
            </a:r>
          </a:p>
          <a:p>
            <a:r>
              <a:rPr sz="1100"/>
              <a:t>  namespace: demo</a:t>
            </a:r>
          </a:p>
          <a:p>
            <a:r>
              <a:rPr sz="1100"/>
              <a:t>  annotations:</a:t>
            </a:r>
          </a:p>
          <a:p>
            <a:r>
              <a:rPr sz="1100"/>
              <a:t>    alb.networking.azure.io/alb-namespace: alb-infra</a:t>
            </a:r>
          </a:p>
          <a:p>
            <a:r>
              <a:rPr sz="1100"/>
              <a:t>    alb.networking.azure.io/alb-name: alb</a:t>
            </a:r>
          </a:p>
          <a:p>
            <a:r>
              <a:rPr sz="1100"/>
              <a:t>spec:</a:t>
            </a:r>
          </a:p>
          <a:p>
            <a:r>
              <a:rPr sz="1100"/>
              <a:t>  gatewayClassName: azure-alb-external</a:t>
            </a:r>
          </a:p>
          <a:p>
            <a:r>
              <a:rPr sz="1100"/>
              <a:t>  listeners:</a:t>
            </a:r>
          </a:p>
          <a:p>
            <a:r>
              <a:rPr sz="1100"/>
              <a:t>  - { name: http, port: 80, protocol: HTTP, allowedRoutes: { namespaces: { from: Same } } }</a:t>
            </a:r>
          </a:p>
          <a:p>
            <a:r>
              <a:rPr sz="1100"/>
              <a:t>---</a:t>
            </a:r>
          </a:p>
          <a:p>
            <a:r>
              <a:rPr sz="1100"/>
              <a:t>apiVersion: gateway.networking.k8s.io/v1</a:t>
            </a:r>
          </a:p>
          <a:p>
            <a:r>
              <a:rPr sz="1100"/>
              <a:t>kind: HTTPRoute</a:t>
            </a:r>
          </a:p>
          <a:p>
            <a:r>
              <a:rPr sz="1100"/>
              <a:t>metadata: { name: agc-demo-route, namespace: demo }</a:t>
            </a:r>
          </a:p>
          <a:p>
            <a:r>
              <a:rPr sz="1100"/>
              <a:t>spec:</a:t>
            </a:r>
          </a:p>
          <a:p>
            <a:r>
              <a:rPr sz="1100"/>
              <a:t>  parentRefs: [ { name: agc-demo-gateway } ]</a:t>
            </a:r>
          </a:p>
          <a:p>
            <a:r>
              <a:rPr sz="1100"/>
              <a:t>  rules:</a:t>
            </a:r>
          </a:p>
          <a:p>
            <a:r>
              <a:rPr sz="1100"/>
              <a:t>  - matches: [ { path: { type: PathPrefix, value: / } } ]</a:t>
            </a:r>
          </a:p>
          <a:p>
            <a:r>
              <a:rPr sz="1100"/>
              <a:t>    backendRefs: [ { name: agc-demo-service, port: 80 } ]</a:t>
            </a:r>
          </a:p>
          <a:p>
            <a:r>
              <a:rPr sz="1100"/>
              <a:t>YAML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Show this last in the ingress part of the talk. It is what many teams have had in production for years, and the `Ingress` API itself remains a valid Kubernetes API. The correction is that the community `kubernetes/ingress-nginx` controller is the piece being retired, so new designs should avoid depending on it. Gateway API better matches modern platform requirements: clearer ownership, fewer controller-specific annotations, and more portable routing semantics.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This is the slide to land the point of the Envoy Gateway and AGC demos: Gateway API is the *contract*, AGC is the *Azure-native implementation*. The demo keeps the `Gateway`, `HTTPRoute`, service, and deployment in `default` for readability, while the AGC infrastructure object lives in `alb-infra` and the controller lives in `azure-alb-system`. In production you can split the Gateway and routes across platform/app namespaces; the API shape still lets teams write portable routing YAML while the platform team chooses Envoy in dev or AGC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Two micro-points worth calling out: (a) AGC's "backend pool" is dynamic — the ALB Controller updates it from `EndpointSlice` events, so pod churn is reflected within seconds; (b) because pods have real VNet IPs (Azure CNI), there's no kube-proxy/iptables hop. That's the architectural reason AGC is faster than in-cluster ingress controllers for north-south traffic.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This is *not* "Argo CD replaces Flux" — both are first-class Azure-managed extensions. Flux has been the AKS default for fleet-style GitOps (lots of clusters, one config repo). Argo CD has historically been preferred by app teams that want a UI and per-app views. Until now, you ran Argo CD yourself. Managed Argo CD removes that operational burden.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"why it matters" is operational, not functional. Argo CD itself is unchanged. What changes is that you stop running it. For an enterprise platform team that means: no Argo CD upgrades, no Redis HA, no Dex/SSO plumbing, no cert rotation, no backup of the application controller. You declare the extension on the AKS cluster and you get a hardened, identity-integrated Argo CD.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flow is identical to managed Flux from an operations standpoint: an AKS extension. The config knobs you care about are `sso.entraID.enabled` (turn on Entra-backed login) and `controller.workloadIdentity.enabled` (target other AKS clusters without kubeconfig secrets). Everything else is upstream Argo CD.</a:t>
            </a:r>
          </a:p>
          <a:p>
            <a:r>
              <a:rPr sz="1100"/>
              <a:t/>
            </a:r>
          </a:p>
          <a:p>
            <a:r>
              <a:rPr sz="1100"/>
              <a:t>--- Azure CLI script ---</a:t>
            </a:r>
          </a:p>
          <a:p>
            <a:r>
              <a:rPr sz="1100"/>
              <a:t>RG=rg-gitops-demo</a:t>
            </a:r>
          </a:p>
          <a:p>
            <a:r>
              <a:rPr sz="1100"/>
              <a:t>LOC=swedencentral</a:t>
            </a:r>
          </a:p>
          <a:p>
            <a:r>
              <a:rPr sz="1100"/>
              <a:t>AKS=aks-gitops-demo</a:t>
            </a:r>
          </a:p>
          <a:p>
            <a:r>
              <a:rPr sz="1100"/>
              <a:t/>
            </a:r>
          </a:p>
          <a:p>
            <a:r>
              <a:rPr sz="1100"/>
              <a:t>az group create -n $RG -l $LOC</a:t>
            </a:r>
          </a:p>
          <a:p>
            <a:r>
              <a:rPr sz="1100"/>
              <a:t>az aks create -g $RG -n $AKS -l $LOC \</a:t>
            </a:r>
          </a:p>
          <a:p>
            <a:r>
              <a:rPr sz="1100"/>
              <a:t>  --kubernetes-version 1.35.4 \</a:t>
            </a:r>
          </a:p>
          <a:p>
            <a:r>
              <a:rPr sz="1100"/>
              <a:t>  --tier free \</a:t>
            </a:r>
          </a:p>
          <a:p>
            <a:r>
              <a:rPr sz="1100"/>
              <a:t>  --node-vm-size Standard_B4as_v2 \</a:t>
            </a:r>
          </a:p>
          <a:p>
            <a:r>
              <a:rPr sz="1100"/>
              <a:t>  --node-count 2 \</a:t>
            </a:r>
          </a:p>
          <a:p>
            <a:r>
              <a:rPr sz="1100"/>
              <a:t>  --enable-oidc-issuer --enable-workload-identity \</a:t>
            </a:r>
          </a:p>
          <a:p>
            <a:r>
              <a:rPr sz="1100"/>
              <a:t>  --generate-ssh-keys</a:t>
            </a:r>
          </a:p>
          <a:p>
            <a:r>
              <a:rPr sz="1100"/>
              <a:t>az aks get-credentials -g $RG -n $AKS</a:t>
            </a:r>
          </a:p>
          <a:p>
            <a:r>
              <a:rPr sz="1100"/>
              <a:t/>
            </a:r>
          </a:p>
          <a:p>
            <a:r>
              <a:rPr sz="1100"/>
              <a:t># Ensure the K8s-configuration provider + extension CLI are available</a:t>
            </a:r>
          </a:p>
          <a:p>
            <a:r>
              <a:rPr sz="1100"/>
              <a:t>az extension add --name k8s-extension --upgrade</a:t>
            </a:r>
          </a:p>
          <a:p>
            <a:r>
              <a:rPr sz="1100"/>
              <a:t>az provider register --namespace Microsoft.KubernetesConfiguration</a:t>
            </a:r>
          </a:p>
          <a:p>
            <a:r>
              <a:rPr sz="1100"/>
              <a:t/>
            </a:r>
          </a:p>
          <a:p>
            <a:r>
              <a:rPr sz="1100"/>
              <a:t># Install the managed Argo CD extension on the cluster</a:t>
            </a:r>
          </a:p>
          <a:p>
            <a:r>
              <a:rPr sz="1100"/>
              <a:t>az k8s-extension create \</a:t>
            </a:r>
          </a:p>
          <a:p>
            <a:r>
              <a:rPr sz="1100"/>
              <a:t>  -g $RG \</a:t>
            </a:r>
          </a:p>
          <a:p>
            <a:r>
              <a:rPr sz="1100"/>
              <a:t>  --cluster-name $AKS --cluster-type managedClusters \</a:t>
            </a:r>
          </a:p>
          <a:p>
            <a:r>
              <a:rPr sz="1100"/>
              <a:t>  --name argocd \</a:t>
            </a:r>
          </a:p>
          <a:p>
            <a:r>
              <a:rPr sz="1100"/>
              <a:t>  --extension-type Microsoft.ArgoCD \</a:t>
            </a:r>
          </a:p>
          <a:p>
            <a:r>
              <a:rPr sz="1100"/>
              <a:t>  --auto-upgrade-minor-version true \</a:t>
            </a:r>
          </a:p>
          <a:p>
            <a:r>
              <a:rPr sz="1100"/>
              <a:t>  --release-namespace argocd \</a:t>
            </a:r>
          </a:p>
          <a:p>
            <a:r>
              <a:rPr sz="1100"/>
              <a:t>  --configuration-settings \</a:t>
            </a:r>
          </a:p>
          <a:p>
            <a:r>
              <a:rPr sz="1100"/>
              <a:t>      sso.entraID.enabled=true \</a:t>
            </a:r>
          </a:p>
          <a:p>
            <a:r>
              <a:rPr sz="1100"/>
              <a:t>      sso.entraID.tenantId=$(az account show --query tenantId -o tsv) \</a:t>
            </a:r>
          </a:p>
          <a:p>
            <a:r>
              <a:rPr sz="1100"/>
              <a:t>      controller.workloadIdentity.enabled=true</a:t>
            </a:r>
          </a:p>
          <a:p>
            <a:r>
              <a:rPr sz="1100"/>
              <a:t/>
            </a:r>
          </a:p>
          <a:p>
            <a:r>
              <a:rPr sz="1100"/>
              <a:t># Bootstrap an Application from Git</a:t>
            </a:r>
          </a:p>
          <a:p>
            <a:r>
              <a:rPr sz="1100"/>
              <a:t>kubectl apply -n argocd -f - &lt;&lt;'YAML'</a:t>
            </a:r>
          </a:p>
          <a:p>
            <a:r>
              <a:rPr sz="1100"/>
              <a:t>apiVersion: argoproj.io/v1alpha1</a:t>
            </a:r>
          </a:p>
          <a:p>
            <a:r>
              <a:rPr sz="1100"/>
              <a:t>kind: Application</a:t>
            </a:r>
          </a:p>
          <a:p>
            <a:r>
              <a:rPr sz="1100"/>
              <a:t>metadata: { name: sample-app, namespace: argocd }</a:t>
            </a:r>
          </a:p>
          <a:p>
            <a:r>
              <a:rPr sz="1100"/>
              <a:t>spec:</a:t>
            </a:r>
          </a:p>
          <a:p>
            <a:r>
              <a:rPr sz="1100"/>
              <a:t>  project: default</a:t>
            </a:r>
          </a:p>
          <a:p>
            <a:r>
              <a:rPr sz="1100"/>
              <a:t>  source:</a:t>
            </a:r>
          </a:p>
          <a:p>
            <a:r>
              <a:rPr sz="1100"/>
              <a:t>    repoURL: https://github.com/contoso/platform-gitops</a:t>
            </a:r>
          </a:p>
          <a:p>
            <a:r>
              <a:rPr sz="1100"/>
              <a:t>    targetRevision: main</a:t>
            </a:r>
          </a:p>
          <a:p>
            <a:r>
              <a:rPr sz="1100"/>
              <a:t>    path: apps/sample-app</a:t>
            </a:r>
          </a:p>
          <a:p>
            <a:r>
              <a:rPr sz="1100"/>
              <a:t>  destination:</a:t>
            </a:r>
          </a:p>
          <a:p>
            <a:r>
              <a:rPr sz="1100"/>
              <a:t>    server: https://kubernetes.default.svc</a:t>
            </a:r>
          </a:p>
          <a:p>
            <a:r>
              <a:rPr sz="1100"/>
              <a:t>    namespace: demo</a:t>
            </a:r>
          </a:p>
          <a:p>
            <a:r>
              <a:rPr sz="1100"/>
              <a:t>  syncPolicy:</a:t>
            </a:r>
          </a:p>
          <a:p>
            <a:r>
              <a:rPr sz="1100"/>
              <a:t>    automated: { prune: true, selfHeal: true }</a:t>
            </a:r>
          </a:p>
          <a:p>
            <a:r>
              <a:rPr sz="1100"/>
              <a:t>    syncOptions: [ CreateNamespace=true ]</a:t>
            </a:r>
          </a:p>
          <a:p>
            <a:r>
              <a:rPr sz="1100"/>
              <a:t>YAML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 Istio ambient architecture &amp; HBONE: istio.io/latest/docs/ambient</a:t>
            </a:r>
          </a:p>
          <a:p>
            <a:r>
              <a:rPr sz="1100"/>
              <a:t>- Gateway API spec: gateway-api.sigs.k8s.io</a:t>
            </a:r>
          </a:p>
          <a:p>
            <a:r>
              <a:rPr sz="1100"/>
              <a:t>- Application Gateway for Containers + ALB Controller: aka.ms/agc</a:t>
            </a:r>
          </a:p>
          <a:p>
            <a:r>
              <a:rPr sz="1100"/>
              <a:t>- Managed Argo CD on AKS: aka.ms/aks/argocd</a:t>
            </a:r>
          </a:p>
          <a:p>
            <a:r>
              <a:rPr sz="1100"/>
              <a:t>- AKS managed Istio add-on: learn.microsoft.com/azure/aks/istio-about</a:t>
            </a:r>
          </a:p>
          <a:p>
            <a:r>
              <a:rPr sz="1100"/>
              <a:t>- Azure Kubernetes Application Network preview: learn.microsoft.com/azure/application-network/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5400000">
            <a:off x="8076895" y="2743200"/>
            <a:ext cx="4114800" cy="4114800"/>
          </a:xfrm>
          <a:prstGeom prst="rtTriangl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905695" y="548640"/>
            <a:ext cx="1645920" cy="1645920"/>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2926080" cy="320040"/>
          </a:xfrm>
          <a:prstGeom prst="rect">
            <a:avLst/>
          </a:prstGeom>
          <a:noFill/>
        </p:spPr>
        <p:txBody>
          <a:bodyPr wrap="square" lIns="45720" rIns="45720" tIns="18288" bIns="18288">
            <a:spAutoFit/>
          </a:bodyPr>
          <a:lstStyle/>
          <a:p>
            <a:pPr algn="l"/>
            <a:r>
              <a:rPr sz="1100" b="1" i="0">
                <a:solidFill>
                  <a:srgbClr val="9CC8FF"/>
                </a:solidFill>
                <a:latin typeface="Calibri"/>
              </a:rPr>
              <a:t>AZURE  •  KUBERNETES  •  2026</a:t>
            </a:r>
          </a:p>
        </p:txBody>
      </p:sp>
      <p:sp>
        <p:nvSpPr>
          <p:cNvPr id="6" name="TextBox 5"/>
          <p:cNvSpPr txBox="1"/>
          <p:nvPr/>
        </p:nvSpPr>
        <p:spPr>
          <a:xfrm>
            <a:off x="640080" y="1554480"/>
            <a:ext cx="10911535" cy="1645920"/>
          </a:xfrm>
          <a:prstGeom prst="rect">
            <a:avLst/>
          </a:prstGeom>
          <a:noFill/>
        </p:spPr>
        <p:txBody>
          <a:bodyPr wrap="square" lIns="45720" rIns="45720" tIns="18288" bIns="18288">
            <a:spAutoFit/>
          </a:bodyPr>
          <a:lstStyle/>
          <a:p>
            <a:pPr algn="l"/>
            <a:r>
              <a:rPr sz="5800" b="1" i="0">
                <a:solidFill>
                  <a:srgbClr val="FFFFFF"/>
                </a:solidFill>
                <a:latin typeface="Calibri"/>
              </a:rPr>
              <a:t>Major Changes</a:t>
            </a:r>
          </a:p>
          <a:p>
            <a:pPr algn="l"/>
            <a:r>
              <a:rPr sz="5800" b="1" i="0">
                <a:solidFill>
                  <a:srgbClr val="FFFFFF"/>
                </a:solidFill>
                <a:latin typeface="Calibri"/>
              </a:rPr>
              <a:t>in AKS</a:t>
            </a:r>
          </a:p>
        </p:txBody>
      </p:sp>
      <p:sp>
        <p:nvSpPr>
          <p:cNvPr id="7" name="Rectangle 6"/>
          <p:cNvSpPr/>
          <p:nvPr/>
        </p:nvSpPr>
        <p:spPr>
          <a:xfrm>
            <a:off x="640080" y="4023360"/>
            <a:ext cx="640080" cy="73152"/>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160520"/>
            <a:ext cx="10911535" cy="640080"/>
          </a:xfrm>
          <a:prstGeom prst="rect">
            <a:avLst/>
          </a:prstGeom>
          <a:noFill/>
        </p:spPr>
        <p:txBody>
          <a:bodyPr wrap="square" lIns="45720" rIns="45720" tIns="18288" bIns="18288">
            <a:spAutoFit/>
          </a:bodyPr>
          <a:lstStyle/>
          <a:p>
            <a:pPr algn="l"/>
            <a:r>
              <a:rPr sz="2200" b="0" i="0">
                <a:solidFill>
                  <a:srgbClr val="BED8FC"/>
                </a:solidFill>
                <a:latin typeface="Calibri"/>
              </a:rPr>
              <a:t>Service Mesh • Ingress • Gateway API • GitOps</a:t>
            </a:r>
          </a:p>
        </p:txBody>
      </p:sp>
      <p:sp>
        <p:nvSpPr>
          <p:cNvPr id="9" name="TextBox 8"/>
          <p:cNvSpPr txBox="1"/>
          <p:nvPr/>
        </p:nvSpPr>
        <p:spPr>
          <a:xfrm>
            <a:off x="640080" y="4937760"/>
            <a:ext cx="10911535" cy="457200"/>
          </a:xfrm>
          <a:prstGeom prst="rect">
            <a:avLst/>
          </a:prstGeom>
          <a:noFill/>
        </p:spPr>
        <p:txBody>
          <a:bodyPr wrap="square" lIns="45720" rIns="45720" tIns="18288" bIns="18288">
            <a:spAutoFit/>
          </a:bodyPr>
          <a:lstStyle/>
          <a:p>
            <a:pPr algn="l"/>
            <a:r>
              <a:rPr sz="1600" b="0" i="1">
                <a:solidFill>
                  <a:srgbClr val="9CC8FF"/>
                </a:solidFill>
                <a:latin typeface="Calibri"/>
              </a:rPr>
              <a:t>Level 400  —  deep dive</a:t>
            </a:r>
          </a:p>
        </p:txBody>
      </p:sp>
      <p:sp>
        <p:nvSpPr>
          <p:cNvPr id="10" name="Rectangle 9"/>
          <p:cNvSpPr/>
          <p:nvPr/>
        </p:nvSpPr>
        <p:spPr>
          <a:xfrm>
            <a:off x="0" y="6446520"/>
            <a:ext cx="12191695" cy="41148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446520"/>
            <a:ext cx="10911535" cy="411480"/>
          </a:xfrm>
          <a:prstGeom prst="rect">
            <a:avLst/>
          </a:prstGeom>
          <a:noFill/>
        </p:spPr>
        <p:txBody>
          <a:bodyPr wrap="square" lIns="45720" rIns="45720" tIns="18288" bIns="18288" anchor="ctr">
            <a:spAutoFit/>
          </a:bodyPr>
          <a:lstStyle/>
          <a:p>
            <a:pPr algn="l"/>
            <a:r>
              <a:rPr sz="1100" b="0" i="0">
                <a:solidFill>
                  <a:srgbClr val="BED8FC"/>
                </a:solidFill>
                <a:latin typeface="Calibri"/>
              </a:rPr>
              <a:t>github.com/johankardell/aksingress2026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68735" cy="640080"/>
          </a:xfrm>
          <a:prstGeom prst="rect">
            <a:avLst/>
          </a:prstGeom>
          <a:noFill/>
        </p:spPr>
        <p:txBody>
          <a:bodyPr wrap="square" lIns="45720" rIns="45720" tIns="18288" bIns="18288" anchor="ctr">
            <a:spAutoFit/>
          </a:bodyPr>
          <a:lstStyle/>
          <a:p>
            <a:pPr algn="l"/>
            <a:r>
              <a:rPr sz="2600" b="1" i="0">
                <a:solidFill>
                  <a:srgbClr val="FFFFFF"/>
                </a:solidFill>
                <a:latin typeface="Calibri"/>
              </a:rPr>
              <a:t>Agenda</a:t>
            </a:r>
          </a:p>
        </p:txBody>
      </p:sp>
      <p:sp>
        <p:nvSpPr>
          <p:cNvPr id="6" name="TextBox 5"/>
          <p:cNvSpPr txBox="1"/>
          <p:nvPr/>
        </p:nvSpPr>
        <p:spPr>
          <a:xfrm>
            <a:off x="457200" y="1051560"/>
            <a:ext cx="11277295" cy="365760"/>
          </a:xfrm>
          <a:prstGeom prst="rect">
            <a:avLst/>
          </a:prstGeom>
          <a:noFill/>
        </p:spPr>
        <p:txBody>
          <a:bodyPr wrap="square" lIns="45720" rIns="45720" tIns="18288" bIns="18288">
            <a:spAutoFit/>
          </a:bodyPr>
          <a:lstStyle/>
          <a:p>
            <a:pPr algn="l"/>
            <a:r>
              <a:rPr sz="1500" b="0" i="1">
                <a:solidFill>
                  <a:srgbClr val="103A6E"/>
                </a:solidFill>
                <a:latin typeface="Calibri"/>
              </a:rPr>
              <a:t>Four shifts changing how we build platforms on AKS in 2026</a:t>
            </a:r>
          </a:p>
        </p:txBody>
      </p:sp>
      <p:sp>
        <p:nvSpPr>
          <p:cNvPr id="7" name="Oval 6"/>
          <p:cNvSpPr/>
          <p:nvPr/>
        </p:nvSpPr>
        <p:spPr>
          <a:xfrm>
            <a:off x="457200" y="1691640"/>
            <a:ext cx="548640" cy="548640"/>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691640"/>
            <a:ext cx="548640" cy="548640"/>
          </a:xfrm>
          <a:prstGeom prst="rect">
            <a:avLst/>
          </a:prstGeom>
          <a:noFill/>
        </p:spPr>
        <p:txBody>
          <a:bodyPr wrap="square" lIns="45720" rIns="45720" tIns="18288" bIns="18288" anchor="ctr">
            <a:spAutoFit/>
          </a:bodyPr>
          <a:lstStyle/>
          <a:p>
            <a:pPr algn="ctr"/>
            <a:r>
              <a:rPr sz="2200" b="1" i="0">
                <a:solidFill>
                  <a:srgbClr val="FFFFFF"/>
                </a:solidFill>
                <a:latin typeface="Calibri"/>
              </a:rPr>
              <a:t>1</a:t>
            </a:r>
          </a:p>
        </p:txBody>
      </p:sp>
      <p:sp>
        <p:nvSpPr>
          <p:cNvPr id="9" name="Rounded Rectangle 8"/>
          <p:cNvSpPr/>
          <p:nvPr/>
        </p:nvSpPr>
        <p:spPr>
          <a:xfrm>
            <a:off x="1143000" y="1737360"/>
            <a:ext cx="4541367" cy="4572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1737360"/>
            <a:ext cx="4449927" cy="457200"/>
          </a:xfrm>
          <a:prstGeom prst="rect">
            <a:avLst/>
          </a:prstGeom>
          <a:noFill/>
        </p:spPr>
        <p:txBody>
          <a:bodyPr wrap="square" lIns="45720" rIns="45720" tIns="18288" bIns="18288" anchor="ctr">
            <a:spAutoFit/>
          </a:bodyPr>
          <a:lstStyle/>
          <a:p>
            <a:pPr algn="l"/>
            <a:r>
              <a:rPr sz="1400" b="0" i="0">
                <a:solidFill>
                  <a:srgbClr val="1F2A44"/>
                </a:solidFill>
                <a:latin typeface="Calibri"/>
              </a:rPr>
              <a:t>Istio: from sidecar to ambient</a:t>
            </a:r>
          </a:p>
        </p:txBody>
      </p:sp>
      <p:sp>
        <p:nvSpPr>
          <p:cNvPr id="11" name="Oval 10"/>
          <p:cNvSpPr/>
          <p:nvPr/>
        </p:nvSpPr>
        <p:spPr>
          <a:xfrm>
            <a:off x="457200" y="2404872"/>
            <a:ext cx="548640" cy="548640"/>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404872"/>
            <a:ext cx="548640" cy="548640"/>
          </a:xfrm>
          <a:prstGeom prst="rect">
            <a:avLst/>
          </a:prstGeom>
          <a:noFill/>
        </p:spPr>
        <p:txBody>
          <a:bodyPr wrap="square" lIns="45720" rIns="45720" tIns="18288" bIns="18288" anchor="ctr">
            <a:spAutoFit/>
          </a:bodyPr>
          <a:lstStyle/>
          <a:p>
            <a:pPr algn="ctr"/>
            <a:r>
              <a:rPr sz="2200" b="1" i="0">
                <a:solidFill>
                  <a:srgbClr val="FFFFFF"/>
                </a:solidFill>
                <a:latin typeface="Calibri"/>
              </a:rPr>
              <a:t>2</a:t>
            </a:r>
          </a:p>
        </p:txBody>
      </p:sp>
      <p:sp>
        <p:nvSpPr>
          <p:cNvPr id="13" name="Rounded Rectangle 12"/>
          <p:cNvSpPr/>
          <p:nvPr/>
        </p:nvSpPr>
        <p:spPr>
          <a:xfrm>
            <a:off x="1143000" y="2450592"/>
            <a:ext cx="4541367" cy="4572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2450592"/>
            <a:ext cx="4449927" cy="457200"/>
          </a:xfrm>
          <a:prstGeom prst="rect">
            <a:avLst/>
          </a:prstGeom>
          <a:noFill/>
        </p:spPr>
        <p:txBody>
          <a:bodyPr wrap="square" lIns="45720" rIns="45720" tIns="18288" bIns="18288" anchor="ctr">
            <a:spAutoFit/>
          </a:bodyPr>
          <a:lstStyle/>
          <a:p>
            <a:pPr algn="l"/>
            <a:r>
              <a:rPr sz="1400" b="0" i="0">
                <a:solidFill>
                  <a:srgbClr val="1F2A44"/>
                </a:solidFill>
                <a:latin typeface="Calibri"/>
              </a:rPr>
              <a:t>Where (and where not) to use a service mesh</a:t>
            </a:r>
          </a:p>
        </p:txBody>
      </p:sp>
      <p:sp>
        <p:nvSpPr>
          <p:cNvPr id="15" name="Oval 14"/>
          <p:cNvSpPr/>
          <p:nvPr/>
        </p:nvSpPr>
        <p:spPr>
          <a:xfrm>
            <a:off x="457200" y="3118104"/>
            <a:ext cx="548640" cy="548640"/>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118104"/>
            <a:ext cx="548640" cy="548640"/>
          </a:xfrm>
          <a:prstGeom prst="rect">
            <a:avLst/>
          </a:prstGeom>
          <a:noFill/>
        </p:spPr>
        <p:txBody>
          <a:bodyPr wrap="square" lIns="45720" rIns="45720" tIns="18288" bIns="18288" anchor="ctr">
            <a:spAutoFit/>
          </a:bodyPr>
          <a:lstStyle/>
          <a:p>
            <a:pPr algn="ctr"/>
            <a:r>
              <a:rPr sz="2200" b="1" i="0">
                <a:solidFill>
                  <a:srgbClr val="FFFFFF"/>
                </a:solidFill>
                <a:latin typeface="Calibri"/>
              </a:rPr>
              <a:t>3</a:t>
            </a:r>
          </a:p>
        </p:txBody>
      </p:sp>
      <p:sp>
        <p:nvSpPr>
          <p:cNvPr id="17" name="Rounded Rectangle 16"/>
          <p:cNvSpPr/>
          <p:nvPr/>
        </p:nvSpPr>
        <p:spPr>
          <a:xfrm>
            <a:off x="1143000" y="3163824"/>
            <a:ext cx="4541367" cy="4572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3163824"/>
            <a:ext cx="4449927" cy="457200"/>
          </a:xfrm>
          <a:prstGeom prst="rect">
            <a:avLst/>
          </a:prstGeom>
          <a:noFill/>
        </p:spPr>
        <p:txBody>
          <a:bodyPr wrap="square" lIns="45720" rIns="45720" tIns="18288" bIns="18288" anchor="ctr">
            <a:spAutoFit/>
          </a:bodyPr>
          <a:lstStyle/>
          <a:p>
            <a:pPr algn="l"/>
            <a:r>
              <a:rPr sz="1400" b="0" i="0">
                <a:solidFill>
                  <a:srgbClr val="1F2A44"/>
                </a:solidFill>
                <a:latin typeface="Calibri"/>
              </a:rPr>
              <a:t>Pod-to-pod traffic across nodes in ambient mode</a:t>
            </a:r>
          </a:p>
        </p:txBody>
      </p:sp>
      <p:sp>
        <p:nvSpPr>
          <p:cNvPr id="19" name="Oval 18"/>
          <p:cNvSpPr/>
          <p:nvPr/>
        </p:nvSpPr>
        <p:spPr>
          <a:xfrm>
            <a:off x="457200" y="3831336"/>
            <a:ext cx="548640" cy="548640"/>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831336"/>
            <a:ext cx="548640" cy="548640"/>
          </a:xfrm>
          <a:prstGeom prst="rect">
            <a:avLst/>
          </a:prstGeom>
          <a:noFill/>
        </p:spPr>
        <p:txBody>
          <a:bodyPr wrap="square" lIns="45720" rIns="45720" tIns="18288" bIns="18288" anchor="ctr">
            <a:spAutoFit/>
          </a:bodyPr>
          <a:lstStyle/>
          <a:p>
            <a:pPr algn="ctr"/>
            <a:r>
              <a:rPr sz="2200" b="1" i="0">
                <a:solidFill>
                  <a:srgbClr val="FFFFFF"/>
                </a:solidFill>
                <a:latin typeface="Calibri"/>
              </a:rPr>
              <a:t>4</a:t>
            </a:r>
          </a:p>
        </p:txBody>
      </p:sp>
      <p:sp>
        <p:nvSpPr>
          <p:cNvPr id="21" name="Rounded Rectangle 20"/>
          <p:cNvSpPr/>
          <p:nvPr/>
        </p:nvSpPr>
        <p:spPr>
          <a:xfrm>
            <a:off x="1143000" y="3877056"/>
            <a:ext cx="4541367" cy="4572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3877056"/>
            <a:ext cx="4449927" cy="457200"/>
          </a:xfrm>
          <a:prstGeom prst="rect">
            <a:avLst/>
          </a:prstGeom>
          <a:noFill/>
        </p:spPr>
        <p:txBody>
          <a:bodyPr wrap="square" lIns="45720" rIns="45720" tIns="18288" bIns="18288" anchor="ctr">
            <a:spAutoFit/>
          </a:bodyPr>
          <a:lstStyle/>
          <a:p>
            <a:pPr algn="l"/>
            <a:r>
              <a:rPr sz="1400" b="0" i="0">
                <a:solidFill>
                  <a:srgbClr val="1F2A44"/>
                </a:solidFill>
                <a:latin typeface="Calibri"/>
              </a:rPr>
              <a:t>Ingress → Gateway API</a:t>
            </a:r>
          </a:p>
        </p:txBody>
      </p:sp>
      <p:sp>
        <p:nvSpPr>
          <p:cNvPr id="23" name="Oval 22"/>
          <p:cNvSpPr/>
          <p:nvPr/>
        </p:nvSpPr>
        <p:spPr>
          <a:xfrm>
            <a:off x="457200" y="4544568"/>
            <a:ext cx="548640" cy="548640"/>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544568"/>
            <a:ext cx="548640" cy="548640"/>
          </a:xfrm>
          <a:prstGeom prst="rect">
            <a:avLst/>
          </a:prstGeom>
          <a:noFill/>
        </p:spPr>
        <p:txBody>
          <a:bodyPr wrap="square" lIns="45720" rIns="45720" tIns="18288" bIns="18288" anchor="ctr">
            <a:spAutoFit/>
          </a:bodyPr>
          <a:lstStyle/>
          <a:p>
            <a:pPr algn="ctr"/>
            <a:r>
              <a:rPr sz="2200" b="1" i="0">
                <a:solidFill>
                  <a:srgbClr val="FFFFFF"/>
                </a:solidFill>
                <a:latin typeface="Calibri"/>
              </a:rPr>
              <a:t>5</a:t>
            </a:r>
          </a:p>
        </p:txBody>
      </p:sp>
      <p:sp>
        <p:nvSpPr>
          <p:cNvPr id="25" name="Rounded Rectangle 24"/>
          <p:cNvSpPr/>
          <p:nvPr/>
        </p:nvSpPr>
        <p:spPr>
          <a:xfrm>
            <a:off x="1143000" y="4590288"/>
            <a:ext cx="4541367" cy="4572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80160" y="4590288"/>
            <a:ext cx="4449927" cy="457200"/>
          </a:xfrm>
          <a:prstGeom prst="rect">
            <a:avLst/>
          </a:prstGeom>
          <a:noFill/>
        </p:spPr>
        <p:txBody>
          <a:bodyPr wrap="square" lIns="45720" rIns="45720" tIns="18288" bIns="18288" anchor="ctr">
            <a:spAutoFit/>
          </a:bodyPr>
          <a:lstStyle/>
          <a:p>
            <a:pPr algn="l"/>
            <a:r>
              <a:rPr sz="1400" b="0" i="0">
                <a:solidFill>
                  <a:srgbClr val="1F2A44"/>
                </a:solidFill>
                <a:latin typeface="Calibri"/>
              </a:rPr>
              <a:t>Gateway API on AKS with Envoy Gateway</a:t>
            </a:r>
          </a:p>
        </p:txBody>
      </p:sp>
      <p:sp>
        <p:nvSpPr>
          <p:cNvPr id="27" name="Oval 26"/>
          <p:cNvSpPr/>
          <p:nvPr/>
        </p:nvSpPr>
        <p:spPr>
          <a:xfrm>
            <a:off x="5912967" y="1691640"/>
            <a:ext cx="548640" cy="548640"/>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12967" y="1691640"/>
            <a:ext cx="548640" cy="548640"/>
          </a:xfrm>
          <a:prstGeom prst="rect">
            <a:avLst/>
          </a:prstGeom>
          <a:noFill/>
        </p:spPr>
        <p:txBody>
          <a:bodyPr wrap="square" lIns="45720" rIns="45720" tIns="18288" bIns="18288" anchor="ctr">
            <a:spAutoFit/>
          </a:bodyPr>
          <a:lstStyle/>
          <a:p>
            <a:pPr algn="ctr"/>
            <a:r>
              <a:rPr sz="2200" b="1" i="0">
                <a:solidFill>
                  <a:srgbClr val="FFFFFF"/>
                </a:solidFill>
                <a:latin typeface="Calibri"/>
              </a:rPr>
              <a:t>6</a:t>
            </a:r>
          </a:p>
        </p:txBody>
      </p:sp>
      <p:sp>
        <p:nvSpPr>
          <p:cNvPr id="29" name="Rounded Rectangle 28"/>
          <p:cNvSpPr/>
          <p:nvPr/>
        </p:nvSpPr>
        <p:spPr>
          <a:xfrm>
            <a:off x="6598767" y="1737360"/>
            <a:ext cx="4541367" cy="4572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35927" y="1737360"/>
            <a:ext cx="4449927" cy="457200"/>
          </a:xfrm>
          <a:prstGeom prst="rect">
            <a:avLst/>
          </a:prstGeom>
          <a:noFill/>
        </p:spPr>
        <p:txBody>
          <a:bodyPr wrap="square" lIns="45720" rIns="45720" tIns="18288" bIns="18288" anchor="ctr">
            <a:spAutoFit/>
          </a:bodyPr>
          <a:lstStyle/>
          <a:p>
            <a:pPr algn="l"/>
            <a:r>
              <a:rPr sz="1400" b="0" i="0">
                <a:solidFill>
                  <a:srgbClr val="1F2A44"/>
                </a:solidFill>
                <a:latin typeface="Calibri"/>
              </a:rPr>
              <a:t>Application Gateway for Containers (AGC) + Gateway API</a:t>
            </a:r>
          </a:p>
        </p:txBody>
      </p:sp>
      <p:sp>
        <p:nvSpPr>
          <p:cNvPr id="31" name="Oval 30"/>
          <p:cNvSpPr/>
          <p:nvPr/>
        </p:nvSpPr>
        <p:spPr>
          <a:xfrm>
            <a:off x="5912967" y="2404872"/>
            <a:ext cx="548640" cy="548640"/>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12967" y="2404872"/>
            <a:ext cx="548640" cy="548640"/>
          </a:xfrm>
          <a:prstGeom prst="rect">
            <a:avLst/>
          </a:prstGeom>
          <a:noFill/>
        </p:spPr>
        <p:txBody>
          <a:bodyPr wrap="square" lIns="45720" rIns="45720" tIns="18288" bIns="18288" anchor="ctr">
            <a:spAutoFit/>
          </a:bodyPr>
          <a:lstStyle/>
          <a:p>
            <a:pPr algn="ctr"/>
            <a:r>
              <a:rPr sz="2200" b="1" i="0">
                <a:solidFill>
                  <a:srgbClr val="FFFFFF"/>
                </a:solidFill>
                <a:latin typeface="Calibri"/>
              </a:rPr>
              <a:t>7</a:t>
            </a:r>
          </a:p>
        </p:txBody>
      </p:sp>
      <p:sp>
        <p:nvSpPr>
          <p:cNvPr id="33" name="Rounded Rectangle 32"/>
          <p:cNvSpPr/>
          <p:nvPr/>
        </p:nvSpPr>
        <p:spPr>
          <a:xfrm>
            <a:off x="6598767" y="2450592"/>
            <a:ext cx="4541367" cy="4572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35927" y="2450592"/>
            <a:ext cx="4449927" cy="457200"/>
          </a:xfrm>
          <a:prstGeom prst="rect">
            <a:avLst/>
          </a:prstGeom>
          <a:noFill/>
        </p:spPr>
        <p:txBody>
          <a:bodyPr wrap="square" lIns="45720" rIns="45720" tIns="18288" bIns="18288" anchor="ctr">
            <a:spAutoFit/>
          </a:bodyPr>
          <a:lstStyle/>
          <a:p>
            <a:pPr algn="l"/>
            <a:r>
              <a:rPr sz="1400" b="0" i="0">
                <a:solidFill>
                  <a:srgbClr val="1F2A44"/>
                </a:solidFill>
                <a:latin typeface="Calibri"/>
              </a:rPr>
              <a:t>Legacy: community ingress-nginx on AKS (retirement reference)</a:t>
            </a:r>
          </a:p>
        </p:txBody>
      </p:sp>
      <p:sp>
        <p:nvSpPr>
          <p:cNvPr id="35" name="Oval 34"/>
          <p:cNvSpPr/>
          <p:nvPr/>
        </p:nvSpPr>
        <p:spPr>
          <a:xfrm>
            <a:off x="5912967" y="3118104"/>
            <a:ext cx="548640" cy="548640"/>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12967" y="3118104"/>
            <a:ext cx="548640" cy="548640"/>
          </a:xfrm>
          <a:prstGeom prst="rect">
            <a:avLst/>
          </a:prstGeom>
          <a:noFill/>
        </p:spPr>
        <p:txBody>
          <a:bodyPr wrap="square" lIns="45720" rIns="45720" tIns="18288" bIns="18288" anchor="ctr">
            <a:spAutoFit/>
          </a:bodyPr>
          <a:lstStyle/>
          <a:p>
            <a:pPr algn="ctr"/>
            <a:r>
              <a:rPr sz="2200" b="1" i="0">
                <a:solidFill>
                  <a:srgbClr val="FFFFFF"/>
                </a:solidFill>
                <a:latin typeface="Calibri"/>
              </a:rPr>
              <a:t>8</a:t>
            </a:r>
          </a:p>
        </p:txBody>
      </p:sp>
      <p:sp>
        <p:nvSpPr>
          <p:cNvPr id="37" name="Rounded Rectangle 36"/>
          <p:cNvSpPr/>
          <p:nvPr/>
        </p:nvSpPr>
        <p:spPr>
          <a:xfrm>
            <a:off x="6598767" y="3163824"/>
            <a:ext cx="4541367" cy="4572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35927" y="3163824"/>
            <a:ext cx="4449927" cy="457200"/>
          </a:xfrm>
          <a:prstGeom prst="rect">
            <a:avLst/>
          </a:prstGeom>
          <a:noFill/>
        </p:spPr>
        <p:txBody>
          <a:bodyPr wrap="square" lIns="45720" rIns="45720" tIns="18288" bIns="18288" anchor="ctr">
            <a:spAutoFit/>
          </a:bodyPr>
          <a:lstStyle/>
          <a:p>
            <a:pPr algn="l"/>
            <a:r>
              <a:rPr sz="1400" b="0" i="0">
                <a:solidFill>
                  <a:srgbClr val="1F2A44"/>
                </a:solidFill>
                <a:latin typeface="Calibri"/>
              </a:rPr>
              <a:t>Managed Argo CD on AKS (vs Flux)</a:t>
            </a:r>
          </a:p>
        </p:txBody>
      </p:sp>
      <p:sp>
        <p:nvSpPr>
          <p:cNvPr id="39" name="Oval 38"/>
          <p:cNvSpPr/>
          <p:nvPr/>
        </p:nvSpPr>
        <p:spPr>
          <a:xfrm>
            <a:off x="5912967" y="3831336"/>
            <a:ext cx="548640" cy="548640"/>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12967" y="3831336"/>
            <a:ext cx="548640" cy="548640"/>
          </a:xfrm>
          <a:prstGeom prst="rect">
            <a:avLst/>
          </a:prstGeom>
          <a:noFill/>
        </p:spPr>
        <p:txBody>
          <a:bodyPr wrap="square" lIns="45720" rIns="45720" tIns="18288" bIns="18288" anchor="ctr">
            <a:spAutoFit/>
          </a:bodyPr>
          <a:lstStyle/>
          <a:p>
            <a:pPr algn="ctr"/>
            <a:r>
              <a:rPr sz="2200" b="1" i="0">
                <a:solidFill>
                  <a:srgbClr val="FFFFFF"/>
                </a:solidFill>
                <a:latin typeface="Calibri"/>
              </a:rPr>
              <a:t>9</a:t>
            </a:r>
          </a:p>
        </p:txBody>
      </p:sp>
      <p:sp>
        <p:nvSpPr>
          <p:cNvPr id="41" name="Rounded Rectangle 40"/>
          <p:cNvSpPr/>
          <p:nvPr/>
        </p:nvSpPr>
        <p:spPr>
          <a:xfrm>
            <a:off x="6598767" y="3877056"/>
            <a:ext cx="4541367" cy="4572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35927" y="3877056"/>
            <a:ext cx="4449927" cy="457200"/>
          </a:xfrm>
          <a:prstGeom prst="rect">
            <a:avLst/>
          </a:prstGeom>
          <a:noFill/>
        </p:spPr>
        <p:txBody>
          <a:bodyPr wrap="square" lIns="45720" rIns="45720" tIns="18288" bIns="18288" anchor="ctr">
            <a:spAutoFit/>
          </a:bodyPr>
          <a:lstStyle/>
          <a:p>
            <a:pPr algn="l"/>
            <a:r>
              <a:rPr sz="1400" b="0" i="0">
                <a:solidFill>
                  <a:srgbClr val="1F2A44"/>
                </a:solidFill>
                <a:latin typeface="Calibri"/>
              </a:rPr>
              <a:t>Q&amp;A</a:t>
            </a:r>
          </a:p>
        </p:txBody>
      </p:sp>
      <p:sp>
        <p:nvSpPr>
          <p:cNvPr id="43" name="TextBox 42"/>
          <p:cNvSpPr txBox="1"/>
          <p:nvPr/>
        </p:nvSpPr>
        <p:spPr>
          <a:xfrm>
            <a:off x="457200" y="5943600"/>
            <a:ext cx="11277295" cy="365760"/>
          </a:xfrm>
          <a:prstGeom prst="rect">
            <a:avLst/>
          </a:prstGeom>
          <a:noFill/>
        </p:spPr>
        <p:txBody>
          <a:bodyPr wrap="square" lIns="45720" rIns="45720" tIns="18288" bIns="18288">
            <a:spAutoFit/>
          </a:bodyPr>
          <a:lstStyle/>
          <a:p>
            <a:pPr algn="l"/>
            <a:r>
              <a:rPr sz="1200" b="0" i="1">
                <a:solidFill>
                  <a:srgbClr val="606E85"/>
                </a:solidFill>
                <a:latin typeface="Calibri"/>
              </a:rPr>
              <a:t>→  Q&amp;A throughout; deeper code samples in the speaker notes.</a:t>
            </a:r>
          </a:p>
        </p:txBody>
      </p:sp>
      <p:sp>
        <p:nvSpPr>
          <p:cNvPr id="44" name="Rectangle 43"/>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46" name="TextBox 45"/>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2 /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2743200" cy="457200"/>
          </a:xfrm>
          <a:prstGeom prst="rect">
            <a:avLst/>
          </a:prstGeom>
          <a:noFill/>
        </p:spPr>
        <p:txBody>
          <a:bodyPr wrap="square" lIns="45720" rIns="45720" tIns="18288" bIns="18288">
            <a:spAutoFit/>
          </a:bodyPr>
          <a:lstStyle/>
          <a:p>
            <a:pPr algn="l"/>
            <a:r>
              <a:rPr sz="1800" b="1" i="0">
                <a:solidFill>
                  <a:srgbClr val="9CC8FF"/>
                </a:solidFill>
                <a:latin typeface="Calibri"/>
              </a:rPr>
              <a:t>PART</a:t>
            </a:r>
          </a:p>
        </p:txBody>
      </p:sp>
      <p:sp>
        <p:nvSpPr>
          <p:cNvPr id="5" name="TextBox 4"/>
          <p:cNvSpPr txBox="1"/>
          <p:nvPr/>
        </p:nvSpPr>
        <p:spPr>
          <a:xfrm>
            <a:off x="640080" y="1005840"/>
            <a:ext cx="3657600" cy="3200400"/>
          </a:xfrm>
          <a:prstGeom prst="rect">
            <a:avLst/>
          </a:prstGeom>
          <a:noFill/>
        </p:spPr>
        <p:txBody>
          <a:bodyPr wrap="square" lIns="45720" rIns="45720" tIns="18288" bIns="18288">
            <a:spAutoFit/>
          </a:bodyPr>
          <a:lstStyle/>
          <a:p>
            <a:pPr algn="l"/>
            <a:r>
              <a:rPr sz="24000" b="1" i="0">
                <a:solidFill>
                  <a:srgbClr val="FFFFFF"/>
                </a:solidFill>
                <a:latin typeface="Calibri"/>
              </a:rPr>
              <a:t>1</a:t>
            </a:r>
          </a:p>
        </p:txBody>
      </p:sp>
      <p:sp>
        <p:nvSpPr>
          <p:cNvPr id="6" name="TextBox 5"/>
          <p:cNvSpPr txBox="1"/>
          <p:nvPr/>
        </p:nvSpPr>
        <p:spPr>
          <a:xfrm>
            <a:off x="5029200" y="1463040"/>
            <a:ext cx="6522415" cy="1371600"/>
          </a:xfrm>
          <a:prstGeom prst="rect">
            <a:avLst/>
          </a:prstGeom>
          <a:noFill/>
        </p:spPr>
        <p:txBody>
          <a:bodyPr wrap="square" lIns="45720" rIns="45720" tIns="18288" bIns="18288">
            <a:spAutoFit/>
          </a:bodyPr>
          <a:lstStyle/>
          <a:p>
            <a:pPr algn="l"/>
            <a:r>
              <a:rPr sz="4000" b="1" i="0">
                <a:solidFill>
                  <a:srgbClr val="FFFFFF"/>
                </a:solidFill>
                <a:latin typeface="Calibri"/>
              </a:rPr>
              <a:t>Service Mesh: Sidecar → Ambient</a:t>
            </a:r>
          </a:p>
        </p:txBody>
      </p:sp>
      <p:sp>
        <p:nvSpPr>
          <p:cNvPr id="7" name="Rectangle 6"/>
          <p:cNvSpPr/>
          <p:nvPr/>
        </p:nvSpPr>
        <p:spPr>
          <a:xfrm>
            <a:off x="5029200" y="2834640"/>
            <a:ext cx="914400" cy="73152"/>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063240"/>
            <a:ext cx="1645920" cy="320040"/>
          </a:xfrm>
          <a:prstGeom prst="rect">
            <a:avLst/>
          </a:prstGeom>
          <a:noFill/>
        </p:spPr>
        <p:txBody>
          <a:bodyPr wrap="square" lIns="45720" rIns="45720" tIns="18288" bIns="18288">
            <a:spAutoFit/>
          </a:bodyPr>
          <a:lstStyle/>
          <a:p>
            <a:pPr algn="l"/>
            <a:r>
              <a:rPr sz="1000" b="1" i="0">
                <a:solidFill>
                  <a:srgbClr val="9CC8FF"/>
                </a:solidFill>
                <a:latin typeface="Calibri"/>
              </a:rPr>
              <a:t>IN THIS PART</a:t>
            </a:r>
          </a:p>
        </p:txBody>
      </p:sp>
      <p:sp>
        <p:nvSpPr>
          <p:cNvPr id="9" name="Oval 8"/>
          <p:cNvSpPr/>
          <p:nvPr/>
        </p:nvSpPr>
        <p:spPr>
          <a:xfrm>
            <a:off x="5029200" y="3520440"/>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429000"/>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Why a service mesh at all?</a:t>
            </a:r>
          </a:p>
        </p:txBody>
      </p:sp>
      <p:sp>
        <p:nvSpPr>
          <p:cNvPr id="11" name="Oval 10"/>
          <p:cNvSpPr/>
          <p:nvPr/>
        </p:nvSpPr>
        <p:spPr>
          <a:xfrm>
            <a:off x="5029200" y="3904488"/>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0" y="3813048"/>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Sidecar mode (the old way)</a:t>
            </a:r>
          </a:p>
        </p:txBody>
      </p:sp>
      <p:sp>
        <p:nvSpPr>
          <p:cNvPr id="13" name="Oval 12"/>
          <p:cNvSpPr/>
          <p:nvPr/>
        </p:nvSpPr>
        <p:spPr>
          <a:xfrm>
            <a:off x="5029200" y="4288536"/>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0" y="4197096"/>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Ambient mode (the new way)</a:t>
            </a:r>
          </a:p>
        </p:txBody>
      </p:sp>
      <p:sp>
        <p:nvSpPr>
          <p:cNvPr id="15" name="Oval 14"/>
          <p:cNvSpPr/>
          <p:nvPr/>
        </p:nvSpPr>
        <p:spPr>
          <a:xfrm>
            <a:off x="5029200" y="4672584"/>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0" y="4581144"/>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Pod-to-pod traffic across nodes (ambient)</a:t>
            </a:r>
          </a:p>
        </p:txBody>
      </p:sp>
      <p:sp>
        <p:nvSpPr>
          <p:cNvPr id="17" name="Oval 16"/>
          <p:cNvSpPr/>
          <p:nvPr/>
        </p:nvSpPr>
        <p:spPr>
          <a:xfrm>
            <a:off x="5029200" y="5056632"/>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4965192"/>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Enabling managed ambient on AKS</a:t>
            </a:r>
          </a:p>
        </p:txBody>
      </p:sp>
      <p:sp>
        <p:nvSpPr>
          <p:cNvPr id="19" name="TextBox 18"/>
          <p:cNvSpPr txBox="1"/>
          <p:nvPr/>
        </p:nvSpPr>
        <p:spPr>
          <a:xfrm>
            <a:off x="640080" y="6400800"/>
            <a:ext cx="3657600" cy="365760"/>
          </a:xfrm>
          <a:prstGeom prst="rect">
            <a:avLst/>
          </a:prstGeom>
          <a:noFill/>
        </p:spPr>
        <p:txBody>
          <a:bodyPr wrap="square" lIns="45720" rIns="45720" tIns="18288" bIns="18288">
            <a:spAutoFit/>
          </a:bodyPr>
          <a:lstStyle/>
          <a:p>
            <a:pPr algn="l"/>
            <a:r>
              <a:rPr sz="1100" b="0" i="0">
                <a:solidFill>
                  <a:srgbClr val="9CC8FF"/>
                </a:solidFill>
                <a:latin typeface="Calibri"/>
              </a:rPr>
              <a:t>3 /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SERVICE MESH: SIDECAR → AMBIENT</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Why a service mesh at all?</a:t>
            </a:r>
          </a:p>
        </p:txBody>
      </p:sp>
      <p:sp>
        <p:nvSpPr>
          <p:cNvPr id="7" name="TextBox 6"/>
          <p:cNvSpPr txBox="1"/>
          <p:nvPr/>
        </p:nvSpPr>
        <p:spPr>
          <a:xfrm>
            <a:off x="457200" y="1097280"/>
            <a:ext cx="11277295" cy="1299459"/>
          </a:xfrm>
          <a:prstGeom prst="rect">
            <a:avLst/>
          </a:prstGeom>
          <a:noFill/>
        </p:spPr>
        <p:txBody>
          <a:bodyPr wrap="square" lIns="45720" rIns="45720" tIns="18288" bIns="18288">
            <a:spAutoFit/>
          </a:bodyPr>
          <a:lstStyle/>
          <a:p>
            <a:pPr>
              <a:spcAft>
                <a:spcPts val="200"/>
              </a:spcAft>
            </a:pPr>
            <a:r>
              <a:rPr sz="1400" b="1" i="0">
                <a:solidFill>
                  <a:srgbClr val="1F2A44"/>
                </a:solidFill>
                <a:latin typeface="Calibri"/>
              </a:rPr>
              <a:t>What a mesh actually gives you</a:t>
            </a:r>
          </a:p>
          <a:p>
            <a:pPr>
              <a:spcAft>
                <a:spcPts val="200"/>
              </a:spcAft>
            </a:pPr>
            <a:r>
              <a:rPr sz="1400" b="1">
                <a:solidFill>
                  <a:srgbClr val="0078D4"/>
                </a:solidFill>
                <a:latin typeface="Calibri"/>
              </a:rPr>
              <a:t>▸ </a:t>
            </a:r>
            <a:r>
              <a:rPr sz="1400" b="0" i="0">
                <a:solidFill>
                  <a:srgbClr val="1F2A44"/>
                </a:solidFill>
                <a:latin typeface="Calibri"/>
              </a:rPr>
              <a:t>mTLS everywhere, identity-based (SPIFFE) — zero-trust between workloads</a:t>
            </a:r>
          </a:p>
          <a:p>
            <a:pPr>
              <a:spcAft>
                <a:spcPts val="200"/>
              </a:spcAft>
            </a:pPr>
            <a:r>
              <a:rPr sz="1400" b="1">
                <a:solidFill>
                  <a:srgbClr val="0078D4"/>
                </a:solidFill>
                <a:latin typeface="Calibri"/>
              </a:rPr>
              <a:t>▸ </a:t>
            </a:r>
            <a:r>
              <a:rPr sz="1400" b="0" i="0">
                <a:solidFill>
                  <a:srgbClr val="1F2A44"/>
                </a:solidFill>
                <a:latin typeface="Calibri"/>
              </a:rPr>
              <a:t>L7 traffic control: retries, timeouts, circuit breaking, traffic splitting</a:t>
            </a:r>
          </a:p>
          <a:p>
            <a:pPr>
              <a:spcAft>
                <a:spcPts val="200"/>
              </a:spcAft>
            </a:pPr>
            <a:r>
              <a:rPr sz="1400" b="1">
                <a:solidFill>
                  <a:srgbClr val="0078D4"/>
                </a:solidFill>
                <a:latin typeface="Calibri"/>
              </a:rPr>
              <a:t>▸ </a:t>
            </a:r>
            <a:r>
              <a:rPr sz="1400" b="0" i="0">
                <a:solidFill>
                  <a:srgbClr val="1F2A44"/>
                </a:solidFill>
                <a:latin typeface="Calibri"/>
              </a:rPr>
              <a:t>Uniform telemetry: golden signals per service without app code</a:t>
            </a:r>
          </a:p>
          <a:p>
            <a:pPr>
              <a:spcAft>
                <a:spcPts val="200"/>
              </a:spcAft>
            </a:pPr>
            <a:r>
              <a:rPr sz="1400" b="1">
                <a:solidFill>
                  <a:srgbClr val="0078D4"/>
                </a:solidFill>
                <a:latin typeface="Calibri"/>
              </a:rPr>
              <a:t>▸ </a:t>
            </a:r>
            <a:r>
              <a:rPr sz="1400" b="0" i="0">
                <a:solidFill>
                  <a:srgbClr val="1F2A44"/>
                </a:solidFill>
                <a:latin typeface="Calibri"/>
              </a:rPr>
              <a:t>Policy: authZ between services, rate limiting, header rewrites</a:t>
            </a:r>
          </a:p>
        </p:txBody>
      </p:sp>
      <p:sp>
        <p:nvSpPr>
          <p:cNvPr id="8" name="TextBox 7"/>
          <p:cNvSpPr txBox="1"/>
          <p:nvPr/>
        </p:nvSpPr>
        <p:spPr>
          <a:xfrm>
            <a:off x="457200" y="2451603"/>
            <a:ext cx="11277295" cy="1299459"/>
          </a:xfrm>
          <a:prstGeom prst="rect">
            <a:avLst/>
          </a:prstGeom>
          <a:noFill/>
        </p:spPr>
        <p:txBody>
          <a:bodyPr wrap="square" lIns="45720" rIns="45720" tIns="18288" bIns="18288">
            <a:spAutoFit/>
          </a:bodyPr>
          <a:lstStyle/>
          <a:p>
            <a:pPr>
              <a:spcAft>
                <a:spcPts val="200"/>
              </a:spcAft>
            </a:pPr>
            <a:r>
              <a:rPr sz="1400" b="1" i="0">
                <a:solidFill>
                  <a:srgbClr val="1F2A44"/>
                </a:solidFill>
                <a:latin typeface="Calibri"/>
              </a:rPr>
              <a:t>When it makes sense</a:t>
            </a:r>
          </a:p>
          <a:p>
            <a:pPr>
              <a:spcAft>
                <a:spcPts val="200"/>
              </a:spcAft>
            </a:pPr>
            <a:r>
              <a:rPr sz="1400" b="1">
                <a:solidFill>
                  <a:srgbClr val="0078D4"/>
                </a:solidFill>
                <a:latin typeface="Calibri"/>
              </a:rPr>
              <a:t>▸ </a:t>
            </a:r>
            <a:r>
              <a:rPr sz="1400" b="0" i="0">
                <a:solidFill>
                  <a:srgbClr val="1F2A44"/>
                </a:solidFill>
                <a:latin typeface="Calibri"/>
              </a:rPr>
              <a:t>&gt; ~10 services or multiple teams sharing a cluster</a:t>
            </a:r>
          </a:p>
          <a:p>
            <a:pPr>
              <a:spcAft>
                <a:spcPts val="200"/>
              </a:spcAft>
            </a:pPr>
            <a:r>
              <a:rPr sz="1400" b="1">
                <a:solidFill>
                  <a:srgbClr val="0078D4"/>
                </a:solidFill>
                <a:latin typeface="Calibri"/>
              </a:rPr>
              <a:t>▸ </a:t>
            </a:r>
            <a:r>
              <a:rPr sz="1400" b="0" i="0">
                <a:solidFill>
                  <a:srgbClr val="1F2A44"/>
                </a:solidFill>
                <a:latin typeface="Calibri"/>
              </a:rPr>
              <a:t>Regulated workloads (PCI/HIPAA) needing encryption-in-transit &amp; audit</a:t>
            </a:r>
          </a:p>
          <a:p>
            <a:pPr>
              <a:spcAft>
                <a:spcPts val="200"/>
              </a:spcAft>
            </a:pPr>
            <a:r>
              <a:rPr sz="1400" b="1">
                <a:solidFill>
                  <a:srgbClr val="0078D4"/>
                </a:solidFill>
                <a:latin typeface="Calibri"/>
              </a:rPr>
              <a:t>▸ </a:t>
            </a:r>
            <a:r>
              <a:rPr sz="1400" b="0" i="0">
                <a:solidFill>
                  <a:srgbClr val="1F2A44"/>
                </a:solidFill>
                <a:latin typeface="Calibri"/>
              </a:rPr>
              <a:t>Progressive delivery: canary, blue/green, A/B by header</a:t>
            </a:r>
          </a:p>
          <a:p>
            <a:pPr>
              <a:spcAft>
                <a:spcPts val="200"/>
              </a:spcAft>
            </a:pPr>
            <a:r>
              <a:rPr sz="1400" b="1">
                <a:solidFill>
                  <a:srgbClr val="0078D4"/>
                </a:solidFill>
                <a:latin typeface="Calibri"/>
              </a:rPr>
              <a:t>▸ </a:t>
            </a:r>
            <a:r>
              <a:rPr sz="1400" b="0" i="0">
                <a:solidFill>
                  <a:srgbClr val="1F2A44"/>
                </a:solidFill>
                <a:latin typeface="Calibri"/>
              </a:rPr>
              <a:t>Multi-cluster / multi-tenant platforms</a:t>
            </a:r>
          </a:p>
        </p:txBody>
      </p:sp>
      <p:sp>
        <p:nvSpPr>
          <p:cNvPr id="9" name="TextBox 8"/>
          <p:cNvSpPr txBox="1"/>
          <p:nvPr/>
        </p:nvSpPr>
        <p:spPr>
          <a:xfrm>
            <a:off x="457200" y="3805926"/>
            <a:ext cx="11277295" cy="1299459"/>
          </a:xfrm>
          <a:prstGeom prst="rect">
            <a:avLst/>
          </a:prstGeom>
          <a:noFill/>
        </p:spPr>
        <p:txBody>
          <a:bodyPr wrap="square" lIns="45720" rIns="45720" tIns="18288" bIns="18288">
            <a:spAutoFit/>
          </a:bodyPr>
          <a:lstStyle/>
          <a:p>
            <a:pPr>
              <a:spcAft>
                <a:spcPts val="200"/>
              </a:spcAft>
            </a:pPr>
            <a:r>
              <a:rPr sz="1400" b="1" i="0">
                <a:solidFill>
                  <a:srgbClr val="1F2A44"/>
                </a:solidFill>
                <a:latin typeface="Calibri"/>
              </a:rPr>
              <a:t>When it does NOT make sense</a:t>
            </a:r>
          </a:p>
          <a:p>
            <a:pPr>
              <a:spcAft>
                <a:spcPts val="200"/>
              </a:spcAft>
            </a:pPr>
            <a:r>
              <a:rPr sz="1400" b="1">
                <a:solidFill>
                  <a:srgbClr val="0078D4"/>
                </a:solidFill>
                <a:latin typeface="Calibri"/>
              </a:rPr>
              <a:t>▸ </a:t>
            </a:r>
            <a:r>
              <a:rPr sz="1400" b="0" i="0">
                <a:solidFill>
                  <a:srgbClr val="1F2A44"/>
                </a:solidFill>
                <a:latin typeface="Calibri"/>
              </a:rPr>
              <a:t>2–3 microservices behind a single ingress — overkill</a:t>
            </a:r>
          </a:p>
          <a:p>
            <a:pPr>
              <a:spcAft>
                <a:spcPts val="200"/>
              </a:spcAft>
            </a:pPr>
            <a:r>
              <a:rPr sz="1400" b="1">
                <a:solidFill>
                  <a:srgbClr val="0078D4"/>
                </a:solidFill>
                <a:latin typeface="Calibri"/>
              </a:rPr>
              <a:t>▸ </a:t>
            </a:r>
            <a:r>
              <a:rPr sz="1400" b="0" i="0">
                <a:solidFill>
                  <a:srgbClr val="1F2A44"/>
                </a:solidFill>
                <a:latin typeface="Calibri"/>
              </a:rPr>
              <a:t>Hard real-time / ultra-low-latency hot paths (extra hop matters)</a:t>
            </a:r>
          </a:p>
          <a:p>
            <a:pPr>
              <a:spcAft>
                <a:spcPts val="200"/>
              </a:spcAft>
            </a:pPr>
            <a:r>
              <a:rPr sz="1400" b="1">
                <a:solidFill>
                  <a:srgbClr val="0078D4"/>
                </a:solidFill>
                <a:latin typeface="Calibri"/>
              </a:rPr>
              <a:t>▸ </a:t>
            </a:r>
            <a:r>
              <a:rPr sz="1400" b="0" i="0">
                <a:solidFill>
                  <a:srgbClr val="1F2A44"/>
                </a:solidFill>
                <a:latin typeface="Calibri"/>
              </a:rPr>
              <a:t>Small team without platform capacity to operate it</a:t>
            </a:r>
          </a:p>
          <a:p>
            <a:pPr>
              <a:spcAft>
                <a:spcPts val="200"/>
              </a:spcAft>
            </a:pPr>
            <a:r>
              <a:rPr sz="1400" b="1">
                <a:solidFill>
                  <a:srgbClr val="0078D4"/>
                </a:solidFill>
                <a:latin typeface="Calibri"/>
              </a:rPr>
              <a:t>▸ </a:t>
            </a:r>
            <a:r>
              <a:rPr sz="1400" b="0" i="0">
                <a:solidFill>
                  <a:srgbClr val="1F2A44"/>
                </a:solidFill>
                <a:latin typeface="Calibri"/>
              </a:rPr>
              <a:t>If you only need mTLS at the edge → a Gateway can be enough</a:t>
            </a:r>
          </a:p>
        </p:txBody>
      </p:sp>
      <p:sp>
        <p:nvSpPr>
          <p:cNvPr id="10" name="Rectangle 9"/>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12" name="TextBox 11"/>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4 / 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SERVICE MESH: SIDECAR → AMBIENT</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Sidecar mode (the old way)</a:t>
            </a:r>
          </a:p>
        </p:txBody>
      </p:sp>
      <p:sp>
        <p:nvSpPr>
          <p:cNvPr id="7" name="Rectangle 6"/>
          <p:cNvSpPr/>
          <p:nvPr/>
        </p:nvSpPr>
        <p:spPr>
          <a:xfrm>
            <a:off x="457200" y="1097280"/>
            <a:ext cx="6858000" cy="4754880"/>
          </a:xfrm>
          <a:prstGeom prst="rect">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73152" cy="4754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143000"/>
            <a:ext cx="6492240" cy="320040"/>
          </a:xfrm>
          <a:prstGeom prst="rect">
            <a:avLst/>
          </a:prstGeom>
          <a:noFill/>
        </p:spPr>
        <p:txBody>
          <a:bodyPr wrap="square" lIns="45720" rIns="45720" tIns="18288" bIns="18288">
            <a:spAutoFit/>
          </a:bodyPr>
          <a:lstStyle/>
          <a:p>
            <a:pPr algn="l"/>
            <a:r>
              <a:rPr sz="1200" b="1" i="0">
                <a:solidFill>
                  <a:srgbClr val="103A6E"/>
                </a:solidFill>
                <a:latin typeface="Calibri"/>
              </a:rPr>
              <a:t>Sidecar mode — every pod gets its own Envoy</a:t>
            </a:r>
          </a:p>
        </p:txBody>
      </p:sp>
      <p:sp>
        <p:nvSpPr>
          <p:cNvPr id="10" name="Rounded Rectangle 9"/>
          <p:cNvSpPr/>
          <p:nvPr/>
        </p:nvSpPr>
        <p:spPr>
          <a:xfrm>
            <a:off x="731520" y="1600200"/>
            <a:ext cx="2971800" cy="3749040"/>
          </a:xfrm>
          <a:prstGeom prst="roundRect">
            <a:avLst>
              <a:gd name="adj" fmla="val 8000"/>
            </a:avLst>
          </a:prstGeom>
          <a:solidFill>
            <a:srgbClr val="FFFFFF"/>
          </a:solidFill>
          <a:ln w="19050">
            <a:solidFill>
              <a:srgbClr val="103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45920"/>
            <a:ext cx="2788920" cy="274320"/>
          </a:xfrm>
          <a:prstGeom prst="rect">
            <a:avLst/>
          </a:prstGeom>
          <a:noFill/>
        </p:spPr>
        <p:txBody>
          <a:bodyPr wrap="square" lIns="45720" rIns="45720" tIns="18288" bIns="18288">
            <a:spAutoFit/>
          </a:bodyPr>
          <a:lstStyle/>
          <a:p>
            <a:pPr algn="l"/>
            <a:r>
              <a:rPr sz="1100" b="1" i="0">
                <a:solidFill>
                  <a:srgbClr val="103A6E"/>
                </a:solidFill>
                <a:latin typeface="Calibri"/>
              </a:rPr>
              <a:t>Pod A</a:t>
            </a:r>
          </a:p>
        </p:txBody>
      </p:sp>
      <p:sp>
        <p:nvSpPr>
          <p:cNvPr id="12" name="Rounded Rectangle 11"/>
          <p:cNvSpPr/>
          <p:nvPr/>
        </p:nvSpPr>
        <p:spPr>
          <a:xfrm>
            <a:off x="868680" y="2011680"/>
            <a:ext cx="1280160" cy="3154680"/>
          </a:xfrm>
          <a:prstGeom prst="roundRect">
            <a:avLst>
              <a:gd name="adj" fmla="val 10000"/>
            </a:avLst>
          </a:prstGeom>
          <a:solidFill>
            <a:srgbClr val="E69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011680"/>
            <a:ext cx="1280160" cy="3154680"/>
          </a:xfrm>
          <a:prstGeom prst="rect">
            <a:avLst/>
          </a:prstGeom>
          <a:noFill/>
        </p:spPr>
        <p:txBody>
          <a:bodyPr wrap="square" lIns="45720" rIns="45720" tIns="18288" bIns="18288" anchor="ctr">
            <a:spAutoFit/>
          </a:bodyPr>
          <a:lstStyle/>
          <a:p>
            <a:pPr algn="ctr"/>
            <a:r>
              <a:rPr sz="1100" b="1" i="0">
                <a:solidFill>
                  <a:srgbClr val="FFFFFF"/>
                </a:solidFill>
                <a:latin typeface="Calibri"/>
              </a:rPr>
              <a:t>envoy</a:t>
            </a:r>
          </a:p>
          <a:p>
            <a:pPr algn="ctr"/>
            <a:r>
              <a:rPr sz="1100" b="1" i="0">
                <a:solidFill>
                  <a:srgbClr val="FFFFFF"/>
                </a:solidFill>
                <a:latin typeface="Calibri"/>
              </a:rPr>
              <a:t>sidecar</a:t>
            </a:r>
          </a:p>
        </p:txBody>
      </p:sp>
      <p:sp>
        <p:nvSpPr>
          <p:cNvPr id="14" name="Rounded Rectangle 13"/>
          <p:cNvSpPr/>
          <p:nvPr/>
        </p:nvSpPr>
        <p:spPr>
          <a:xfrm>
            <a:off x="2286000" y="2011680"/>
            <a:ext cx="1280160" cy="3154680"/>
          </a:xfrm>
          <a:prstGeom prst="roundRect">
            <a:avLst>
              <a:gd name="adj" fmla="val 1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86000" y="2011680"/>
            <a:ext cx="1280160" cy="3154680"/>
          </a:xfrm>
          <a:prstGeom prst="rect">
            <a:avLst/>
          </a:prstGeom>
          <a:noFill/>
        </p:spPr>
        <p:txBody>
          <a:bodyPr wrap="square" lIns="45720" rIns="45720" tIns="18288" bIns="18288" anchor="ctr">
            <a:spAutoFit/>
          </a:bodyPr>
          <a:lstStyle/>
          <a:p>
            <a:pPr algn="ctr"/>
            <a:r>
              <a:rPr sz="1100" b="1" i="0">
                <a:solidFill>
                  <a:srgbClr val="FFFFFF"/>
                </a:solidFill>
                <a:latin typeface="Calibri"/>
              </a:rPr>
              <a:t>app</a:t>
            </a:r>
          </a:p>
          <a:p>
            <a:pPr algn="ctr"/>
            <a:r>
              <a:rPr sz="1100" b="1" i="0">
                <a:solidFill>
                  <a:srgbClr val="FFFFFF"/>
                </a:solidFill>
                <a:latin typeface="Calibri"/>
              </a:rPr>
              <a:t>container</a:t>
            </a:r>
          </a:p>
        </p:txBody>
      </p:sp>
      <p:sp>
        <p:nvSpPr>
          <p:cNvPr id="16" name="Rounded Rectangle 15"/>
          <p:cNvSpPr/>
          <p:nvPr/>
        </p:nvSpPr>
        <p:spPr>
          <a:xfrm>
            <a:off x="4069080" y="1600200"/>
            <a:ext cx="2971800" cy="3749040"/>
          </a:xfrm>
          <a:prstGeom prst="roundRect">
            <a:avLst>
              <a:gd name="adj" fmla="val 8000"/>
            </a:avLst>
          </a:prstGeom>
          <a:solidFill>
            <a:srgbClr val="FFFFFF"/>
          </a:solidFill>
          <a:ln w="19050">
            <a:solidFill>
              <a:srgbClr val="103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60520" y="1645920"/>
            <a:ext cx="2788920" cy="274320"/>
          </a:xfrm>
          <a:prstGeom prst="rect">
            <a:avLst/>
          </a:prstGeom>
          <a:noFill/>
        </p:spPr>
        <p:txBody>
          <a:bodyPr wrap="square" lIns="45720" rIns="45720" tIns="18288" bIns="18288">
            <a:spAutoFit/>
          </a:bodyPr>
          <a:lstStyle/>
          <a:p>
            <a:pPr algn="l"/>
            <a:r>
              <a:rPr sz="1100" b="1" i="0">
                <a:solidFill>
                  <a:srgbClr val="103A6E"/>
                </a:solidFill>
                <a:latin typeface="Calibri"/>
              </a:rPr>
              <a:t>Pod B</a:t>
            </a:r>
          </a:p>
        </p:txBody>
      </p:sp>
      <p:sp>
        <p:nvSpPr>
          <p:cNvPr id="18" name="Rounded Rectangle 17"/>
          <p:cNvSpPr/>
          <p:nvPr/>
        </p:nvSpPr>
        <p:spPr>
          <a:xfrm>
            <a:off x="4206240" y="2011680"/>
            <a:ext cx="1280160" cy="3154680"/>
          </a:xfrm>
          <a:prstGeom prst="roundRect">
            <a:avLst>
              <a:gd name="adj" fmla="val 10000"/>
            </a:avLst>
          </a:prstGeom>
          <a:solidFill>
            <a:srgbClr val="E69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06240" y="2011680"/>
            <a:ext cx="1280160" cy="3154680"/>
          </a:xfrm>
          <a:prstGeom prst="rect">
            <a:avLst/>
          </a:prstGeom>
          <a:noFill/>
        </p:spPr>
        <p:txBody>
          <a:bodyPr wrap="square" lIns="45720" rIns="45720" tIns="18288" bIns="18288" anchor="ctr">
            <a:spAutoFit/>
          </a:bodyPr>
          <a:lstStyle/>
          <a:p>
            <a:pPr algn="ctr"/>
            <a:r>
              <a:rPr sz="1100" b="1" i="0">
                <a:solidFill>
                  <a:srgbClr val="FFFFFF"/>
                </a:solidFill>
                <a:latin typeface="Calibri"/>
              </a:rPr>
              <a:t>envoy</a:t>
            </a:r>
          </a:p>
          <a:p>
            <a:pPr algn="ctr"/>
            <a:r>
              <a:rPr sz="1100" b="1" i="0">
                <a:solidFill>
                  <a:srgbClr val="FFFFFF"/>
                </a:solidFill>
                <a:latin typeface="Calibri"/>
              </a:rPr>
              <a:t>sidecar</a:t>
            </a:r>
          </a:p>
        </p:txBody>
      </p:sp>
      <p:sp>
        <p:nvSpPr>
          <p:cNvPr id="20" name="Rounded Rectangle 19"/>
          <p:cNvSpPr/>
          <p:nvPr/>
        </p:nvSpPr>
        <p:spPr>
          <a:xfrm>
            <a:off x="5623560" y="2011680"/>
            <a:ext cx="1280160" cy="3154680"/>
          </a:xfrm>
          <a:prstGeom prst="roundRect">
            <a:avLst>
              <a:gd name="adj" fmla="val 1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23560" y="2011680"/>
            <a:ext cx="1280160" cy="3154680"/>
          </a:xfrm>
          <a:prstGeom prst="rect">
            <a:avLst/>
          </a:prstGeom>
          <a:noFill/>
        </p:spPr>
        <p:txBody>
          <a:bodyPr wrap="square" lIns="45720" rIns="45720" tIns="18288" bIns="18288" anchor="ctr">
            <a:spAutoFit/>
          </a:bodyPr>
          <a:lstStyle/>
          <a:p>
            <a:pPr algn="ctr"/>
            <a:r>
              <a:rPr sz="1100" b="1" i="0">
                <a:solidFill>
                  <a:srgbClr val="FFFFFF"/>
                </a:solidFill>
                <a:latin typeface="Calibri"/>
              </a:rPr>
              <a:t>app</a:t>
            </a:r>
          </a:p>
          <a:p>
            <a:pPr algn="ctr"/>
            <a:r>
              <a:rPr sz="1100" b="1" i="0">
                <a:solidFill>
                  <a:srgbClr val="FFFFFF"/>
                </a:solidFill>
                <a:latin typeface="Calibri"/>
              </a:rPr>
              <a:t>container</a:t>
            </a:r>
          </a:p>
        </p:txBody>
      </p:sp>
      <p:cxnSp>
        <p:nvCxnSpPr>
          <p:cNvPr id="22" name="Connector 21"/>
          <p:cNvCxnSpPr/>
          <p:nvPr/>
        </p:nvCxnSpPr>
        <p:spPr>
          <a:xfrm>
            <a:off x="1920240" y="3474720"/>
            <a:ext cx="2880360" cy="0"/>
          </a:xfrm>
          <a:prstGeom prst="line">
            <a:avLst/>
          </a:prstGeom>
          <a:ln w="27940">
            <a:solidFill>
              <a:srgbClr val="E81E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628900" y="3182112"/>
            <a:ext cx="1097280" cy="228600"/>
          </a:xfrm>
          <a:prstGeom prst="rect">
            <a:avLst/>
          </a:prstGeom>
          <a:noFill/>
        </p:spPr>
        <p:txBody>
          <a:bodyPr wrap="square" lIns="45720" rIns="45720" tIns="18288" bIns="18288">
            <a:spAutoFit/>
          </a:bodyPr>
          <a:lstStyle/>
          <a:p>
            <a:pPr algn="ctr"/>
            <a:r>
              <a:rPr sz="1000" b="1" i="0">
                <a:solidFill>
                  <a:srgbClr val="E81E4F"/>
                </a:solidFill>
                <a:latin typeface="Calibri"/>
              </a:rPr>
              <a:t>mTLS</a:t>
            </a:r>
          </a:p>
        </p:txBody>
      </p:sp>
      <p:sp>
        <p:nvSpPr>
          <p:cNvPr id="24" name="TextBox 23"/>
          <p:cNvSpPr txBox="1"/>
          <p:nvPr/>
        </p:nvSpPr>
        <p:spPr>
          <a:xfrm>
            <a:off x="7589520" y="1280160"/>
            <a:ext cx="4206240" cy="1050540"/>
          </a:xfrm>
          <a:prstGeom prst="rect">
            <a:avLst/>
          </a:prstGeom>
          <a:noFill/>
        </p:spPr>
        <p:txBody>
          <a:bodyPr wrap="square" lIns="45720" rIns="45720" tIns="18288" bIns="18288">
            <a:spAutoFit/>
          </a:bodyPr>
          <a:lstStyle/>
          <a:p>
            <a:pPr>
              <a:spcAft>
                <a:spcPts val="200"/>
              </a:spcAft>
            </a:pPr>
            <a:r>
              <a:rPr sz="1400" b="1">
                <a:solidFill>
                  <a:srgbClr val="0078D4"/>
                </a:solidFill>
                <a:latin typeface="Calibri"/>
              </a:rPr>
              <a:t>▸ </a:t>
            </a:r>
            <a:r>
              <a:rPr sz="1400" b="0" i="0">
                <a:solidFill>
                  <a:srgbClr val="1F2A44"/>
                </a:solidFill>
                <a:latin typeface="Calibri"/>
              </a:rPr>
              <a:t>Every pod gets an Envoy injected</a:t>
            </a:r>
          </a:p>
          <a:p>
            <a:pPr>
              <a:spcAft>
                <a:spcPts val="200"/>
              </a:spcAft>
            </a:pPr>
            <a:r>
              <a:rPr sz="1400" b="1">
                <a:solidFill>
                  <a:srgbClr val="0078D4"/>
                </a:solidFill>
                <a:latin typeface="Calibri"/>
              </a:rPr>
              <a:t>▸ </a:t>
            </a:r>
            <a:r>
              <a:rPr sz="1400" b="0" i="0">
                <a:solidFill>
                  <a:srgbClr val="1F2A44"/>
                </a:solidFill>
                <a:latin typeface="Calibri"/>
              </a:rPr>
              <a:t>Pros: full L7 features per pod, mature</a:t>
            </a:r>
          </a:p>
          <a:p>
            <a:pPr>
              <a:spcAft>
                <a:spcPts val="200"/>
              </a:spcAft>
            </a:pPr>
            <a:r>
              <a:rPr sz="1400" b="1">
                <a:solidFill>
                  <a:srgbClr val="0078D4"/>
                </a:solidFill>
                <a:latin typeface="Calibri"/>
              </a:rPr>
              <a:t>▸ </a:t>
            </a:r>
            <a:r>
              <a:rPr sz="1400" b="0" i="0">
                <a:solidFill>
                  <a:srgbClr val="1F2A44"/>
                </a:solidFill>
                <a:latin typeface="Calibri"/>
              </a:rPr>
              <a:t>Cons: 2× container count, +100–200 MB RAM per pod, restart on Istio upgrade, lifecycle coupling with the app</a:t>
            </a:r>
          </a:p>
        </p:txBody>
      </p:sp>
      <p:sp>
        <p:nvSpPr>
          <p:cNvPr id="25" name="Rectangle 24"/>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27" name="TextBox 26"/>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5 /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SERVICE MESH: SIDECAR → AMBIENT</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Ambient mode (the new way)</a:t>
            </a:r>
          </a:p>
        </p:txBody>
      </p:sp>
      <p:sp>
        <p:nvSpPr>
          <p:cNvPr id="7" name="Rectangle 6"/>
          <p:cNvSpPr/>
          <p:nvPr/>
        </p:nvSpPr>
        <p:spPr>
          <a:xfrm>
            <a:off x="457200" y="1097280"/>
            <a:ext cx="7589520" cy="4754880"/>
          </a:xfrm>
          <a:prstGeom prst="rect">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73152" cy="4754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143000"/>
            <a:ext cx="7223760" cy="320040"/>
          </a:xfrm>
          <a:prstGeom prst="rect">
            <a:avLst/>
          </a:prstGeom>
          <a:noFill/>
        </p:spPr>
        <p:txBody>
          <a:bodyPr wrap="square" lIns="45720" rIns="45720" tIns="18288" bIns="18288">
            <a:spAutoFit/>
          </a:bodyPr>
          <a:lstStyle/>
          <a:p>
            <a:pPr algn="l"/>
            <a:r>
              <a:rPr sz="1200" b="1" i="0">
                <a:solidFill>
                  <a:srgbClr val="103A6E"/>
                </a:solidFill>
                <a:latin typeface="Calibri"/>
              </a:rPr>
              <a:t>Ambient mode — shared ztunnel, optional waypoint</a:t>
            </a:r>
          </a:p>
        </p:txBody>
      </p:sp>
      <p:sp>
        <p:nvSpPr>
          <p:cNvPr id="10" name="Rounded Rectangle 9"/>
          <p:cNvSpPr/>
          <p:nvPr/>
        </p:nvSpPr>
        <p:spPr>
          <a:xfrm>
            <a:off x="731520" y="1554480"/>
            <a:ext cx="3383280" cy="4114800"/>
          </a:xfrm>
          <a:prstGeom prst="roundRect">
            <a:avLst>
              <a:gd name="adj" fmla="val 5000"/>
            </a:avLst>
          </a:prstGeom>
          <a:solidFill>
            <a:srgbClr val="FFFFFF"/>
          </a:solidFill>
          <a:ln w="19050">
            <a:solidFill>
              <a:srgbClr val="103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00200"/>
            <a:ext cx="3200400" cy="274320"/>
          </a:xfrm>
          <a:prstGeom prst="rect">
            <a:avLst/>
          </a:prstGeom>
          <a:noFill/>
        </p:spPr>
        <p:txBody>
          <a:bodyPr wrap="square" lIns="45720" rIns="45720" tIns="18288" bIns="18288">
            <a:spAutoFit/>
          </a:bodyPr>
          <a:lstStyle/>
          <a:p>
            <a:pPr algn="l"/>
            <a:r>
              <a:rPr sz="1100" b="1" i="0">
                <a:solidFill>
                  <a:srgbClr val="103A6E"/>
                </a:solidFill>
                <a:latin typeface="Calibri"/>
              </a:rPr>
              <a:t>Node 1</a:t>
            </a:r>
          </a:p>
        </p:txBody>
      </p:sp>
      <p:sp>
        <p:nvSpPr>
          <p:cNvPr id="12" name="Rounded Rectangle 11"/>
          <p:cNvSpPr/>
          <p:nvPr/>
        </p:nvSpPr>
        <p:spPr>
          <a:xfrm>
            <a:off x="914400" y="1965960"/>
            <a:ext cx="1417320" cy="777240"/>
          </a:xfrm>
          <a:prstGeom prst="roundRect">
            <a:avLst>
              <a:gd name="adj" fmla="val 1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1965960"/>
            <a:ext cx="1417320" cy="777240"/>
          </a:xfrm>
          <a:prstGeom prst="rect">
            <a:avLst/>
          </a:prstGeom>
          <a:noFill/>
        </p:spPr>
        <p:txBody>
          <a:bodyPr wrap="square" lIns="45720" rIns="45720" tIns="18288" bIns="18288" anchor="ctr">
            <a:spAutoFit/>
          </a:bodyPr>
          <a:lstStyle/>
          <a:p>
            <a:pPr algn="ctr"/>
            <a:r>
              <a:rPr sz="1000" b="1" i="0">
                <a:solidFill>
                  <a:srgbClr val="FFFFFF"/>
                </a:solidFill>
                <a:latin typeface="Calibri"/>
              </a:rPr>
              <a:t>app pod</a:t>
            </a:r>
          </a:p>
        </p:txBody>
      </p:sp>
      <p:sp>
        <p:nvSpPr>
          <p:cNvPr id="14" name="Rounded Rectangle 13"/>
          <p:cNvSpPr/>
          <p:nvPr/>
        </p:nvSpPr>
        <p:spPr>
          <a:xfrm>
            <a:off x="2514600" y="1965960"/>
            <a:ext cx="1417320" cy="777240"/>
          </a:xfrm>
          <a:prstGeom prst="roundRect">
            <a:avLst>
              <a:gd name="adj" fmla="val 1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4600" y="1965960"/>
            <a:ext cx="1417320" cy="777240"/>
          </a:xfrm>
          <a:prstGeom prst="rect">
            <a:avLst/>
          </a:prstGeom>
          <a:noFill/>
        </p:spPr>
        <p:txBody>
          <a:bodyPr wrap="square" lIns="45720" rIns="45720" tIns="18288" bIns="18288" anchor="ctr">
            <a:spAutoFit/>
          </a:bodyPr>
          <a:lstStyle/>
          <a:p>
            <a:pPr algn="ctr"/>
            <a:r>
              <a:rPr sz="1000" b="1" i="0">
                <a:solidFill>
                  <a:srgbClr val="FFFFFF"/>
                </a:solidFill>
                <a:latin typeface="Calibri"/>
              </a:rPr>
              <a:t>app pod</a:t>
            </a:r>
          </a:p>
        </p:txBody>
      </p:sp>
      <p:sp>
        <p:nvSpPr>
          <p:cNvPr id="16" name="Rounded Rectangle 15"/>
          <p:cNvSpPr/>
          <p:nvPr/>
        </p:nvSpPr>
        <p:spPr>
          <a:xfrm>
            <a:off x="914400" y="2971800"/>
            <a:ext cx="3017520" cy="502920"/>
          </a:xfrm>
          <a:prstGeom prst="roundRect">
            <a:avLst>
              <a:gd name="adj" fmla="val 10000"/>
            </a:avLst>
          </a:prstGeom>
          <a:solidFill>
            <a:srgbClr val="2EA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971800"/>
            <a:ext cx="3017520" cy="502920"/>
          </a:xfrm>
          <a:prstGeom prst="rect">
            <a:avLst/>
          </a:prstGeom>
          <a:noFill/>
        </p:spPr>
        <p:txBody>
          <a:bodyPr wrap="square" lIns="45720" rIns="45720" tIns="18288" bIns="18288" anchor="ctr">
            <a:spAutoFit/>
          </a:bodyPr>
          <a:lstStyle/>
          <a:p>
            <a:pPr algn="ctr"/>
            <a:r>
              <a:rPr sz="1000" b="1" i="0">
                <a:solidFill>
                  <a:srgbClr val="FFFFFF"/>
                </a:solidFill>
                <a:latin typeface="Calibri"/>
              </a:rPr>
              <a:t>ztunnel  (DaemonSet — mTLS, identity, L4)</a:t>
            </a:r>
          </a:p>
        </p:txBody>
      </p:sp>
      <p:sp>
        <p:nvSpPr>
          <p:cNvPr id="18" name="Rounded Rectangle 17"/>
          <p:cNvSpPr/>
          <p:nvPr/>
        </p:nvSpPr>
        <p:spPr>
          <a:xfrm>
            <a:off x="4389120" y="1554480"/>
            <a:ext cx="3383280" cy="4114800"/>
          </a:xfrm>
          <a:prstGeom prst="roundRect">
            <a:avLst>
              <a:gd name="adj" fmla="val 5000"/>
            </a:avLst>
          </a:prstGeom>
          <a:solidFill>
            <a:srgbClr val="FFFFFF"/>
          </a:solidFill>
          <a:ln w="19050">
            <a:solidFill>
              <a:srgbClr val="103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1600200"/>
            <a:ext cx="3200400" cy="274320"/>
          </a:xfrm>
          <a:prstGeom prst="rect">
            <a:avLst/>
          </a:prstGeom>
          <a:noFill/>
        </p:spPr>
        <p:txBody>
          <a:bodyPr wrap="square" lIns="45720" rIns="45720" tIns="18288" bIns="18288">
            <a:spAutoFit/>
          </a:bodyPr>
          <a:lstStyle/>
          <a:p>
            <a:pPr algn="l"/>
            <a:r>
              <a:rPr sz="1100" b="1" i="0">
                <a:solidFill>
                  <a:srgbClr val="103A6E"/>
                </a:solidFill>
                <a:latin typeface="Calibri"/>
              </a:rPr>
              <a:t>Node 2</a:t>
            </a:r>
          </a:p>
        </p:txBody>
      </p:sp>
      <p:sp>
        <p:nvSpPr>
          <p:cNvPr id="20" name="Rounded Rectangle 19"/>
          <p:cNvSpPr/>
          <p:nvPr/>
        </p:nvSpPr>
        <p:spPr>
          <a:xfrm>
            <a:off x="4572000" y="1965960"/>
            <a:ext cx="1417320" cy="777240"/>
          </a:xfrm>
          <a:prstGeom prst="roundRect">
            <a:avLst>
              <a:gd name="adj" fmla="val 1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1965960"/>
            <a:ext cx="1417320" cy="777240"/>
          </a:xfrm>
          <a:prstGeom prst="rect">
            <a:avLst/>
          </a:prstGeom>
          <a:noFill/>
        </p:spPr>
        <p:txBody>
          <a:bodyPr wrap="square" lIns="45720" rIns="45720" tIns="18288" bIns="18288" anchor="ctr">
            <a:spAutoFit/>
          </a:bodyPr>
          <a:lstStyle/>
          <a:p>
            <a:pPr algn="ctr"/>
            <a:r>
              <a:rPr sz="1000" b="1" i="0">
                <a:solidFill>
                  <a:srgbClr val="FFFFFF"/>
                </a:solidFill>
                <a:latin typeface="Calibri"/>
              </a:rPr>
              <a:t>app pod</a:t>
            </a:r>
          </a:p>
        </p:txBody>
      </p:sp>
      <p:sp>
        <p:nvSpPr>
          <p:cNvPr id="22" name="Rounded Rectangle 21"/>
          <p:cNvSpPr/>
          <p:nvPr/>
        </p:nvSpPr>
        <p:spPr>
          <a:xfrm>
            <a:off x="6172200" y="1965960"/>
            <a:ext cx="1417320" cy="777240"/>
          </a:xfrm>
          <a:prstGeom prst="roundRect">
            <a:avLst>
              <a:gd name="adj" fmla="val 1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200" y="1965960"/>
            <a:ext cx="1417320" cy="777240"/>
          </a:xfrm>
          <a:prstGeom prst="rect">
            <a:avLst/>
          </a:prstGeom>
          <a:noFill/>
        </p:spPr>
        <p:txBody>
          <a:bodyPr wrap="square" lIns="45720" rIns="45720" tIns="18288" bIns="18288" anchor="ctr">
            <a:spAutoFit/>
          </a:bodyPr>
          <a:lstStyle/>
          <a:p>
            <a:pPr algn="ctr"/>
            <a:r>
              <a:rPr sz="1000" b="1" i="0">
                <a:solidFill>
                  <a:srgbClr val="FFFFFF"/>
                </a:solidFill>
                <a:latin typeface="Calibri"/>
              </a:rPr>
              <a:t>app pod</a:t>
            </a:r>
          </a:p>
        </p:txBody>
      </p:sp>
      <p:sp>
        <p:nvSpPr>
          <p:cNvPr id="24" name="Rounded Rectangle 23"/>
          <p:cNvSpPr/>
          <p:nvPr/>
        </p:nvSpPr>
        <p:spPr>
          <a:xfrm>
            <a:off x="4572000" y="2971800"/>
            <a:ext cx="3017520" cy="502920"/>
          </a:xfrm>
          <a:prstGeom prst="roundRect">
            <a:avLst>
              <a:gd name="adj" fmla="val 10000"/>
            </a:avLst>
          </a:prstGeom>
          <a:solidFill>
            <a:srgbClr val="2EA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0" y="2971800"/>
            <a:ext cx="3017520" cy="502920"/>
          </a:xfrm>
          <a:prstGeom prst="rect">
            <a:avLst/>
          </a:prstGeom>
          <a:noFill/>
        </p:spPr>
        <p:txBody>
          <a:bodyPr wrap="square" lIns="45720" rIns="45720" tIns="18288" bIns="18288" anchor="ctr">
            <a:spAutoFit/>
          </a:bodyPr>
          <a:lstStyle/>
          <a:p>
            <a:pPr algn="ctr"/>
            <a:r>
              <a:rPr sz="1000" b="1" i="0">
                <a:solidFill>
                  <a:srgbClr val="FFFFFF"/>
                </a:solidFill>
                <a:latin typeface="Calibri"/>
              </a:rPr>
              <a:t>ztunnel  (DaemonSet — mTLS, identity, L4)</a:t>
            </a:r>
          </a:p>
        </p:txBody>
      </p:sp>
      <p:sp>
        <p:nvSpPr>
          <p:cNvPr id="26" name="Rounded Rectangle 25"/>
          <p:cNvSpPr/>
          <p:nvPr/>
        </p:nvSpPr>
        <p:spPr>
          <a:xfrm>
            <a:off x="4937760" y="3611880"/>
            <a:ext cx="2286000" cy="365760"/>
          </a:xfrm>
          <a:prstGeom prst="roundRect">
            <a:avLst>
              <a:gd name="adj" fmla="val 10000"/>
            </a:avLst>
          </a:prstGeom>
          <a:solidFill>
            <a:srgbClr val="6E40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0" y="3611880"/>
            <a:ext cx="2286000" cy="365760"/>
          </a:xfrm>
          <a:prstGeom prst="rect">
            <a:avLst/>
          </a:prstGeom>
          <a:noFill/>
        </p:spPr>
        <p:txBody>
          <a:bodyPr wrap="square" lIns="45720" rIns="45720" tIns="18288" bIns="18288" anchor="ctr">
            <a:spAutoFit/>
          </a:bodyPr>
          <a:lstStyle/>
          <a:p>
            <a:pPr algn="ctr"/>
            <a:r>
              <a:rPr sz="900" b="1" i="0">
                <a:solidFill>
                  <a:srgbClr val="FFFFFF"/>
                </a:solidFill>
                <a:latin typeface="Calibri"/>
              </a:rPr>
              <a:t>Waypoint (Envoy, opt-in L7)</a:t>
            </a:r>
          </a:p>
        </p:txBody>
      </p:sp>
      <p:cxnSp>
        <p:nvCxnSpPr>
          <p:cNvPr id="28" name="Connector 27"/>
          <p:cNvCxnSpPr/>
          <p:nvPr/>
        </p:nvCxnSpPr>
        <p:spPr>
          <a:xfrm>
            <a:off x="3154680" y="3223260"/>
            <a:ext cx="2194560" cy="0"/>
          </a:xfrm>
          <a:prstGeom prst="line">
            <a:avLst/>
          </a:prstGeom>
          <a:ln w="31750">
            <a:solidFill>
              <a:srgbClr val="E81E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337560" y="2857500"/>
            <a:ext cx="1828800" cy="274320"/>
          </a:xfrm>
          <a:prstGeom prst="rect">
            <a:avLst/>
          </a:prstGeom>
          <a:noFill/>
        </p:spPr>
        <p:txBody>
          <a:bodyPr wrap="square" lIns="45720" rIns="45720" tIns="18288" bIns="18288">
            <a:spAutoFit/>
          </a:bodyPr>
          <a:lstStyle/>
          <a:p>
            <a:pPr algn="ctr"/>
            <a:r>
              <a:rPr sz="1000" b="1" i="0">
                <a:solidFill>
                  <a:srgbClr val="E81E4F"/>
                </a:solidFill>
                <a:latin typeface="Calibri"/>
              </a:rPr>
              <a:t>HBONE  •  mTLS  •  HTTP/2 CONNECT  •  :15008</a:t>
            </a:r>
          </a:p>
        </p:txBody>
      </p:sp>
      <p:sp>
        <p:nvSpPr>
          <p:cNvPr id="30" name="TextBox 29"/>
          <p:cNvSpPr txBox="1"/>
          <p:nvPr/>
        </p:nvSpPr>
        <p:spPr>
          <a:xfrm>
            <a:off x="8229600" y="1188720"/>
            <a:ext cx="3566160" cy="2828531"/>
          </a:xfrm>
          <a:prstGeom prst="rect">
            <a:avLst/>
          </a:prstGeom>
          <a:noFill/>
        </p:spPr>
        <p:txBody>
          <a:bodyPr wrap="square" lIns="45720" rIns="45720" tIns="18288" bIns="18288">
            <a:spAutoFit/>
          </a:bodyPr>
          <a:lstStyle/>
          <a:p>
            <a:pPr>
              <a:spcAft>
                <a:spcPts val="200"/>
              </a:spcAft>
            </a:pPr>
            <a:r>
              <a:rPr sz="1200" b="1" i="0">
                <a:solidFill>
                  <a:srgbClr val="1F2A44"/>
                </a:solidFill>
                <a:latin typeface="Calibri"/>
              </a:rPr>
              <a:t>Two layers, opt-in:</a:t>
            </a:r>
          </a:p>
          <a:p>
            <a:pPr>
              <a:spcAft>
                <a:spcPts val="200"/>
              </a:spcAft>
            </a:pPr>
            <a:r>
              <a:rPr sz="1200" b="1">
                <a:solidFill>
                  <a:srgbClr val="0078D4"/>
                </a:solidFill>
                <a:latin typeface="Calibri"/>
              </a:rPr>
              <a:t>▸ </a:t>
            </a:r>
            <a:r>
              <a:rPr sz="1200" b="1" i="0">
                <a:solidFill>
                  <a:srgbClr val="1F2A44"/>
                </a:solidFill>
                <a:latin typeface="Calibri"/>
              </a:rPr>
              <a:t>Secure overlay (L4):</a:t>
            </a:r>
            <a:r>
              <a:rPr sz="1200" b="0" i="0">
                <a:solidFill>
                  <a:srgbClr val="1F2A44"/>
                </a:solidFill>
                <a:latin typeface="Calibri"/>
              </a:rPr>
              <a:t> </a:t>
            </a:r>
            <a:r>
              <a:rPr sz="1200" b="0">
                <a:solidFill>
                  <a:srgbClr val="B01060"/>
                </a:solidFill>
                <a:latin typeface="Consolas"/>
              </a:rPr>
              <a:t>ztunnel</a:t>
            </a:r>
            <a:r>
              <a:rPr sz="1200" b="0" i="0">
                <a:solidFill>
                  <a:srgbClr val="1F2A44"/>
                </a:solidFill>
                <a:latin typeface="Calibri"/>
              </a:rPr>
              <a:t> DaemonSet — mTLS + identity + L4 authZ for </a:t>
            </a:r>
            <a:r>
              <a:rPr sz="1200" b="0" i="1">
                <a:solidFill>
                  <a:srgbClr val="1F2A44"/>
                </a:solidFill>
                <a:latin typeface="Calibri"/>
              </a:rPr>
              <a:t>every</a:t>
            </a:r>
            <a:r>
              <a:rPr sz="1200" b="0" i="0">
                <a:solidFill>
                  <a:srgbClr val="1F2A44"/>
                </a:solidFill>
                <a:latin typeface="Calibri"/>
              </a:rPr>
              <a:t> pod. Cheap.</a:t>
            </a:r>
          </a:p>
          <a:p>
            <a:pPr>
              <a:spcAft>
                <a:spcPts val="200"/>
              </a:spcAft>
            </a:pPr>
            <a:r>
              <a:rPr sz="1200" b="1">
                <a:solidFill>
                  <a:srgbClr val="0078D4"/>
                </a:solidFill>
                <a:latin typeface="Calibri"/>
              </a:rPr>
              <a:t>▸ </a:t>
            </a:r>
            <a:r>
              <a:rPr sz="1200" b="1" i="0">
                <a:solidFill>
                  <a:srgbClr val="1F2A44"/>
                </a:solidFill>
                <a:latin typeface="Calibri"/>
              </a:rPr>
              <a:t>L7 (optional):</a:t>
            </a:r>
            <a:r>
              <a:rPr sz="1200" b="0" i="0">
                <a:solidFill>
                  <a:srgbClr val="1F2A44"/>
                </a:solidFill>
                <a:latin typeface="Calibri"/>
              </a:rPr>
              <a:t> </a:t>
            </a:r>
            <a:r>
              <a:rPr sz="1200" b="0">
                <a:solidFill>
                  <a:srgbClr val="B01060"/>
                </a:solidFill>
                <a:latin typeface="Consolas"/>
              </a:rPr>
              <a:t>waypoint</a:t>
            </a:r>
            <a:r>
              <a:rPr sz="1200" b="0" i="0">
                <a:solidFill>
                  <a:srgbClr val="1F2A44"/>
                </a:solidFill>
                <a:latin typeface="Calibri"/>
              </a:rPr>
              <a:t> Envoy deployment per namespace/service-account — adds retries, traffic splitting, L7 authZ </a:t>
            </a:r>
            <a:r>
              <a:rPr sz="1200" b="0" i="1">
                <a:solidFill>
                  <a:srgbClr val="1F2A44"/>
                </a:solidFill>
                <a:latin typeface="Calibri"/>
              </a:rPr>
              <a:t>only where you ask</a:t>
            </a:r>
            <a:r>
              <a:rPr sz="1200" b="0" i="0">
                <a:solidFill>
                  <a:srgbClr val="1F2A44"/>
                </a:solidFill>
                <a:latin typeface="Calibri"/>
              </a:rPr>
              <a:t>.</a:t>
            </a:r>
          </a:p>
          <a:p>
            <a:pPr>
              <a:spcAft>
                <a:spcPts val="200"/>
              </a:spcAft>
            </a:pPr>
            <a:r>
              <a:rPr sz="1200" b="1" i="0">
                <a:solidFill>
                  <a:srgbClr val="1F2A44"/>
                </a:solidFill>
                <a:latin typeface="Calibri"/>
              </a:rPr>
              <a:t>Wins</a:t>
            </a:r>
          </a:p>
          <a:p>
            <a:pPr>
              <a:spcAft>
                <a:spcPts val="200"/>
              </a:spcAft>
            </a:pPr>
            <a:r>
              <a:rPr sz="1200" b="1">
                <a:solidFill>
                  <a:srgbClr val="0078D4"/>
                </a:solidFill>
                <a:latin typeface="Calibri"/>
              </a:rPr>
              <a:t>▸ </a:t>
            </a:r>
            <a:r>
              <a:rPr sz="1200" b="0" i="0">
                <a:solidFill>
                  <a:srgbClr val="1F2A44"/>
                </a:solidFill>
                <a:latin typeface="Calibri"/>
              </a:rPr>
              <a:t>No sidecar injection, no pod restarts on mesh upgrade</a:t>
            </a:r>
          </a:p>
          <a:p>
            <a:pPr>
              <a:spcAft>
                <a:spcPts val="200"/>
              </a:spcAft>
            </a:pPr>
            <a:r>
              <a:rPr sz="1200" b="1">
                <a:solidFill>
                  <a:srgbClr val="0078D4"/>
                </a:solidFill>
                <a:latin typeface="Calibri"/>
              </a:rPr>
              <a:t>▸ </a:t>
            </a:r>
            <a:r>
              <a:rPr sz="1200" b="0" i="0">
                <a:solidFill>
                  <a:srgbClr val="1F2A44"/>
                </a:solidFill>
                <a:latin typeface="Calibri"/>
              </a:rPr>
              <a:t>~ order-of-magnitude lower memory overhead in mostly-L4 fleets</a:t>
            </a:r>
          </a:p>
          <a:p>
            <a:pPr>
              <a:spcAft>
                <a:spcPts val="200"/>
              </a:spcAft>
            </a:pPr>
            <a:r>
              <a:rPr sz="1200" b="1">
                <a:solidFill>
                  <a:srgbClr val="0078D4"/>
                </a:solidFill>
                <a:latin typeface="Calibri"/>
              </a:rPr>
              <a:t>▸ </a:t>
            </a:r>
            <a:r>
              <a:rPr sz="1200" b="0" i="0">
                <a:solidFill>
                  <a:srgbClr val="1F2A44"/>
                </a:solidFill>
                <a:latin typeface="Calibri"/>
              </a:rPr>
              <a:t>Incremental adoption: label a namespace, done</a:t>
            </a:r>
          </a:p>
          <a:p>
            <a:pPr>
              <a:spcAft>
                <a:spcPts val="200"/>
              </a:spcAft>
            </a:pPr>
            <a:r>
              <a:rPr sz="1200" b="1" i="0">
                <a:solidFill>
                  <a:srgbClr val="1F2A44"/>
                </a:solidFill>
                <a:latin typeface="Calibri"/>
              </a:rPr>
              <a:t>Trade-offs</a:t>
            </a:r>
          </a:p>
          <a:p>
            <a:pPr>
              <a:spcAft>
                <a:spcPts val="200"/>
              </a:spcAft>
            </a:pPr>
            <a:r>
              <a:rPr sz="1200" b="1">
                <a:solidFill>
                  <a:srgbClr val="0078D4"/>
                </a:solidFill>
                <a:latin typeface="Calibri"/>
              </a:rPr>
              <a:t>▸ </a:t>
            </a:r>
            <a:r>
              <a:rPr sz="1200" b="0" i="0">
                <a:solidFill>
                  <a:srgbClr val="1F2A44"/>
                </a:solidFill>
                <a:latin typeface="Calibri"/>
              </a:rPr>
              <a:t>Newer code path; some advanced sidecar features still landing</a:t>
            </a:r>
          </a:p>
          <a:p>
            <a:pPr>
              <a:spcAft>
                <a:spcPts val="200"/>
              </a:spcAft>
            </a:pPr>
            <a:r>
              <a:rPr sz="1200" b="1">
                <a:solidFill>
                  <a:srgbClr val="0078D4"/>
                </a:solidFill>
                <a:latin typeface="Calibri"/>
              </a:rPr>
              <a:t>▸ </a:t>
            </a:r>
            <a:r>
              <a:rPr sz="1200" b="0" i="0">
                <a:solidFill>
                  <a:srgbClr val="1F2A44"/>
                </a:solidFill>
                <a:latin typeface="Calibri"/>
              </a:rPr>
              <a:t>Node-level component → node draining matters during ztunnel upgrade</a:t>
            </a:r>
          </a:p>
          <a:p>
            <a:pPr>
              <a:spcAft>
                <a:spcPts val="200"/>
              </a:spcAft>
            </a:pPr>
            <a:r>
              <a:rPr sz="1200" b="1">
                <a:solidFill>
                  <a:srgbClr val="0078D4"/>
                </a:solidFill>
                <a:latin typeface="Calibri"/>
              </a:rPr>
              <a:t>▸ </a:t>
            </a:r>
            <a:r>
              <a:rPr sz="1200" b="0" i="0">
                <a:solidFill>
                  <a:srgbClr val="1F2A44"/>
                </a:solidFill>
                <a:latin typeface="Calibri"/>
              </a:rPr>
              <a:t>Debugging spans an extra hop (ztunnel logs become important)</a:t>
            </a:r>
          </a:p>
        </p:txBody>
      </p:sp>
      <p:sp>
        <p:nvSpPr>
          <p:cNvPr id="31" name="Rectangle 30"/>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33" name="TextBox 32"/>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6 / 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SERVICE MESH: SIDECAR → AMBIENT</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Pod-to-pod traffic across nodes (ambient)</a:t>
            </a:r>
          </a:p>
        </p:txBody>
      </p:sp>
      <p:sp>
        <p:nvSpPr>
          <p:cNvPr id="7" name="Rectangle 6"/>
          <p:cNvSpPr/>
          <p:nvPr/>
        </p:nvSpPr>
        <p:spPr>
          <a:xfrm>
            <a:off x="457200" y="1097280"/>
            <a:ext cx="11277295" cy="3383280"/>
          </a:xfrm>
          <a:prstGeom prst="rect">
            <a:avLst/>
          </a:prstGeom>
          <a:solidFill>
            <a:srgbClr val="1E1E2E"/>
          </a:solidFill>
          <a:ln>
            <a:solidFill>
              <a:srgbClr val="103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64008" cy="33832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170432"/>
            <a:ext cx="11048695" cy="3236976"/>
          </a:xfrm>
          <a:prstGeom prst="rect">
            <a:avLst/>
          </a:prstGeom>
          <a:noFill/>
        </p:spPr>
        <p:txBody>
          <a:bodyPr wrap="none" lIns="36576" rIns="36576" tIns="18288" bIns="18288">
            <a:spAutoFit/>
          </a:bodyPr>
          <a:lstStyle/>
          <a:p>
            <a:pPr>
              <a:lnSpc>
                <a:spcPct val="100000"/>
              </a:lnSpc>
            </a:pPr>
            <a:r>
              <a:rPr sz="900">
                <a:solidFill>
                  <a:srgbClr val="E6E6E6"/>
                </a:solidFill>
                <a:latin typeface="Consolas"/>
              </a:rPr>
              <a:t>  Pod A on Node 1 wants to call svc:Pod C on Node 2</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1. Pod A sends plain TCP to Pod C's ClusterIP</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2. Node 1 kernel: iptables/eBPF redirect ──► ztunnel (Node 1)</a:t>
            </a:r>
          </a:p>
          <a:p>
            <a:pPr>
              <a:lnSpc>
                <a:spcPct val="100000"/>
              </a:lnSpc>
            </a:pPr>
            <a:r>
              <a:rPr sz="900">
                <a:solidFill>
                  <a:srgbClr val="E6E6E6"/>
                </a:solidFill>
                <a:latin typeface="Consolas"/>
              </a:rPr>
              <a:t>        │            (transparent, no app change)</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3. ztunnel-1 looks up identity (SPIFFE) + policy</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4. ztunnel-1 wraps the TCP stream in HBONE</a:t>
            </a:r>
          </a:p>
          <a:p>
            <a:pPr>
              <a:lnSpc>
                <a:spcPct val="100000"/>
              </a:lnSpc>
            </a:pPr>
            <a:r>
              <a:rPr sz="900">
                <a:solidFill>
                  <a:srgbClr val="E6E6E6"/>
                </a:solidFill>
                <a:latin typeface="Consolas"/>
              </a:rPr>
              <a:t>        (HTTP/2 CONNECT over mTLS, port 15008)</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  ── encrypted, identity-tagged ──</a:t>
            </a:r>
          </a:p>
          <a:p>
            <a:pPr>
              <a:lnSpc>
                <a:spcPct val="100000"/>
              </a:lnSpc>
            </a:pPr>
            <a:r>
              <a:rPr sz="900">
                <a:solidFill>
                  <a:srgbClr val="E6E6E6"/>
                </a:solidFill>
                <a:latin typeface="Consolas"/>
              </a:rPr>
              <a:t>  5. ztunnel-2 on Node 2 terminates HBONE, verifies peer cert</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6. If namespace has a Waypoint → ztunnel-2 forwards to Waypoint Envoy</a:t>
            </a:r>
          </a:p>
          <a:p>
            <a:pPr>
              <a:lnSpc>
                <a:spcPct val="100000"/>
              </a:lnSpc>
            </a:pPr>
            <a:r>
              <a:rPr sz="900">
                <a:solidFill>
                  <a:srgbClr val="E6E6E6"/>
                </a:solidFill>
                <a:latin typeface="Consolas"/>
              </a:rPr>
              <a:t>     for L7 policy (retries, route, authZ on headers), else direct</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7. Plain TCP delivered to Pod C</a:t>
            </a:r>
          </a:p>
        </p:txBody>
      </p:sp>
      <p:sp>
        <p:nvSpPr>
          <p:cNvPr id="10" name="TextBox 9"/>
          <p:cNvSpPr txBox="1"/>
          <p:nvPr/>
        </p:nvSpPr>
        <p:spPr>
          <a:xfrm>
            <a:off x="457200" y="4572000"/>
            <a:ext cx="11277295" cy="1548378"/>
          </a:xfrm>
          <a:prstGeom prst="rect">
            <a:avLst/>
          </a:prstGeom>
          <a:noFill/>
        </p:spPr>
        <p:txBody>
          <a:bodyPr wrap="square" lIns="45720" rIns="45720" tIns="18288" bIns="18288">
            <a:spAutoFit/>
          </a:bodyPr>
          <a:lstStyle/>
          <a:p>
            <a:pPr>
              <a:spcAft>
                <a:spcPts val="200"/>
              </a:spcAft>
            </a:pPr>
            <a:r>
              <a:rPr sz="1400" b="1" i="0">
                <a:solidFill>
                  <a:srgbClr val="1F2A44"/>
                </a:solidFill>
                <a:latin typeface="Calibri"/>
              </a:rPr>
              <a:t>Key points</a:t>
            </a:r>
          </a:p>
          <a:p>
            <a:pPr>
              <a:spcAft>
                <a:spcPts val="200"/>
              </a:spcAft>
            </a:pPr>
            <a:r>
              <a:rPr sz="1400" b="1">
                <a:solidFill>
                  <a:srgbClr val="0078D4"/>
                </a:solidFill>
                <a:latin typeface="Calibri"/>
              </a:rPr>
              <a:t>▸ </a:t>
            </a:r>
            <a:r>
              <a:rPr sz="1400" b="0" i="0">
                <a:solidFill>
                  <a:srgbClr val="1F2A44"/>
                </a:solidFill>
                <a:latin typeface="Calibri"/>
              </a:rPr>
              <a:t>Encryption boundary: pod ↔ ztunnel is loopback on the node (kernel redirect); ztunnel ↔ ztunnel is mTLS over HBONE.</a:t>
            </a:r>
          </a:p>
          <a:p>
            <a:pPr>
              <a:spcAft>
                <a:spcPts val="200"/>
              </a:spcAft>
            </a:pPr>
            <a:r>
              <a:rPr sz="1400" b="1">
                <a:solidFill>
                  <a:srgbClr val="0078D4"/>
                </a:solidFill>
                <a:latin typeface="Calibri"/>
              </a:rPr>
              <a:t>▸ </a:t>
            </a:r>
            <a:r>
              <a:rPr sz="1400" b="0" i="0">
                <a:solidFill>
                  <a:srgbClr val="1F2A44"/>
                </a:solidFill>
                <a:latin typeface="Calibri"/>
              </a:rPr>
              <a:t>Identity is the pod's ServiceAccount, issued as a SPIFFE SVID by istiod.</a:t>
            </a:r>
          </a:p>
          <a:p>
            <a:pPr>
              <a:spcAft>
                <a:spcPts val="200"/>
              </a:spcAft>
            </a:pPr>
            <a:r>
              <a:rPr sz="1400" b="1">
                <a:solidFill>
                  <a:srgbClr val="0078D4"/>
                </a:solidFill>
                <a:latin typeface="Calibri"/>
              </a:rPr>
              <a:t>▸ </a:t>
            </a:r>
            <a:r>
              <a:rPr sz="1400" b="0" i="0">
                <a:solidFill>
                  <a:srgbClr val="1F2A44"/>
                </a:solidFill>
                <a:latin typeface="Calibri"/>
              </a:rPr>
              <a:t>Waypoints are only inserted when an </a:t>
            </a:r>
            <a:r>
              <a:rPr sz="1400" b="0">
                <a:solidFill>
                  <a:srgbClr val="B01060"/>
                </a:solidFill>
                <a:latin typeface="Consolas"/>
              </a:rPr>
              <a:t>istio.io/use-waypoint</a:t>
            </a:r>
            <a:r>
              <a:rPr sz="1400" b="0" i="0">
                <a:solidFill>
                  <a:srgbClr val="1F2A44"/>
                </a:solidFill>
                <a:latin typeface="Calibri"/>
              </a:rPr>
              <a:t> label / </a:t>
            </a:r>
            <a:r>
              <a:rPr sz="1400" b="0">
                <a:solidFill>
                  <a:srgbClr val="B01060"/>
                </a:solidFill>
                <a:latin typeface="Consolas"/>
              </a:rPr>
              <a:t>Gateway</a:t>
            </a:r>
            <a:r>
              <a:rPr sz="1400" b="0" i="0">
                <a:solidFill>
                  <a:srgbClr val="1F2A44"/>
                </a:solidFill>
                <a:latin typeface="Calibri"/>
              </a:rPr>
              <a:t> of class </a:t>
            </a:r>
            <a:r>
              <a:rPr sz="1400" b="0">
                <a:solidFill>
                  <a:srgbClr val="B01060"/>
                </a:solidFill>
                <a:latin typeface="Consolas"/>
              </a:rPr>
              <a:t>istio-waypoint</a:t>
            </a:r>
            <a:r>
              <a:rPr sz="1400" b="0" i="0">
                <a:solidFill>
                  <a:srgbClr val="1F2A44"/>
                </a:solidFill>
                <a:latin typeface="Calibri"/>
              </a:rPr>
              <a:t> exists.</a:t>
            </a:r>
          </a:p>
        </p:txBody>
      </p:sp>
      <p:sp>
        <p:nvSpPr>
          <p:cNvPr id="11" name="Rectangle 10"/>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13" name="TextBox 12"/>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7 /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SERVICE MESH: SIDECAR → AMBIENT</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Enabling managed ambient on AKS</a:t>
            </a:r>
          </a:p>
        </p:txBody>
      </p:sp>
      <p:sp>
        <p:nvSpPr>
          <p:cNvPr id="7" name="TextBox 6"/>
          <p:cNvSpPr txBox="1"/>
          <p:nvPr/>
        </p:nvSpPr>
        <p:spPr>
          <a:xfrm>
            <a:off x="457200" y="1097280"/>
            <a:ext cx="6858000" cy="320040"/>
          </a:xfrm>
          <a:prstGeom prst="rect">
            <a:avLst/>
          </a:prstGeom>
          <a:noFill/>
        </p:spPr>
        <p:txBody>
          <a:bodyPr wrap="square" lIns="45720" rIns="45720" tIns="18288" bIns="18288">
            <a:spAutoFit/>
          </a:bodyPr>
          <a:lstStyle/>
          <a:p>
            <a:pPr algn="l"/>
            <a:r>
              <a:rPr sz="1000" b="1" i="0">
                <a:solidFill>
                  <a:srgbClr val="0078D4"/>
                </a:solidFill>
                <a:latin typeface="Calibri"/>
              </a:rPr>
              <a:t>STEPS PERFORMED BY THE SCRIPT</a:t>
            </a:r>
          </a:p>
        </p:txBody>
      </p:sp>
      <p:sp>
        <p:nvSpPr>
          <p:cNvPr id="8" name="Oval 7"/>
          <p:cNvSpPr/>
          <p:nvPr/>
        </p:nvSpPr>
        <p:spPr>
          <a:xfrm>
            <a:off x="457200" y="1463040"/>
            <a:ext cx="384048" cy="384048"/>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63040"/>
            <a:ext cx="384048" cy="384048"/>
          </a:xfrm>
          <a:prstGeom prst="rect">
            <a:avLst/>
          </a:prstGeom>
          <a:noFill/>
        </p:spPr>
        <p:txBody>
          <a:bodyPr wrap="square" lIns="45720" rIns="45720" tIns="18288" bIns="18288" anchor="ctr">
            <a:spAutoFit/>
          </a:bodyPr>
          <a:lstStyle/>
          <a:p>
            <a:pPr algn="ctr"/>
            <a:r>
              <a:rPr sz="1400" b="1" i="0">
                <a:solidFill>
                  <a:srgbClr val="FFFFFF"/>
                </a:solidFill>
                <a:latin typeface="Calibri"/>
              </a:rPr>
              <a:t>1</a:t>
            </a:r>
          </a:p>
        </p:txBody>
      </p:sp>
      <p:sp>
        <p:nvSpPr>
          <p:cNvPr id="10" name="TextBox 9"/>
          <p:cNvSpPr txBox="1"/>
          <p:nvPr/>
        </p:nvSpPr>
        <p:spPr>
          <a:xfrm>
            <a:off x="960120" y="1481328"/>
            <a:ext cx="6309360" cy="411480"/>
          </a:xfrm>
          <a:prstGeom prst="rect">
            <a:avLst/>
          </a:prstGeom>
          <a:noFill/>
        </p:spPr>
        <p:txBody>
          <a:bodyPr wrap="square" lIns="45720" rIns="45720" tIns="18288" bIns="18288" anchor="ctr">
            <a:spAutoFit/>
          </a:bodyPr>
          <a:lstStyle/>
          <a:p>
            <a:pPr algn="l"/>
            <a:r>
              <a:rPr sz="1300" b="0" i="0">
                <a:solidFill>
                  <a:srgbClr val="1F2A44"/>
                </a:solidFill>
                <a:latin typeface="Calibri"/>
              </a:rPr>
              <a:t>Verify preview regional support before a workshop.</a:t>
            </a:r>
          </a:p>
        </p:txBody>
      </p:sp>
      <p:sp>
        <p:nvSpPr>
          <p:cNvPr id="11" name="Oval 10"/>
          <p:cNvSpPr/>
          <p:nvPr/>
        </p:nvSpPr>
        <p:spPr>
          <a:xfrm>
            <a:off x="457200" y="1920240"/>
            <a:ext cx="384048" cy="384048"/>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920240"/>
            <a:ext cx="384048" cy="384048"/>
          </a:xfrm>
          <a:prstGeom prst="rect">
            <a:avLst/>
          </a:prstGeom>
          <a:noFill/>
        </p:spPr>
        <p:txBody>
          <a:bodyPr wrap="square" lIns="45720" rIns="45720" tIns="18288" bIns="18288" anchor="ctr">
            <a:spAutoFit/>
          </a:bodyPr>
          <a:lstStyle/>
          <a:p>
            <a:pPr algn="ctr"/>
            <a:r>
              <a:rPr sz="1400" b="1" i="0">
                <a:solidFill>
                  <a:srgbClr val="FFFFFF"/>
                </a:solidFill>
                <a:latin typeface="Calibri"/>
              </a:rPr>
              <a:t>2</a:t>
            </a:r>
          </a:p>
        </p:txBody>
      </p:sp>
      <p:sp>
        <p:nvSpPr>
          <p:cNvPr id="13" name="TextBox 12"/>
          <p:cNvSpPr txBox="1"/>
          <p:nvPr/>
        </p:nvSpPr>
        <p:spPr>
          <a:xfrm>
            <a:off x="960120" y="1938528"/>
            <a:ext cx="6309360" cy="411480"/>
          </a:xfrm>
          <a:prstGeom prst="rect">
            <a:avLst/>
          </a:prstGeom>
          <a:noFill/>
        </p:spPr>
        <p:txBody>
          <a:bodyPr wrap="square" lIns="45720" rIns="45720" tIns="18288" bIns="18288" anchor="ctr">
            <a:spAutoFit/>
          </a:bodyPr>
          <a:lstStyle/>
          <a:p>
            <a:pPr algn="l"/>
            <a:r>
              <a:rPr sz="1300" b="0" i="0">
                <a:solidFill>
                  <a:srgbClr val="1F2A44"/>
                </a:solidFill>
                <a:latin typeface="Calibri"/>
              </a:rPr>
              <a:t>Deploy AKS, Application Network membership, managed Gateway API, app, Prometheus, and Kiali.</a:t>
            </a:r>
          </a:p>
        </p:txBody>
      </p:sp>
      <p:sp>
        <p:nvSpPr>
          <p:cNvPr id="14" name="Oval 13"/>
          <p:cNvSpPr/>
          <p:nvPr/>
        </p:nvSpPr>
        <p:spPr>
          <a:xfrm>
            <a:off x="457200" y="2377440"/>
            <a:ext cx="384048" cy="384048"/>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377440"/>
            <a:ext cx="384048" cy="384048"/>
          </a:xfrm>
          <a:prstGeom prst="rect">
            <a:avLst/>
          </a:prstGeom>
          <a:noFill/>
        </p:spPr>
        <p:txBody>
          <a:bodyPr wrap="square" lIns="45720" rIns="45720" tIns="18288" bIns="18288" anchor="ctr">
            <a:spAutoFit/>
          </a:bodyPr>
          <a:lstStyle/>
          <a:p>
            <a:pPr algn="ctr"/>
            <a:r>
              <a:rPr sz="1400" b="1" i="0">
                <a:solidFill>
                  <a:srgbClr val="FFFFFF"/>
                </a:solidFill>
                <a:latin typeface="Calibri"/>
              </a:rPr>
              <a:t>3</a:t>
            </a:r>
          </a:p>
        </p:txBody>
      </p:sp>
      <p:sp>
        <p:nvSpPr>
          <p:cNvPr id="16" name="TextBox 15"/>
          <p:cNvSpPr txBox="1"/>
          <p:nvPr/>
        </p:nvSpPr>
        <p:spPr>
          <a:xfrm>
            <a:off x="960120" y="2395728"/>
            <a:ext cx="6309360" cy="411480"/>
          </a:xfrm>
          <a:prstGeom prst="rect">
            <a:avLst/>
          </a:prstGeom>
          <a:noFill/>
        </p:spPr>
        <p:txBody>
          <a:bodyPr wrap="square" lIns="45720" rIns="45720" tIns="18288" bIns="18288" anchor="ctr">
            <a:spAutoFit/>
          </a:bodyPr>
          <a:lstStyle/>
          <a:p>
            <a:pPr algn="l"/>
            <a:r>
              <a:rPr sz="1300" b="0" i="0">
                <a:solidFill>
                  <a:srgbClr val="1F2A44"/>
                </a:solidFill>
                <a:latin typeface="Calibri"/>
              </a:rPr>
              <a:t>Generate traffic for the graph.</a:t>
            </a:r>
          </a:p>
        </p:txBody>
      </p:sp>
      <p:sp>
        <p:nvSpPr>
          <p:cNvPr id="17" name="Oval 16"/>
          <p:cNvSpPr/>
          <p:nvPr/>
        </p:nvSpPr>
        <p:spPr>
          <a:xfrm>
            <a:off x="457200" y="2834640"/>
            <a:ext cx="384048" cy="384048"/>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834640"/>
            <a:ext cx="384048" cy="384048"/>
          </a:xfrm>
          <a:prstGeom prst="rect">
            <a:avLst/>
          </a:prstGeom>
          <a:noFill/>
        </p:spPr>
        <p:txBody>
          <a:bodyPr wrap="square" lIns="45720" rIns="45720" tIns="18288" bIns="18288" anchor="ctr">
            <a:spAutoFit/>
          </a:bodyPr>
          <a:lstStyle/>
          <a:p>
            <a:pPr algn="ctr"/>
            <a:r>
              <a:rPr sz="1400" b="1" i="0">
                <a:solidFill>
                  <a:srgbClr val="FFFFFF"/>
                </a:solidFill>
                <a:latin typeface="Calibri"/>
              </a:rPr>
              <a:t>4</a:t>
            </a:r>
          </a:p>
        </p:txBody>
      </p:sp>
      <p:sp>
        <p:nvSpPr>
          <p:cNvPr id="19" name="TextBox 18"/>
          <p:cNvSpPr txBox="1"/>
          <p:nvPr/>
        </p:nvSpPr>
        <p:spPr>
          <a:xfrm>
            <a:off x="960120" y="2852928"/>
            <a:ext cx="6309360" cy="411480"/>
          </a:xfrm>
          <a:prstGeom prst="rect">
            <a:avLst/>
          </a:prstGeom>
          <a:noFill/>
        </p:spPr>
        <p:txBody>
          <a:bodyPr wrap="square" lIns="45720" rIns="45720" tIns="18288" bIns="18288" anchor="ctr">
            <a:spAutoFit/>
          </a:bodyPr>
          <a:lstStyle/>
          <a:p>
            <a:pPr algn="l"/>
            <a:r>
              <a:rPr sz="1300" b="0" i="0">
                <a:solidFill>
                  <a:srgbClr val="1F2A44"/>
                </a:solidFill>
                <a:latin typeface="Calibri"/>
              </a:rPr>
              <a:t>Open Kiali locally.</a:t>
            </a:r>
          </a:p>
        </p:txBody>
      </p:sp>
      <p:sp>
        <p:nvSpPr>
          <p:cNvPr id="20" name="Rounded Rectangle 19"/>
          <p:cNvSpPr/>
          <p:nvPr/>
        </p:nvSpPr>
        <p:spPr>
          <a:xfrm>
            <a:off x="7589520" y="1097280"/>
            <a:ext cx="4144975" cy="2377440"/>
          </a:xfrm>
          <a:prstGeom prst="roundRect">
            <a:avLst>
              <a:gd name="adj" fmla="val 10000"/>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9520" y="1097280"/>
            <a:ext cx="4144975" cy="411480"/>
          </a:xfrm>
          <a:prstGeom prst="rect">
            <a:avLst/>
          </a:prstGeom>
          <a:solidFill>
            <a:srgbClr val="2EA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0" y="1097280"/>
            <a:ext cx="4144975" cy="411480"/>
          </a:xfrm>
          <a:prstGeom prst="rect">
            <a:avLst/>
          </a:prstGeom>
          <a:noFill/>
        </p:spPr>
        <p:txBody>
          <a:bodyPr wrap="square" lIns="45720" rIns="45720" tIns="18288" bIns="18288" anchor="ctr">
            <a:spAutoFit/>
          </a:bodyPr>
          <a:lstStyle/>
          <a:p>
            <a:pPr algn="l"/>
            <a:r>
              <a:rPr sz="1100" b="1" i="0">
                <a:solidFill>
                  <a:srgbClr val="FFFFFF"/>
                </a:solidFill>
                <a:latin typeface="Calibri"/>
              </a:rPr>
              <a:t>  ✅  YOU END UP WITH</a:t>
            </a:r>
          </a:p>
        </p:txBody>
      </p:sp>
      <p:sp>
        <p:nvSpPr>
          <p:cNvPr id="23" name="Rounded Rectangle 22"/>
          <p:cNvSpPr/>
          <p:nvPr/>
        </p:nvSpPr>
        <p:spPr>
          <a:xfrm>
            <a:off x="7589520" y="3703320"/>
            <a:ext cx="4144975" cy="1645920"/>
          </a:xfrm>
          <a:prstGeom prst="roundRect">
            <a:avLst>
              <a:gd name="adj" fmla="val 10000"/>
            </a:avLst>
          </a:prstGeom>
          <a:solidFill>
            <a:srgbClr val="1E1E2E"/>
          </a:solidFill>
          <a:ln>
            <a:solidFill>
              <a:srgbClr val="E81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18120" y="3886200"/>
            <a:ext cx="3687775" cy="320040"/>
          </a:xfrm>
          <a:prstGeom prst="rect">
            <a:avLst/>
          </a:prstGeom>
          <a:noFill/>
        </p:spPr>
        <p:txBody>
          <a:bodyPr wrap="square" lIns="45720" rIns="45720" tIns="18288" bIns="18288">
            <a:spAutoFit/>
          </a:bodyPr>
          <a:lstStyle/>
          <a:p>
            <a:pPr algn="l"/>
            <a:r>
              <a:rPr sz="1100" b="1" i="0">
                <a:solidFill>
                  <a:srgbClr val="E81E4F"/>
                </a:solidFill>
                <a:latin typeface="Calibri"/>
              </a:rPr>
              <a:t>📜  FULL AZURE CLI SCRIPT</a:t>
            </a:r>
          </a:p>
        </p:txBody>
      </p:sp>
      <p:sp>
        <p:nvSpPr>
          <p:cNvPr id="25" name="TextBox 24"/>
          <p:cNvSpPr txBox="1"/>
          <p:nvPr/>
        </p:nvSpPr>
        <p:spPr>
          <a:xfrm>
            <a:off x="7818120" y="4206240"/>
            <a:ext cx="3687775" cy="1097280"/>
          </a:xfrm>
          <a:prstGeom prst="rect">
            <a:avLst/>
          </a:prstGeom>
          <a:noFill/>
        </p:spPr>
        <p:txBody>
          <a:bodyPr wrap="square" lIns="45720" rIns="45720" tIns="18288" bIns="18288">
            <a:spAutoFit/>
          </a:bodyPr>
          <a:lstStyle/>
          <a:p>
            <a:pPr algn="l"/>
            <a:r>
              <a:rPr sz="1200" b="0" i="0">
                <a:solidFill>
                  <a:srgbClr val="E6E6E6"/>
                </a:solidFill>
                <a:latin typeface="Calibri"/>
              </a:rPr>
              <a:t>The complete, copy-pasteable script lives in the</a:t>
            </a:r>
          </a:p>
          <a:p>
            <a:pPr algn="l"/>
            <a:r>
              <a:rPr sz="1200" b="0" i="0">
                <a:solidFill>
                  <a:srgbClr val="E6E6E6"/>
                </a:solidFill>
                <a:latin typeface="Calibri"/>
              </a:rPr>
              <a:t>speaker notes of this slide.</a:t>
            </a:r>
          </a:p>
          <a:p>
            <a:pPr algn="l"/>
            <a:r>
              <a:rPr sz="1200" b="0" i="0">
                <a:solidFill>
                  <a:srgbClr val="E6E6E6"/>
                </a:solidFill>
                <a:latin typeface="Calibri"/>
              </a:rPr>
              <a:t/>
            </a:r>
          </a:p>
          <a:p>
            <a:pPr algn="l"/>
            <a:r>
              <a:rPr sz="1200" b="0" i="0">
                <a:solidFill>
                  <a:srgbClr val="E6E6E6"/>
                </a:solidFill>
                <a:latin typeface="Calibri"/>
              </a:rPr>
              <a:t>Press  Alt+F5  to open Presenter view</a:t>
            </a:r>
          </a:p>
          <a:p>
            <a:pPr algn="l"/>
            <a:r>
              <a:rPr sz="1200" b="0" i="0">
                <a:solidFill>
                  <a:srgbClr val="E6E6E6"/>
                </a:solidFill>
                <a:latin typeface="Calibri"/>
              </a:rPr>
              <a:t>and copy from the notes pane.</a:t>
            </a:r>
          </a:p>
        </p:txBody>
      </p:sp>
      <p:sp>
        <p:nvSpPr>
          <p:cNvPr id="26" name="Rectangle 25"/>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28" name="Rounded Rectangle 27"/>
          <p:cNvSpPr/>
          <p:nvPr/>
        </p:nvSpPr>
        <p:spPr>
          <a:xfrm>
            <a:off x="10362895" y="6601968"/>
            <a:ext cx="1463040" cy="219456"/>
          </a:xfrm>
          <a:prstGeom prst="roundRect">
            <a:avLst>
              <a:gd name="adj" fmla="val 10000"/>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62895" y="6601968"/>
            <a:ext cx="1463040" cy="219456"/>
          </a:xfrm>
          <a:prstGeom prst="rect">
            <a:avLst/>
          </a:prstGeom>
          <a:noFill/>
        </p:spPr>
        <p:txBody>
          <a:bodyPr wrap="square" lIns="45720" rIns="45720" tIns="18288" bIns="18288" anchor="ctr">
            <a:spAutoFit/>
          </a:bodyPr>
          <a:lstStyle/>
          <a:p>
            <a:pPr algn="ctr"/>
            <a:r>
              <a:rPr sz="900" b="1" i="0">
                <a:solidFill>
                  <a:srgbClr val="FFFFFF"/>
                </a:solidFill>
                <a:latin typeface="Calibri"/>
              </a:rPr>
              <a:t>🛠  HANDS-ON</a:t>
            </a:r>
          </a:p>
        </p:txBody>
      </p:sp>
      <p:sp>
        <p:nvSpPr>
          <p:cNvPr id="30" name="TextBox 29"/>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8 /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2743200" cy="457200"/>
          </a:xfrm>
          <a:prstGeom prst="rect">
            <a:avLst/>
          </a:prstGeom>
          <a:noFill/>
        </p:spPr>
        <p:txBody>
          <a:bodyPr wrap="square" lIns="45720" rIns="45720" tIns="18288" bIns="18288">
            <a:spAutoFit/>
          </a:bodyPr>
          <a:lstStyle/>
          <a:p>
            <a:pPr algn="l"/>
            <a:r>
              <a:rPr sz="1800" b="1" i="0">
                <a:solidFill>
                  <a:srgbClr val="9CC8FF"/>
                </a:solidFill>
                <a:latin typeface="Calibri"/>
              </a:rPr>
              <a:t>PART</a:t>
            </a:r>
          </a:p>
        </p:txBody>
      </p:sp>
      <p:sp>
        <p:nvSpPr>
          <p:cNvPr id="5" name="TextBox 4"/>
          <p:cNvSpPr txBox="1"/>
          <p:nvPr/>
        </p:nvSpPr>
        <p:spPr>
          <a:xfrm>
            <a:off x="640080" y="1005840"/>
            <a:ext cx="3657600" cy="3200400"/>
          </a:xfrm>
          <a:prstGeom prst="rect">
            <a:avLst/>
          </a:prstGeom>
          <a:noFill/>
        </p:spPr>
        <p:txBody>
          <a:bodyPr wrap="square" lIns="45720" rIns="45720" tIns="18288" bIns="18288">
            <a:spAutoFit/>
          </a:bodyPr>
          <a:lstStyle/>
          <a:p>
            <a:pPr algn="l"/>
            <a:r>
              <a:rPr sz="24000" b="1" i="0">
                <a:solidFill>
                  <a:srgbClr val="FFFFFF"/>
                </a:solidFill>
                <a:latin typeface="Calibri"/>
              </a:rPr>
              <a:t>2</a:t>
            </a:r>
          </a:p>
        </p:txBody>
      </p:sp>
      <p:sp>
        <p:nvSpPr>
          <p:cNvPr id="6" name="TextBox 5"/>
          <p:cNvSpPr txBox="1"/>
          <p:nvPr/>
        </p:nvSpPr>
        <p:spPr>
          <a:xfrm>
            <a:off x="5029200" y="1463040"/>
            <a:ext cx="6522415" cy="1371600"/>
          </a:xfrm>
          <a:prstGeom prst="rect">
            <a:avLst/>
          </a:prstGeom>
          <a:noFill/>
        </p:spPr>
        <p:txBody>
          <a:bodyPr wrap="square" lIns="45720" rIns="45720" tIns="18288" bIns="18288">
            <a:spAutoFit/>
          </a:bodyPr>
          <a:lstStyle/>
          <a:p>
            <a:pPr algn="l"/>
            <a:r>
              <a:rPr sz="4000" b="1" i="0">
                <a:solidFill>
                  <a:srgbClr val="FFFFFF"/>
                </a:solidFill>
                <a:latin typeface="Calibri"/>
              </a:rPr>
              <a:t>Ingress → Gateway API</a:t>
            </a:r>
          </a:p>
        </p:txBody>
      </p:sp>
      <p:sp>
        <p:nvSpPr>
          <p:cNvPr id="7" name="Rectangle 6"/>
          <p:cNvSpPr/>
          <p:nvPr/>
        </p:nvSpPr>
        <p:spPr>
          <a:xfrm>
            <a:off x="5029200" y="2834640"/>
            <a:ext cx="914400" cy="73152"/>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063240"/>
            <a:ext cx="1645920" cy="320040"/>
          </a:xfrm>
          <a:prstGeom prst="rect">
            <a:avLst/>
          </a:prstGeom>
          <a:noFill/>
        </p:spPr>
        <p:txBody>
          <a:bodyPr wrap="square" lIns="45720" rIns="45720" tIns="18288" bIns="18288">
            <a:spAutoFit/>
          </a:bodyPr>
          <a:lstStyle/>
          <a:p>
            <a:pPr algn="l"/>
            <a:r>
              <a:rPr sz="1000" b="1" i="0">
                <a:solidFill>
                  <a:srgbClr val="9CC8FF"/>
                </a:solidFill>
                <a:latin typeface="Calibri"/>
              </a:rPr>
              <a:t>IN THIS PART</a:t>
            </a:r>
          </a:p>
        </p:txBody>
      </p:sp>
      <p:sp>
        <p:nvSpPr>
          <p:cNvPr id="9" name="Oval 8"/>
          <p:cNvSpPr/>
          <p:nvPr/>
        </p:nvSpPr>
        <p:spPr>
          <a:xfrm>
            <a:off x="5029200" y="3520440"/>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429000"/>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What is Ingress?</a:t>
            </a:r>
          </a:p>
        </p:txBody>
      </p:sp>
      <p:sp>
        <p:nvSpPr>
          <p:cNvPr id="11" name="Oval 10"/>
          <p:cNvSpPr/>
          <p:nvPr/>
        </p:nvSpPr>
        <p:spPr>
          <a:xfrm>
            <a:off x="5029200" y="3904488"/>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0" y="3813048"/>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Why Ingress alone is no longer enough</a:t>
            </a:r>
          </a:p>
        </p:txBody>
      </p:sp>
      <p:sp>
        <p:nvSpPr>
          <p:cNvPr id="13" name="Oval 12"/>
          <p:cNvSpPr/>
          <p:nvPr/>
        </p:nvSpPr>
        <p:spPr>
          <a:xfrm>
            <a:off x="5029200" y="4288536"/>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0" y="4197096"/>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Ingress vs Gateway API side-by-side</a:t>
            </a:r>
          </a:p>
        </p:txBody>
      </p:sp>
      <p:sp>
        <p:nvSpPr>
          <p:cNvPr id="15" name="Oval 14"/>
          <p:cNvSpPr/>
          <p:nvPr/>
        </p:nvSpPr>
        <p:spPr>
          <a:xfrm>
            <a:off x="5029200" y="4672584"/>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0" y="4581144"/>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Gateway API with Envoy Gateway on AKS</a:t>
            </a:r>
          </a:p>
        </p:txBody>
      </p:sp>
      <p:sp>
        <p:nvSpPr>
          <p:cNvPr id="17" name="Oval 16"/>
          <p:cNvSpPr/>
          <p:nvPr/>
        </p:nvSpPr>
        <p:spPr>
          <a:xfrm>
            <a:off x="5029200" y="5056632"/>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4965192"/>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Application Gateway for Containers (AGC)</a:t>
            </a:r>
          </a:p>
        </p:txBody>
      </p:sp>
      <p:sp>
        <p:nvSpPr>
          <p:cNvPr id="19" name="Oval 18"/>
          <p:cNvSpPr/>
          <p:nvPr/>
        </p:nvSpPr>
        <p:spPr>
          <a:xfrm>
            <a:off x="5029200" y="5440680"/>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0" y="5349240"/>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Deploying AGC with Gateway API</a:t>
            </a:r>
          </a:p>
        </p:txBody>
      </p:sp>
      <p:sp>
        <p:nvSpPr>
          <p:cNvPr id="21" name="Oval 20"/>
          <p:cNvSpPr/>
          <p:nvPr/>
        </p:nvSpPr>
        <p:spPr>
          <a:xfrm>
            <a:off x="5029200" y="5824728"/>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0" y="5733288"/>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Legacy reference: community ingress-nginx on AKS</a:t>
            </a:r>
          </a:p>
        </p:txBody>
      </p:sp>
      <p:sp>
        <p:nvSpPr>
          <p:cNvPr id="23" name="TextBox 22"/>
          <p:cNvSpPr txBox="1"/>
          <p:nvPr/>
        </p:nvSpPr>
        <p:spPr>
          <a:xfrm>
            <a:off x="640080" y="6400800"/>
            <a:ext cx="3657600" cy="365760"/>
          </a:xfrm>
          <a:prstGeom prst="rect">
            <a:avLst/>
          </a:prstGeom>
          <a:noFill/>
        </p:spPr>
        <p:txBody>
          <a:bodyPr wrap="square" lIns="45720" rIns="45720" tIns="18288" bIns="18288">
            <a:spAutoFit/>
          </a:bodyPr>
          <a:lstStyle/>
          <a:p>
            <a:pPr algn="l"/>
            <a:r>
              <a:rPr sz="1100" b="0" i="0">
                <a:solidFill>
                  <a:srgbClr val="9CC8FF"/>
                </a:solidFill>
                <a:latin typeface="Calibri"/>
              </a:rPr>
              <a:t>9 /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INGRESS → GATEWAY API</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What is Ingress?</a:t>
            </a:r>
          </a:p>
        </p:txBody>
      </p:sp>
      <p:sp>
        <p:nvSpPr>
          <p:cNvPr id="7" name="TextBox 6"/>
          <p:cNvSpPr txBox="1"/>
          <p:nvPr/>
        </p:nvSpPr>
        <p:spPr>
          <a:xfrm>
            <a:off x="457200" y="1097280"/>
            <a:ext cx="11277295" cy="303783"/>
          </a:xfrm>
          <a:prstGeom prst="rect">
            <a:avLst/>
          </a:prstGeom>
          <a:noFill/>
        </p:spPr>
        <p:txBody>
          <a:bodyPr wrap="square" lIns="45720" rIns="45720" tIns="18288" bIns="18288">
            <a:spAutoFit/>
          </a:bodyPr>
          <a:lstStyle/>
          <a:p>
            <a:pPr>
              <a:spcAft>
                <a:spcPts val="200"/>
              </a:spcAft>
            </a:pPr>
            <a:r>
              <a:rPr sz="1400" b="1" i="0">
                <a:solidFill>
                  <a:srgbClr val="1F2A44"/>
                </a:solidFill>
                <a:latin typeface="Calibri"/>
              </a:rPr>
              <a:t>Ingress is how external HTTP/HTTPS traffic gets into a Kubernetes cluster.</a:t>
            </a:r>
          </a:p>
        </p:txBody>
      </p:sp>
      <p:sp>
        <p:nvSpPr>
          <p:cNvPr id="8" name="TextBox 7"/>
          <p:cNvSpPr txBox="1"/>
          <p:nvPr/>
        </p:nvSpPr>
        <p:spPr>
          <a:xfrm>
            <a:off x="457200" y="1455927"/>
            <a:ext cx="11277295" cy="303783"/>
          </a:xfrm>
          <a:prstGeom prst="rect">
            <a:avLst/>
          </a:prstGeom>
          <a:noFill/>
        </p:spPr>
        <p:txBody>
          <a:bodyPr wrap="square" lIns="45720" rIns="45720" tIns="18288" bIns="18288">
            <a:spAutoFit/>
          </a:bodyPr>
          <a:lstStyle/>
          <a:p>
            <a:pPr>
              <a:spcAft>
                <a:spcPts val="200"/>
              </a:spcAft>
            </a:pPr>
            <a:r>
              <a:rPr sz="1400" b="0" i="0">
                <a:solidFill>
                  <a:srgbClr val="1F2A44"/>
                </a:solidFill>
                <a:latin typeface="Calibri"/>
              </a:rPr>
              <a:t>It's made up of a few cooperating pieces:</a:t>
            </a:r>
          </a:p>
        </p:txBody>
      </p:sp>
      <p:graphicFrame>
        <p:nvGraphicFramePr>
          <p:cNvPr id="9" name="Table 8"/>
          <p:cNvGraphicFramePr>
            <a:graphicFrameLocks noGrp="1"/>
          </p:cNvGraphicFramePr>
          <p:nvPr/>
        </p:nvGraphicFramePr>
        <p:xfrm>
          <a:off x="457200" y="1814574"/>
          <a:ext cx="11277294" cy="2350008"/>
        </p:xfrm>
        <a:graphic>
          <a:graphicData uri="http://schemas.openxmlformats.org/drawingml/2006/table">
            <a:tbl>
              <a:tblPr firstRow="1" bandRow="1">
                <a:tableStyleId>{5C22544A-7EE6-4342-B048-85BDC9FD1C3A}</a:tableStyleId>
              </a:tblPr>
              <a:tblGrid>
                <a:gridCol w="5638647"/>
                <a:gridCol w="5638647"/>
              </a:tblGrid>
              <a:tr h="391668">
                <a:tc>
                  <a:txBody>
                    <a:bodyPr lIns="73152" rIns="73152" tIns="27432" bIns="27432"/>
                    <a:lstStyle/>
                    <a:p>
                      <a:r>
                        <a:rPr sz="1200" b="1">
                          <a:solidFill>
                            <a:srgbClr val="FFFFFF"/>
                          </a:solidFill>
                          <a:latin typeface="Calibri"/>
                        </a:rPr>
                        <a:t>Term</a:t>
                      </a:r>
                    </a:p>
                  </a:txBody>
                  <a:tcPr>
                    <a:solidFill>
                      <a:srgbClr val="103A6E"/>
                    </a:solidFill>
                  </a:tcPr>
                </a:tc>
                <a:tc>
                  <a:txBody>
                    <a:bodyPr lIns="73152" rIns="73152" tIns="27432" bIns="27432"/>
                    <a:lstStyle/>
                    <a:p>
                      <a:r>
                        <a:rPr sz="1200" b="1">
                          <a:solidFill>
                            <a:srgbClr val="FFFFFF"/>
                          </a:solidFill>
                          <a:latin typeface="Calibri"/>
                        </a:rPr>
                        <a:t>What it is</a:t>
                      </a:r>
                    </a:p>
                  </a:txBody>
                  <a:tcPr>
                    <a:solidFill>
                      <a:srgbClr val="103A6E"/>
                    </a:solidFill>
                  </a:tcPr>
                </a:tc>
              </a:tr>
              <a:tr h="391668">
                <a:tc>
                  <a:txBody>
                    <a:bodyPr lIns="73152" rIns="73152" tIns="27432" bIns="27432"/>
                    <a:lstStyle/>
                    <a:p>
                      <a:r>
                        <a:rPr sz="1200" b="1" i="0">
                          <a:solidFill>
                            <a:srgbClr val="1F2A44"/>
                          </a:solidFill>
                          <a:latin typeface="Calibri"/>
                        </a:rPr>
                        <a:t>Ingress (resource)</a:t>
                      </a:r>
                    </a:p>
                  </a:txBody>
                  <a:tcPr>
                    <a:solidFill>
                      <a:srgbClr val="F3F5F9"/>
                    </a:solidFill>
                  </a:tcPr>
                </a:tc>
                <a:tc>
                  <a:txBody>
                    <a:bodyPr lIns="73152" rIns="73152" tIns="27432" bIns="27432"/>
                    <a:lstStyle/>
                    <a:p>
                      <a:r>
                        <a:rPr sz="1200" b="0" i="0">
                          <a:solidFill>
                            <a:srgbClr val="1F2A44"/>
                          </a:solidFill>
                          <a:latin typeface="Calibri"/>
                        </a:rPr>
                        <a:t>Kubernetes API object describing host/path routing rules — pure configuration</a:t>
                      </a:r>
                    </a:p>
                  </a:txBody>
                  <a:tcPr>
                    <a:solidFill>
                      <a:srgbClr val="F3F5F9"/>
                    </a:solidFill>
                  </a:tcPr>
                </a:tc>
              </a:tr>
              <a:tr h="391668">
                <a:tc>
                  <a:txBody>
                    <a:bodyPr lIns="73152" rIns="73152" tIns="27432" bIns="27432"/>
                    <a:lstStyle/>
                    <a:p>
                      <a:r>
                        <a:rPr sz="1200" b="1" i="0">
                          <a:solidFill>
                            <a:srgbClr val="1F2A44"/>
                          </a:solidFill>
                          <a:latin typeface="Calibri"/>
                        </a:rPr>
                        <a:t>Ingress Controller</a:t>
                      </a:r>
                    </a:p>
                  </a:txBody>
                  <a:tcPr>
                    <a:solidFill>
                      <a:srgbClr val="FFFFFF"/>
                    </a:solidFill>
                  </a:tcPr>
                </a:tc>
                <a:tc>
                  <a:txBody>
                    <a:bodyPr lIns="73152" rIns="73152" tIns="27432" bIns="27432"/>
                    <a:lstStyle/>
                    <a:p>
                      <a:r>
                        <a:rPr sz="1200" b="0" i="0">
                          <a:solidFill>
                            <a:srgbClr val="1F2A44"/>
                          </a:solidFill>
                          <a:latin typeface="Calibri"/>
                        </a:rPr>
                        <a:t>The software (pods) that watches Ingress resources and configures a proxy</a:t>
                      </a:r>
                    </a:p>
                  </a:txBody>
                  <a:tcPr>
                    <a:solidFill>
                      <a:srgbClr val="FFFFFF"/>
                    </a:solidFill>
                  </a:tcPr>
                </a:tc>
              </a:tr>
              <a:tr h="391668">
                <a:tc>
                  <a:txBody>
                    <a:bodyPr lIns="73152" rIns="73152" tIns="27432" bIns="27432"/>
                    <a:lstStyle/>
                    <a:p>
                      <a:r>
                        <a:rPr sz="1200" b="1" i="0">
                          <a:solidFill>
                            <a:srgbClr val="1F2A44"/>
                          </a:solidFill>
                          <a:latin typeface="Calibri"/>
                        </a:rPr>
                        <a:t>IngressClass</a:t>
                      </a:r>
                    </a:p>
                  </a:txBody>
                  <a:tcPr>
                    <a:solidFill>
                      <a:srgbClr val="F3F5F9"/>
                    </a:solidFill>
                  </a:tcPr>
                </a:tc>
                <a:tc>
                  <a:txBody>
                    <a:bodyPr lIns="73152" rIns="73152" tIns="27432" bIns="27432"/>
                    <a:lstStyle/>
                    <a:p>
                      <a:r>
                        <a:rPr sz="1200" b="0" i="0">
                          <a:solidFill>
                            <a:srgbClr val="1F2A44"/>
                          </a:solidFill>
                          <a:latin typeface="Calibri"/>
                        </a:rPr>
                        <a:t>Tells Kubernetes which controller should handle a given Ingress</a:t>
                      </a:r>
                    </a:p>
                  </a:txBody>
                  <a:tcPr>
                    <a:solidFill>
                      <a:srgbClr val="F3F5F9"/>
                    </a:solidFill>
                  </a:tcPr>
                </a:tc>
              </a:tr>
              <a:tr h="391668">
                <a:tc>
                  <a:txBody>
                    <a:bodyPr lIns="73152" rIns="73152" tIns="27432" bIns="27432"/>
                    <a:lstStyle/>
                    <a:p>
                      <a:r>
                        <a:rPr sz="1200" b="1" i="0">
                          <a:solidFill>
                            <a:srgbClr val="1F2A44"/>
                          </a:solidFill>
                          <a:latin typeface="Calibri"/>
                        </a:rPr>
                        <a:t>Backend Service</a:t>
                      </a:r>
                    </a:p>
                  </a:txBody>
                  <a:tcPr>
                    <a:solidFill>
                      <a:srgbClr val="FFFFFF"/>
                    </a:solidFill>
                  </a:tcPr>
                </a:tc>
                <a:tc>
                  <a:txBody>
                    <a:bodyPr lIns="73152" rIns="73152" tIns="27432" bIns="27432"/>
                    <a:lstStyle/>
                    <a:p>
                      <a:r>
                        <a:rPr sz="1200" b="0" i="0">
                          <a:solidFill>
                            <a:srgbClr val="1F2A44"/>
                          </a:solidFill>
                          <a:latin typeface="Calibri"/>
                        </a:rPr>
                        <a:t>The </a:t>
                      </a:r>
                      <a:r>
                        <a:rPr sz="1200" b="0">
                          <a:solidFill>
                            <a:srgbClr val="B01060"/>
                          </a:solidFill>
                          <a:latin typeface="Consolas"/>
                        </a:rPr>
                        <a:t>Service</a:t>
                      </a:r>
                      <a:r>
                        <a:rPr sz="1200" b="0" i="0">
                          <a:solidFill>
                            <a:srgbClr val="1F2A44"/>
                          </a:solidFill>
                          <a:latin typeface="Calibri"/>
                        </a:rPr>
                        <a:t> the Ingress routes traffic to</a:t>
                      </a:r>
                    </a:p>
                  </a:txBody>
                  <a:tcPr>
                    <a:solidFill>
                      <a:srgbClr val="FFFFFF"/>
                    </a:solidFill>
                  </a:tcPr>
                </a:tc>
              </a:tr>
              <a:tr h="391668">
                <a:tc>
                  <a:txBody>
                    <a:bodyPr lIns="73152" rIns="73152" tIns="27432" bIns="27432"/>
                    <a:lstStyle/>
                    <a:p>
                      <a:r>
                        <a:rPr sz="1200" b="1" i="0">
                          <a:solidFill>
                            <a:srgbClr val="1F2A44"/>
                          </a:solidFill>
                          <a:latin typeface="Calibri"/>
                        </a:rPr>
                        <a:t>TLS Secret</a:t>
                      </a:r>
                    </a:p>
                  </a:txBody>
                  <a:tcPr>
                    <a:solidFill>
                      <a:srgbClr val="F3F5F9"/>
                    </a:solidFill>
                  </a:tcPr>
                </a:tc>
                <a:tc>
                  <a:txBody>
                    <a:bodyPr lIns="73152" rIns="73152" tIns="27432" bIns="27432"/>
                    <a:lstStyle/>
                    <a:p>
                      <a:r>
                        <a:rPr sz="1200" b="0">
                          <a:solidFill>
                            <a:srgbClr val="B01060"/>
                          </a:solidFill>
                          <a:latin typeface="Consolas"/>
                        </a:rPr>
                        <a:t>kubernetes.io/tls</a:t>
                      </a:r>
                      <a:r>
                        <a:rPr sz="1200" b="0" i="0">
                          <a:solidFill>
                            <a:srgbClr val="1F2A44"/>
                          </a:solidFill>
                          <a:latin typeface="Calibri"/>
                        </a:rPr>
                        <a:t> secret used for HTTPS termination</a:t>
                      </a:r>
                    </a:p>
                  </a:txBody>
                  <a:tcPr>
                    <a:solidFill>
                      <a:srgbClr val="F3F5F9"/>
                    </a:solidFill>
                  </a:tcPr>
                </a:tc>
              </a:tr>
            </a:tbl>
          </a:graphicData>
        </a:graphic>
      </p:graphicFrame>
      <p:sp>
        <p:nvSpPr>
          <p:cNvPr id="10" name="TextBox 9"/>
          <p:cNvSpPr txBox="1"/>
          <p:nvPr/>
        </p:nvSpPr>
        <p:spPr>
          <a:xfrm>
            <a:off x="457200" y="4301742"/>
            <a:ext cx="11277295" cy="801621"/>
          </a:xfrm>
          <a:prstGeom prst="rect">
            <a:avLst/>
          </a:prstGeom>
          <a:noFill/>
        </p:spPr>
        <p:txBody>
          <a:bodyPr wrap="square" lIns="45720" rIns="45720" tIns="18288" bIns="18288">
            <a:spAutoFit/>
          </a:bodyPr>
          <a:lstStyle/>
          <a:p>
            <a:pPr>
              <a:spcAft>
                <a:spcPts val="200"/>
              </a:spcAft>
            </a:pPr>
            <a:r>
              <a:rPr sz="1400" b="0" i="0">
                <a:solidFill>
                  <a:srgbClr val="1F2A44"/>
                </a:solidFill>
                <a:latin typeface="Calibri"/>
              </a:rPr>
              <a:t>The controller has two roles: a </a:t>
            </a:r>
            <a:r>
              <a:rPr sz="1400" b="1" i="0">
                <a:solidFill>
                  <a:srgbClr val="1F2A44"/>
                </a:solidFill>
                <a:latin typeface="Calibri"/>
              </a:rPr>
              <a:t>control plane</a:t>
            </a:r>
            <a:r>
              <a:rPr sz="1400" b="0" i="0">
                <a:solidFill>
                  <a:srgbClr val="1F2A44"/>
                </a:solidFill>
                <a:latin typeface="Calibri"/>
              </a:rPr>
              <a:t> (reconciles K8s resources into proxy config) and a </a:t>
            </a:r>
            <a:r>
              <a:rPr sz="1400" b="1" i="0">
                <a:solidFill>
                  <a:srgbClr val="1F2A44"/>
                </a:solidFill>
                <a:latin typeface="Calibri"/>
              </a:rPr>
              <a:t>data plane</a:t>
            </a:r>
            <a:r>
              <a:rPr sz="1400" b="0" i="0">
                <a:solidFill>
                  <a:srgbClr val="1F2A44"/>
                </a:solidFill>
                <a:latin typeface="Calibri"/>
              </a:rPr>
              <a:t> (the actual proxy — NGINX, Envoy, HAProxy — that receives traffic). In most implementations both run in the same pod.</a:t>
            </a:r>
          </a:p>
        </p:txBody>
      </p:sp>
      <p:sp>
        <p:nvSpPr>
          <p:cNvPr id="11" name="TextBox 10"/>
          <p:cNvSpPr txBox="1"/>
          <p:nvPr/>
        </p:nvSpPr>
        <p:spPr>
          <a:xfrm>
            <a:off x="457200" y="5158227"/>
            <a:ext cx="11277295" cy="303783"/>
          </a:xfrm>
          <a:prstGeom prst="rect">
            <a:avLst/>
          </a:prstGeom>
          <a:noFill/>
        </p:spPr>
        <p:txBody>
          <a:bodyPr wrap="square" lIns="45720" rIns="45720" tIns="18288" bIns="18288">
            <a:spAutoFit/>
          </a:bodyPr>
          <a:lstStyle/>
          <a:p>
            <a:pPr>
              <a:spcAft>
                <a:spcPts val="200"/>
              </a:spcAft>
            </a:pPr>
            <a:r>
              <a:rPr sz="1400" b="1" i="0">
                <a:solidFill>
                  <a:srgbClr val="1F2A44"/>
                </a:solidFill>
                <a:latin typeface="Calibri"/>
              </a:rPr>
              <a:t>Full traffic path</a:t>
            </a:r>
          </a:p>
        </p:txBody>
      </p:sp>
      <p:sp>
        <p:nvSpPr>
          <p:cNvPr id="12" name="Rectangle 11"/>
          <p:cNvSpPr/>
          <p:nvPr/>
        </p:nvSpPr>
        <p:spPr>
          <a:xfrm>
            <a:off x="457200" y="5516874"/>
            <a:ext cx="11277295" cy="1859280"/>
          </a:xfrm>
          <a:prstGeom prst="rect">
            <a:avLst/>
          </a:prstGeom>
          <a:solidFill>
            <a:srgbClr val="1E1E2E"/>
          </a:solidFill>
          <a:ln>
            <a:solidFill>
              <a:srgbClr val="103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516874"/>
            <a:ext cx="64008" cy="18592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5590026"/>
            <a:ext cx="11048695" cy="1712976"/>
          </a:xfrm>
          <a:prstGeom prst="rect">
            <a:avLst/>
          </a:prstGeom>
          <a:noFill/>
        </p:spPr>
        <p:txBody>
          <a:bodyPr wrap="none" lIns="36576" rIns="36576" tIns="18288" bIns="18288">
            <a:spAutoFit/>
          </a:bodyPr>
          <a:lstStyle/>
          <a:p>
            <a:pPr>
              <a:lnSpc>
                <a:spcPct val="100000"/>
              </a:lnSpc>
            </a:pPr>
            <a:r>
              <a:rPr sz="1000">
                <a:solidFill>
                  <a:srgbClr val="E6E6E6"/>
                </a:solidFill>
                <a:latin typeface="Consolas"/>
              </a:rPr>
              <a:t>Client</a:t>
            </a:r>
          </a:p>
          <a:p>
            <a:pPr>
              <a:lnSpc>
                <a:spcPct val="100000"/>
              </a:lnSpc>
            </a:pPr>
            <a:r>
              <a:rPr sz="1000">
                <a:solidFill>
                  <a:srgbClr val="E6E6E6"/>
                </a:solidFill>
                <a:latin typeface="Consolas"/>
              </a:rPr>
              <a:t>  ↓</a:t>
            </a:r>
          </a:p>
          <a:p>
            <a:pPr>
              <a:lnSpc>
                <a:spcPct val="100000"/>
              </a:lnSpc>
            </a:pPr>
            <a:r>
              <a:rPr sz="1000">
                <a:solidFill>
                  <a:srgbClr val="E6E6E6"/>
                </a:solidFill>
                <a:latin typeface="Consolas"/>
              </a:rPr>
              <a:t>DNS → Public IP</a:t>
            </a:r>
          </a:p>
          <a:p>
            <a:pPr>
              <a:lnSpc>
                <a:spcPct val="100000"/>
              </a:lnSpc>
            </a:pPr>
            <a:r>
              <a:rPr sz="1000">
                <a:solidFill>
                  <a:srgbClr val="E6E6E6"/>
                </a:solidFill>
                <a:latin typeface="Consolas"/>
              </a:rPr>
              <a:t>  ↓</a:t>
            </a:r>
          </a:p>
          <a:p>
            <a:pPr>
              <a:lnSpc>
                <a:spcPct val="100000"/>
              </a:lnSpc>
            </a:pPr>
            <a:r>
              <a:rPr sz="1000">
                <a:solidFill>
                  <a:srgbClr val="E6E6E6"/>
                </a:solidFill>
                <a:latin typeface="Consolas"/>
              </a:rPr>
              <a:t>Cloud Load Balancer (from the controller's Service of type LoadBalancer)</a:t>
            </a:r>
          </a:p>
          <a:p>
            <a:pPr>
              <a:lnSpc>
                <a:spcPct val="100000"/>
              </a:lnSpc>
            </a:pPr>
            <a:r>
              <a:rPr sz="1000">
                <a:solidFill>
                  <a:srgbClr val="E6E6E6"/>
                </a:solidFill>
                <a:latin typeface="Consolas"/>
              </a:rPr>
              <a:t>  ↓</a:t>
            </a:r>
          </a:p>
          <a:p>
            <a:pPr>
              <a:lnSpc>
                <a:spcPct val="100000"/>
              </a:lnSpc>
            </a:pPr>
            <a:r>
              <a:rPr sz="1000">
                <a:solidFill>
                  <a:srgbClr val="E6E6E6"/>
                </a:solidFill>
                <a:latin typeface="Consolas"/>
              </a:rPr>
              <a:t>Ingress Controller pod (proxy / data plane)  ← traffic actually arrives here</a:t>
            </a:r>
          </a:p>
          <a:p>
            <a:pPr>
              <a:lnSpc>
                <a:spcPct val="100000"/>
              </a:lnSpc>
            </a:pPr>
            <a:r>
              <a:rPr sz="1000">
                <a:solidFill>
                  <a:srgbClr val="E6E6E6"/>
                </a:solidFill>
                <a:latin typeface="Consolas"/>
              </a:rPr>
              <a:t>  ↓</a:t>
            </a:r>
          </a:p>
          <a:p>
            <a:pPr>
              <a:lnSpc>
                <a:spcPct val="100000"/>
              </a:lnSpc>
            </a:pPr>
            <a:r>
              <a:rPr sz="1000">
                <a:solidFill>
                  <a:srgbClr val="E6E6E6"/>
                </a:solidFill>
                <a:latin typeface="Consolas"/>
              </a:rPr>
              <a:t>Backend Service (ClusterIP) → Pod Endpoints</a:t>
            </a:r>
          </a:p>
          <a:p>
            <a:pPr>
              <a:lnSpc>
                <a:spcPct val="100000"/>
              </a:lnSpc>
            </a:pPr>
            <a:r>
              <a:rPr sz="1000">
                <a:solidFill>
                  <a:srgbClr val="E6E6E6"/>
                </a:solidFill>
                <a:latin typeface="Consolas"/>
              </a:rPr>
              <a:t>  ↓</a:t>
            </a:r>
          </a:p>
          <a:p>
            <a:pPr>
              <a:lnSpc>
                <a:spcPct val="100000"/>
              </a:lnSpc>
            </a:pPr>
            <a:r>
              <a:rPr sz="1000">
                <a:solidFill>
                  <a:srgbClr val="E6E6E6"/>
                </a:solidFill>
                <a:latin typeface="Consolas"/>
              </a:rPr>
              <a:t>Application Pod</a:t>
            </a:r>
          </a:p>
        </p:txBody>
      </p:sp>
      <p:sp>
        <p:nvSpPr>
          <p:cNvPr id="15" name="Rectangle 14"/>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17" name="TextBox 16"/>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10 /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INGRESS → GATEWAY API</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Why Ingress alone is no longer enough</a:t>
            </a:r>
          </a:p>
        </p:txBody>
      </p:sp>
      <p:sp>
        <p:nvSpPr>
          <p:cNvPr id="7" name="TextBox 6"/>
          <p:cNvSpPr txBox="1"/>
          <p:nvPr/>
        </p:nvSpPr>
        <p:spPr>
          <a:xfrm>
            <a:off x="457200" y="1097280"/>
            <a:ext cx="11277295" cy="1050540"/>
          </a:xfrm>
          <a:prstGeom prst="rect">
            <a:avLst/>
          </a:prstGeom>
          <a:noFill/>
        </p:spPr>
        <p:txBody>
          <a:bodyPr wrap="square" lIns="45720" rIns="45720" tIns="18288" bIns="18288">
            <a:spAutoFit/>
          </a:bodyPr>
          <a:lstStyle/>
          <a:p>
            <a:pPr>
              <a:spcAft>
                <a:spcPts val="200"/>
              </a:spcAft>
            </a:pPr>
            <a:r>
              <a:rPr sz="1400" b="1" i="0">
                <a:solidFill>
                  <a:srgbClr val="1F2A44"/>
                </a:solidFill>
                <a:latin typeface="Calibri"/>
              </a:rPr>
              <a:t>Important distinction</a:t>
            </a:r>
          </a:p>
          <a:p>
            <a:pPr>
              <a:spcAft>
                <a:spcPts val="200"/>
              </a:spcAft>
            </a:pPr>
            <a:r>
              <a:rPr sz="1400" b="1">
                <a:solidFill>
                  <a:srgbClr val="0078D4"/>
                </a:solidFill>
                <a:latin typeface="Calibri"/>
              </a:rPr>
              <a:t>▸ </a:t>
            </a:r>
            <a:r>
              <a:rPr sz="1400" b="0" i="0">
                <a:solidFill>
                  <a:srgbClr val="1F2A44"/>
                </a:solidFill>
                <a:latin typeface="Calibri"/>
              </a:rPr>
              <a:t>Kubernetes </a:t>
            </a:r>
            <a:r>
              <a:rPr sz="1400" b="0">
                <a:solidFill>
                  <a:srgbClr val="B01060"/>
                </a:solidFill>
                <a:latin typeface="Consolas"/>
              </a:rPr>
              <a:t>Ingress</a:t>
            </a:r>
            <a:r>
              <a:rPr sz="1400" b="0" i="0">
                <a:solidFill>
                  <a:srgbClr val="1F2A44"/>
                </a:solidFill>
                <a:latin typeface="Calibri"/>
              </a:rPr>
              <a:t> API is stable, not deprecated</a:t>
            </a:r>
          </a:p>
          <a:p>
            <a:pPr>
              <a:spcAft>
                <a:spcPts val="200"/>
              </a:spcAft>
            </a:pPr>
            <a:r>
              <a:rPr sz="1400" b="1">
                <a:solidFill>
                  <a:srgbClr val="0078D4"/>
                </a:solidFill>
                <a:latin typeface="Calibri"/>
              </a:rPr>
              <a:t>▸ </a:t>
            </a:r>
            <a:r>
              <a:rPr sz="1400" b="0" i="0">
                <a:solidFill>
                  <a:srgbClr val="1F2A44"/>
                </a:solidFill>
                <a:latin typeface="Calibri"/>
              </a:rPr>
              <a:t>The community </a:t>
            </a:r>
            <a:r>
              <a:rPr sz="1400" b="0">
                <a:solidFill>
                  <a:srgbClr val="B01060"/>
                </a:solidFill>
                <a:latin typeface="Consolas"/>
              </a:rPr>
              <a:t>kubernetes/ingress-nginx</a:t>
            </a:r>
            <a:r>
              <a:rPr sz="1400" b="0" i="0">
                <a:solidFill>
                  <a:srgbClr val="1F2A44"/>
                </a:solidFill>
                <a:latin typeface="Calibri"/>
              </a:rPr>
              <a:t> controller is the retired/EOL component</a:t>
            </a:r>
          </a:p>
          <a:p>
            <a:pPr>
              <a:spcAft>
                <a:spcPts val="200"/>
              </a:spcAft>
            </a:pPr>
            <a:r>
              <a:rPr sz="1400" b="1">
                <a:solidFill>
                  <a:srgbClr val="0078D4"/>
                </a:solidFill>
                <a:latin typeface="Calibri"/>
              </a:rPr>
              <a:t>▸ </a:t>
            </a:r>
            <a:r>
              <a:rPr sz="1400" b="0" i="0">
                <a:solidFill>
                  <a:srgbClr val="1F2A44"/>
                </a:solidFill>
                <a:latin typeface="Calibri"/>
              </a:rPr>
              <a:t>Gateway API is the recommended direction for new, richer traffic-management designs</a:t>
            </a:r>
          </a:p>
        </p:txBody>
      </p:sp>
      <p:sp>
        <p:nvSpPr>
          <p:cNvPr id="8" name="TextBox 7"/>
          <p:cNvSpPr txBox="1"/>
          <p:nvPr/>
        </p:nvSpPr>
        <p:spPr>
          <a:xfrm>
            <a:off x="457200" y="2202684"/>
            <a:ext cx="11277295" cy="1299459"/>
          </a:xfrm>
          <a:prstGeom prst="rect">
            <a:avLst/>
          </a:prstGeom>
          <a:noFill/>
        </p:spPr>
        <p:txBody>
          <a:bodyPr wrap="square" lIns="45720" rIns="45720" tIns="18288" bIns="18288">
            <a:spAutoFit/>
          </a:bodyPr>
          <a:lstStyle/>
          <a:p>
            <a:pPr>
              <a:spcAft>
                <a:spcPts val="200"/>
              </a:spcAft>
            </a:pPr>
            <a:r>
              <a:rPr sz="1400" b="1" i="0">
                <a:solidFill>
                  <a:srgbClr val="1F2A44"/>
                </a:solidFill>
                <a:latin typeface="Calibri"/>
              </a:rPr>
              <a:t>Limitations of `Ingress` as an API model</a:t>
            </a:r>
          </a:p>
          <a:p>
            <a:pPr>
              <a:spcAft>
                <a:spcPts val="200"/>
              </a:spcAft>
            </a:pPr>
            <a:r>
              <a:rPr sz="1400" b="1">
                <a:solidFill>
                  <a:srgbClr val="0078D4"/>
                </a:solidFill>
                <a:latin typeface="Calibri"/>
              </a:rPr>
              <a:t>▸ </a:t>
            </a:r>
            <a:r>
              <a:rPr sz="1400" b="0" i="0">
                <a:solidFill>
                  <a:srgbClr val="1F2A44"/>
                </a:solidFill>
                <a:latin typeface="Calibri"/>
              </a:rPr>
              <a:t>Annotation soup: every controller invented its own annotations → not portable</a:t>
            </a:r>
          </a:p>
          <a:p>
            <a:pPr>
              <a:spcAft>
                <a:spcPts val="200"/>
              </a:spcAft>
            </a:pPr>
            <a:r>
              <a:rPr sz="1400" b="1">
                <a:solidFill>
                  <a:srgbClr val="0078D4"/>
                </a:solidFill>
                <a:latin typeface="Calibri"/>
              </a:rPr>
              <a:t>▸ </a:t>
            </a:r>
            <a:r>
              <a:rPr sz="1400" b="0" i="0">
                <a:solidFill>
                  <a:srgbClr val="1F2A44"/>
                </a:solidFill>
                <a:latin typeface="Calibri"/>
              </a:rPr>
              <a:t>Single role: cluster admin and app dev edit the same object</a:t>
            </a:r>
          </a:p>
          <a:p>
            <a:pPr>
              <a:spcAft>
                <a:spcPts val="200"/>
              </a:spcAft>
            </a:pPr>
            <a:r>
              <a:rPr sz="1400" b="1">
                <a:solidFill>
                  <a:srgbClr val="0078D4"/>
                </a:solidFill>
                <a:latin typeface="Calibri"/>
              </a:rPr>
              <a:t>▸ </a:t>
            </a:r>
            <a:r>
              <a:rPr sz="1400" b="0" i="0">
                <a:solidFill>
                  <a:srgbClr val="1F2A44"/>
                </a:solidFill>
                <a:latin typeface="Calibri"/>
              </a:rPr>
              <a:t>No first-class TCP/UDP, gRPC, traffic splitting, header-based routing</a:t>
            </a:r>
          </a:p>
          <a:p>
            <a:pPr>
              <a:spcAft>
                <a:spcPts val="200"/>
              </a:spcAft>
            </a:pPr>
            <a:r>
              <a:rPr sz="1400" b="1">
                <a:solidFill>
                  <a:srgbClr val="0078D4"/>
                </a:solidFill>
                <a:latin typeface="Calibri"/>
              </a:rPr>
              <a:t>▸ </a:t>
            </a:r>
            <a:r>
              <a:rPr sz="1400" b="0" i="0">
                <a:solidFill>
                  <a:srgbClr val="1F2A44"/>
                </a:solidFill>
                <a:latin typeface="Calibri"/>
              </a:rPr>
              <a:t>Extension story = vendor lock-in</a:t>
            </a:r>
          </a:p>
        </p:txBody>
      </p:sp>
      <p:sp>
        <p:nvSpPr>
          <p:cNvPr id="9" name="TextBox 8"/>
          <p:cNvSpPr txBox="1"/>
          <p:nvPr/>
        </p:nvSpPr>
        <p:spPr>
          <a:xfrm>
            <a:off x="457200" y="3557007"/>
            <a:ext cx="11277295" cy="303783"/>
          </a:xfrm>
          <a:prstGeom prst="rect">
            <a:avLst/>
          </a:prstGeom>
          <a:noFill/>
        </p:spPr>
        <p:txBody>
          <a:bodyPr wrap="square" lIns="45720" rIns="45720" tIns="18288" bIns="18288">
            <a:spAutoFit/>
          </a:bodyPr>
          <a:lstStyle/>
          <a:p>
            <a:pPr>
              <a:spcAft>
                <a:spcPts val="200"/>
              </a:spcAft>
            </a:pPr>
            <a:r>
              <a:rPr sz="1400" b="1" i="0">
                <a:solidFill>
                  <a:srgbClr val="1F2A44"/>
                </a:solidFill>
                <a:latin typeface="Calibri"/>
              </a:rPr>
              <a:t>Gateway API fixes the model</a:t>
            </a:r>
          </a:p>
        </p:txBody>
      </p:sp>
      <p:graphicFrame>
        <p:nvGraphicFramePr>
          <p:cNvPr id="10" name="Table 9"/>
          <p:cNvGraphicFramePr>
            <a:graphicFrameLocks noGrp="1"/>
          </p:cNvGraphicFramePr>
          <p:nvPr/>
        </p:nvGraphicFramePr>
        <p:xfrm>
          <a:off x="457200" y="3915654"/>
          <a:ext cx="11277294" cy="1581912"/>
        </p:xfrm>
        <a:graphic>
          <a:graphicData uri="http://schemas.openxmlformats.org/drawingml/2006/table">
            <a:tbl>
              <a:tblPr firstRow="1" bandRow="1">
                <a:tableStyleId>{5C22544A-7EE6-4342-B048-85BDC9FD1C3A}</a:tableStyleId>
              </a:tblPr>
              <a:tblGrid>
                <a:gridCol w="3759098"/>
                <a:gridCol w="3759098"/>
                <a:gridCol w="3759098"/>
              </a:tblGrid>
              <a:tr h="395478">
                <a:tc>
                  <a:txBody>
                    <a:bodyPr lIns="73152" rIns="73152" tIns="27432" bIns="27432"/>
                    <a:lstStyle/>
                    <a:p>
                      <a:r>
                        <a:rPr sz="1200" b="1">
                          <a:solidFill>
                            <a:srgbClr val="FFFFFF"/>
                          </a:solidFill>
                          <a:latin typeface="Calibri"/>
                        </a:rPr>
                        <a:t>Concern</a:t>
                      </a:r>
                    </a:p>
                  </a:txBody>
                  <a:tcPr>
                    <a:solidFill>
                      <a:srgbClr val="103A6E"/>
                    </a:solidFill>
                  </a:tcPr>
                </a:tc>
                <a:tc>
                  <a:txBody>
                    <a:bodyPr lIns="73152" rIns="73152" tIns="27432" bIns="27432"/>
                    <a:lstStyle/>
                    <a:p>
                      <a:r>
                        <a:rPr sz="1200" b="1">
                          <a:solidFill>
                            <a:srgbClr val="FFFFFF"/>
                          </a:solidFill>
                          <a:latin typeface="Calibri"/>
                        </a:rPr>
                        <a:t>Resource</a:t>
                      </a:r>
                    </a:p>
                  </a:txBody>
                  <a:tcPr>
                    <a:solidFill>
                      <a:srgbClr val="103A6E"/>
                    </a:solidFill>
                  </a:tcPr>
                </a:tc>
                <a:tc>
                  <a:txBody>
                    <a:bodyPr lIns="73152" rIns="73152" tIns="27432" bIns="27432"/>
                    <a:lstStyle/>
                    <a:p>
                      <a:r>
                        <a:rPr sz="1200" b="1">
                          <a:solidFill>
                            <a:srgbClr val="FFFFFF"/>
                          </a:solidFill>
                          <a:latin typeface="Calibri"/>
                        </a:rPr>
                        <a:t>Persona</a:t>
                      </a:r>
                    </a:p>
                  </a:txBody>
                  <a:tcPr>
                    <a:solidFill>
                      <a:srgbClr val="103A6E"/>
                    </a:solidFill>
                  </a:tcPr>
                </a:tc>
              </a:tr>
              <a:tr h="395478">
                <a:tc>
                  <a:txBody>
                    <a:bodyPr lIns="73152" rIns="73152" tIns="27432" bIns="27432"/>
                    <a:lstStyle/>
                    <a:p>
                      <a:r>
                        <a:rPr sz="1200" b="0" i="0">
                          <a:solidFill>
                            <a:srgbClr val="1F2A44"/>
                          </a:solidFill>
                          <a:latin typeface="Calibri"/>
                        </a:rPr>
                        <a:t>What controller / data plane</a:t>
                      </a:r>
                    </a:p>
                  </a:txBody>
                  <a:tcPr>
                    <a:solidFill>
                      <a:srgbClr val="F3F5F9"/>
                    </a:solidFill>
                  </a:tcPr>
                </a:tc>
                <a:tc>
                  <a:txBody>
                    <a:bodyPr lIns="73152" rIns="73152" tIns="27432" bIns="27432"/>
                    <a:lstStyle/>
                    <a:p>
                      <a:r>
                        <a:rPr sz="1200" b="0">
                          <a:solidFill>
                            <a:srgbClr val="B01060"/>
                          </a:solidFill>
                          <a:latin typeface="Consolas"/>
                        </a:rPr>
                        <a:t>GatewayClass</a:t>
                      </a:r>
                    </a:p>
                  </a:txBody>
                  <a:tcPr>
                    <a:solidFill>
                      <a:srgbClr val="F3F5F9"/>
                    </a:solidFill>
                  </a:tcPr>
                </a:tc>
                <a:tc>
                  <a:txBody>
                    <a:bodyPr lIns="73152" rIns="73152" tIns="27432" bIns="27432"/>
                    <a:lstStyle/>
                    <a:p>
                      <a:r>
                        <a:rPr sz="1200" b="0" i="0">
                          <a:solidFill>
                            <a:srgbClr val="1F2A44"/>
                          </a:solidFill>
                          <a:latin typeface="Calibri"/>
                        </a:rPr>
                        <a:t>Infra provider</a:t>
                      </a:r>
                    </a:p>
                  </a:txBody>
                  <a:tcPr>
                    <a:solidFill>
                      <a:srgbClr val="F3F5F9"/>
                    </a:solidFill>
                  </a:tcPr>
                </a:tc>
              </a:tr>
              <a:tr h="395478">
                <a:tc>
                  <a:txBody>
                    <a:bodyPr lIns="73152" rIns="73152" tIns="27432" bIns="27432"/>
                    <a:lstStyle/>
                    <a:p>
                      <a:r>
                        <a:rPr sz="1200" b="0" i="0">
                          <a:solidFill>
                            <a:srgbClr val="1F2A44"/>
                          </a:solidFill>
                          <a:latin typeface="Calibri"/>
                        </a:rPr>
                        <a:t>Listeners, IP, TLS certs</a:t>
                      </a:r>
                    </a:p>
                  </a:txBody>
                  <a:tcPr>
                    <a:solidFill>
                      <a:srgbClr val="FFFFFF"/>
                    </a:solidFill>
                  </a:tcPr>
                </a:tc>
                <a:tc>
                  <a:txBody>
                    <a:bodyPr lIns="73152" rIns="73152" tIns="27432" bIns="27432"/>
                    <a:lstStyle/>
                    <a:p>
                      <a:r>
                        <a:rPr sz="1200" b="0">
                          <a:solidFill>
                            <a:srgbClr val="B01060"/>
                          </a:solidFill>
                          <a:latin typeface="Consolas"/>
                        </a:rPr>
                        <a:t>Gateway</a:t>
                      </a:r>
                    </a:p>
                  </a:txBody>
                  <a:tcPr>
                    <a:solidFill>
                      <a:srgbClr val="FFFFFF"/>
                    </a:solidFill>
                  </a:tcPr>
                </a:tc>
                <a:tc>
                  <a:txBody>
                    <a:bodyPr lIns="73152" rIns="73152" tIns="27432" bIns="27432"/>
                    <a:lstStyle/>
                    <a:p>
                      <a:r>
                        <a:rPr sz="1200" b="0" i="0">
                          <a:solidFill>
                            <a:srgbClr val="1F2A44"/>
                          </a:solidFill>
                          <a:latin typeface="Calibri"/>
                        </a:rPr>
                        <a:t>Cluster operator</a:t>
                      </a:r>
                    </a:p>
                  </a:txBody>
                  <a:tcPr>
                    <a:solidFill>
                      <a:srgbClr val="FFFFFF"/>
                    </a:solidFill>
                  </a:tcPr>
                </a:tc>
              </a:tr>
              <a:tr h="395478">
                <a:tc>
                  <a:txBody>
                    <a:bodyPr lIns="73152" rIns="73152" tIns="27432" bIns="27432"/>
                    <a:lstStyle/>
                    <a:p>
                      <a:r>
                        <a:rPr sz="1200" b="0" i="0">
                          <a:solidFill>
                            <a:srgbClr val="1F2A44"/>
                          </a:solidFill>
                          <a:latin typeface="Calibri"/>
                        </a:rPr>
                        <a:t>Routes, hosts, paths, splits</a:t>
                      </a:r>
                    </a:p>
                  </a:txBody>
                  <a:tcPr>
                    <a:solidFill>
                      <a:srgbClr val="F3F5F9"/>
                    </a:solidFill>
                  </a:tcPr>
                </a:tc>
                <a:tc>
                  <a:txBody>
                    <a:bodyPr lIns="73152" rIns="73152" tIns="27432" bIns="27432"/>
                    <a:lstStyle/>
                    <a:p>
                      <a:r>
                        <a:rPr sz="1200" b="0">
                          <a:solidFill>
                            <a:srgbClr val="B01060"/>
                          </a:solidFill>
                          <a:latin typeface="Consolas"/>
                        </a:rPr>
                        <a:t>HTTPRoute</a:t>
                      </a:r>
                      <a:r>
                        <a:rPr sz="1200" b="0" i="0">
                          <a:solidFill>
                            <a:srgbClr val="1F2A44"/>
                          </a:solidFill>
                          <a:latin typeface="Calibri"/>
                        </a:rPr>
                        <a:t> / </a:t>
                      </a:r>
                      <a:r>
                        <a:rPr sz="1200" b="0">
                          <a:solidFill>
                            <a:srgbClr val="B01060"/>
                          </a:solidFill>
                          <a:latin typeface="Consolas"/>
                        </a:rPr>
                        <a:t>GRPCRoute</a:t>
                      </a:r>
                      <a:r>
                        <a:rPr sz="1200" b="0" i="0">
                          <a:solidFill>
                            <a:srgbClr val="1F2A44"/>
                          </a:solidFill>
                          <a:latin typeface="Calibri"/>
                        </a:rPr>
                        <a:t> / </a:t>
                      </a:r>
                      <a:r>
                        <a:rPr sz="1200" b="0">
                          <a:solidFill>
                            <a:srgbClr val="B01060"/>
                          </a:solidFill>
                          <a:latin typeface="Consolas"/>
                        </a:rPr>
                        <a:t>TCPRoute</a:t>
                      </a:r>
                    </a:p>
                  </a:txBody>
                  <a:tcPr>
                    <a:solidFill>
                      <a:srgbClr val="F3F5F9"/>
                    </a:solidFill>
                  </a:tcPr>
                </a:tc>
                <a:tc>
                  <a:txBody>
                    <a:bodyPr lIns="73152" rIns="73152" tIns="27432" bIns="27432"/>
                    <a:lstStyle/>
                    <a:p>
                      <a:r>
                        <a:rPr sz="1200" b="0" i="0">
                          <a:solidFill>
                            <a:srgbClr val="1F2A44"/>
                          </a:solidFill>
                          <a:latin typeface="Calibri"/>
                        </a:rPr>
                        <a:t>App developer</a:t>
                      </a:r>
                    </a:p>
                  </a:txBody>
                  <a:tcPr>
                    <a:solidFill>
                      <a:srgbClr val="F3F5F9"/>
                    </a:solidFill>
                  </a:tcPr>
                </a:tc>
              </a:tr>
            </a:tbl>
          </a:graphicData>
        </a:graphic>
      </p:graphicFrame>
      <p:sp>
        <p:nvSpPr>
          <p:cNvPr id="11" name="TextBox 10"/>
          <p:cNvSpPr txBox="1"/>
          <p:nvPr/>
        </p:nvSpPr>
        <p:spPr>
          <a:xfrm>
            <a:off x="457200" y="5634726"/>
            <a:ext cx="11277295" cy="552702"/>
          </a:xfrm>
          <a:prstGeom prst="rect">
            <a:avLst/>
          </a:prstGeom>
          <a:noFill/>
        </p:spPr>
        <p:txBody>
          <a:bodyPr wrap="square" lIns="45720" rIns="45720" tIns="18288" bIns="18288">
            <a:spAutoFit/>
          </a:bodyPr>
          <a:lstStyle/>
          <a:p>
            <a:pPr>
              <a:spcAft>
                <a:spcPts val="200"/>
              </a:spcAft>
            </a:pPr>
            <a:r>
              <a:rPr sz="1400" b="1">
                <a:solidFill>
                  <a:srgbClr val="0078D4"/>
                </a:solidFill>
                <a:latin typeface="Calibri"/>
              </a:rPr>
              <a:t>▸ </a:t>
            </a:r>
            <a:r>
              <a:rPr sz="1400" b="0" i="0">
                <a:solidFill>
                  <a:srgbClr val="1F2A44"/>
                </a:solidFill>
                <a:latin typeface="Calibri"/>
              </a:rPr>
              <a:t>Status is structured (</a:t>
            </a:r>
            <a:r>
              <a:rPr sz="1400" b="0">
                <a:solidFill>
                  <a:srgbClr val="B01060"/>
                </a:solidFill>
                <a:latin typeface="Consolas"/>
              </a:rPr>
              <a:t>conditions</a:t>
            </a:r>
            <a:r>
              <a:rPr sz="1400" b="0" i="0">
                <a:solidFill>
                  <a:srgbClr val="1F2A44"/>
                </a:solidFill>
                <a:latin typeface="Calibri"/>
              </a:rPr>
              <a:t>) — observability built-in</a:t>
            </a:r>
          </a:p>
          <a:p>
            <a:pPr>
              <a:spcAft>
                <a:spcPts val="200"/>
              </a:spcAft>
            </a:pPr>
            <a:r>
              <a:rPr sz="1400" b="1">
                <a:solidFill>
                  <a:srgbClr val="0078D4"/>
                </a:solidFill>
                <a:latin typeface="Calibri"/>
              </a:rPr>
              <a:t>▸ </a:t>
            </a:r>
            <a:r>
              <a:rPr sz="1400" b="0" i="0">
                <a:solidFill>
                  <a:srgbClr val="1F2A44"/>
                </a:solidFill>
                <a:latin typeface="Calibri"/>
              </a:rPr>
              <a:t>Same spec across NGINX, Envoy, Cilium, Azure AGC, GKE, AWS — workload portability</a:t>
            </a:r>
          </a:p>
        </p:txBody>
      </p:sp>
      <p:sp>
        <p:nvSpPr>
          <p:cNvPr id="12" name="Rectangle 11"/>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14" name="TextBox 13"/>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11 /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INGRESS → GATEWAY API</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Ingress vs Gateway API side-by-side</a:t>
            </a:r>
          </a:p>
        </p:txBody>
      </p:sp>
      <p:sp>
        <p:nvSpPr>
          <p:cNvPr id="7" name="Rectangle 6"/>
          <p:cNvSpPr/>
          <p:nvPr/>
        </p:nvSpPr>
        <p:spPr>
          <a:xfrm>
            <a:off x="457200" y="1097280"/>
            <a:ext cx="5455767" cy="4754880"/>
          </a:xfrm>
          <a:prstGeom prst="rect">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5455767" cy="457200"/>
          </a:xfrm>
          <a:prstGeom prst="rect">
            <a:avLst/>
          </a:prstGeom>
          <a:solidFill>
            <a:srgbClr val="606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97280"/>
            <a:ext cx="5455767" cy="457200"/>
          </a:xfrm>
          <a:prstGeom prst="rect">
            <a:avLst/>
          </a:prstGeom>
          <a:noFill/>
        </p:spPr>
        <p:txBody>
          <a:bodyPr wrap="square" lIns="45720" rIns="45720" tIns="18288" bIns="18288" anchor="ctr">
            <a:spAutoFit/>
          </a:bodyPr>
          <a:lstStyle/>
          <a:p>
            <a:pPr algn="ctr"/>
            <a:r>
              <a:rPr sz="1400" b="1" i="0">
                <a:solidFill>
                  <a:srgbClr val="FFFFFF"/>
                </a:solidFill>
                <a:latin typeface="Calibri"/>
              </a:rPr>
              <a:t>Ingress (legacy)</a:t>
            </a:r>
          </a:p>
        </p:txBody>
      </p:sp>
      <p:sp>
        <p:nvSpPr>
          <p:cNvPr id="10" name="TextBox 9"/>
          <p:cNvSpPr txBox="1"/>
          <p:nvPr/>
        </p:nvSpPr>
        <p:spPr>
          <a:xfrm>
            <a:off x="640080" y="1691640"/>
            <a:ext cx="5090007" cy="320040"/>
          </a:xfrm>
          <a:prstGeom prst="rect">
            <a:avLst/>
          </a:prstGeom>
          <a:noFill/>
        </p:spPr>
        <p:txBody>
          <a:bodyPr wrap="square" lIns="45720" rIns="45720" tIns="18288" bIns="18288">
            <a:spAutoFit/>
          </a:bodyPr>
          <a:lstStyle/>
          <a:p>
            <a:pPr algn="l"/>
            <a:r>
              <a:rPr sz="1100" b="0" i="1">
                <a:solidFill>
                  <a:srgbClr val="606E85"/>
                </a:solidFill>
                <a:latin typeface="Calibri"/>
              </a:rPr>
              <a:t>One resource, one persona</a:t>
            </a:r>
          </a:p>
        </p:txBody>
      </p:sp>
      <p:sp>
        <p:nvSpPr>
          <p:cNvPr id="11" name="Rounded Rectangle 10"/>
          <p:cNvSpPr/>
          <p:nvPr/>
        </p:nvSpPr>
        <p:spPr>
          <a:xfrm>
            <a:off x="822960" y="2148840"/>
            <a:ext cx="4724247" cy="1280160"/>
          </a:xfrm>
          <a:prstGeom prst="roundRect">
            <a:avLst>
              <a:gd name="adj" fmla="val 1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148840"/>
            <a:ext cx="4724247" cy="1280160"/>
          </a:xfrm>
          <a:prstGeom prst="rect">
            <a:avLst/>
          </a:prstGeom>
          <a:noFill/>
        </p:spPr>
        <p:txBody>
          <a:bodyPr wrap="square" lIns="45720" rIns="45720" tIns="18288" bIns="18288" anchor="ctr">
            <a:spAutoFit/>
          </a:bodyPr>
          <a:lstStyle/>
          <a:p>
            <a:pPr algn="ctr"/>
            <a:r>
              <a:rPr sz="1300" b="1" i="0">
                <a:solidFill>
                  <a:srgbClr val="FFFFFF"/>
                </a:solidFill>
                <a:latin typeface="Calibri"/>
              </a:rPr>
              <a:t>Ingress</a:t>
            </a:r>
          </a:p>
          <a:p>
            <a:pPr algn="ctr"/>
            <a:r>
              <a:rPr sz="1300" b="1" i="0">
                <a:solidFill>
                  <a:srgbClr val="FFFFFF"/>
                </a:solidFill>
                <a:latin typeface="Calibri"/>
              </a:rPr>
              <a:t>(host, path, TLS, +</a:t>
            </a:r>
          </a:p>
          <a:p>
            <a:pPr algn="ctr"/>
            <a:r>
              <a:rPr sz="1300" b="1" i="0">
                <a:solidFill>
                  <a:srgbClr val="FFFFFF"/>
                </a:solidFill>
                <a:latin typeface="Calibri"/>
              </a:rPr>
              <a:t>vendor annotations)</a:t>
            </a:r>
          </a:p>
        </p:txBody>
      </p:sp>
      <p:cxnSp>
        <p:nvCxnSpPr>
          <p:cNvPr id="13" name="Connector 12"/>
          <p:cNvCxnSpPr/>
          <p:nvPr/>
        </p:nvCxnSpPr>
        <p:spPr>
          <a:xfrm>
            <a:off x="3185083" y="3474720"/>
            <a:ext cx="0" cy="365760"/>
          </a:xfrm>
          <a:prstGeom prst="line">
            <a:avLst/>
          </a:prstGeom>
          <a:ln w="19050">
            <a:solidFill>
              <a:srgbClr val="103A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22960" y="3886200"/>
            <a:ext cx="4724247" cy="73152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886200"/>
            <a:ext cx="4724247" cy="731520"/>
          </a:xfrm>
          <a:prstGeom prst="rect">
            <a:avLst/>
          </a:prstGeom>
          <a:noFill/>
        </p:spPr>
        <p:txBody>
          <a:bodyPr wrap="square" lIns="45720" rIns="45720" tIns="18288" bIns="18288" anchor="ctr">
            <a:spAutoFit/>
          </a:bodyPr>
          <a:lstStyle/>
          <a:p>
            <a:pPr algn="ctr"/>
            <a:r>
              <a:rPr sz="1200" b="1" i="0">
                <a:solidFill>
                  <a:srgbClr val="FFFFFF"/>
                </a:solidFill>
                <a:latin typeface="Calibri"/>
              </a:rPr>
              <a:t>IngressController</a:t>
            </a:r>
          </a:p>
          <a:p>
            <a:pPr algn="ctr"/>
            <a:r>
              <a:rPr sz="1200" b="1" i="0">
                <a:solidFill>
                  <a:srgbClr val="FFFFFF"/>
                </a:solidFill>
                <a:latin typeface="Calibri"/>
              </a:rPr>
              <a:t>(NGINX, Traefik, …)</a:t>
            </a:r>
          </a:p>
        </p:txBody>
      </p:sp>
      <p:sp>
        <p:nvSpPr>
          <p:cNvPr id="16" name="TextBox 15"/>
          <p:cNvSpPr txBox="1"/>
          <p:nvPr/>
        </p:nvSpPr>
        <p:spPr>
          <a:xfrm>
            <a:off x="731520" y="4937760"/>
            <a:ext cx="4907127" cy="822960"/>
          </a:xfrm>
          <a:prstGeom prst="rect">
            <a:avLst/>
          </a:prstGeom>
          <a:noFill/>
        </p:spPr>
        <p:txBody>
          <a:bodyPr wrap="square" lIns="45720" rIns="45720" tIns="18288" bIns="18288">
            <a:spAutoFit/>
          </a:bodyPr>
          <a:lstStyle/>
          <a:p>
            <a:pPr algn="l"/>
            <a:r>
              <a:rPr sz="1100" b="0" i="1">
                <a:solidFill>
                  <a:srgbClr val="606E85"/>
                </a:solidFill>
                <a:latin typeface="Calibri"/>
              </a:rPr>
              <a:t>Cluster-scoped object edited by both platform and app teams.</a:t>
            </a:r>
          </a:p>
          <a:p>
            <a:pPr algn="l"/>
            <a:r>
              <a:rPr sz="1100" b="0" i="1">
                <a:solidFill>
                  <a:srgbClr val="606E85"/>
                </a:solidFill>
                <a:latin typeface="Calibri"/>
              </a:rPr>
              <a:t>Portability via annotation soup.</a:t>
            </a:r>
          </a:p>
        </p:txBody>
      </p:sp>
      <p:sp>
        <p:nvSpPr>
          <p:cNvPr id="17" name="Rectangle 16"/>
          <p:cNvSpPr/>
          <p:nvPr/>
        </p:nvSpPr>
        <p:spPr>
          <a:xfrm>
            <a:off x="6278727" y="1097280"/>
            <a:ext cx="5455767" cy="4754880"/>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8727" y="1097280"/>
            <a:ext cx="5455767" cy="457200"/>
          </a:xfrm>
          <a:prstGeom prst="rect">
            <a:avLst/>
          </a:prstGeom>
          <a:solidFill>
            <a:srgbClr val="2EA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78727" y="1097280"/>
            <a:ext cx="5455767" cy="457200"/>
          </a:xfrm>
          <a:prstGeom prst="rect">
            <a:avLst/>
          </a:prstGeom>
          <a:noFill/>
        </p:spPr>
        <p:txBody>
          <a:bodyPr wrap="square" lIns="45720" rIns="45720" tIns="18288" bIns="18288" anchor="ctr">
            <a:spAutoFit/>
          </a:bodyPr>
          <a:lstStyle/>
          <a:p>
            <a:pPr algn="ctr"/>
            <a:r>
              <a:rPr sz="1400" b="1" i="0">
                <a:solidFill>
                  <a:srgbClr val="FFFFFF"/>
                </a:solidFill>
                <a:latin typeface="Calibri"/>
              </a:rPr>
              <a:t>Gateway API (current)</a:t>
            </a:r>
          </a:p>
        </p:txBody>
      </p:sp>
      <p:sp>
        <p:nvSpPr>
          <p:cNvPr id="20" name="TextBox 19"/>
          <p:cNvSpPr txBox="1"/>
          <p:nvPr/>
        </p:nvSpPr>
        <p:spPr>
          <a:xfrm>
            <a:off x="6461607" y="1691640"/>
            <a:ext cx="5090007" cy="320040"/>
          </a:xfrm>
          <a:prstGeom prst="rect">
            <a:avLst/>
          </a:prstGeom>
          <a:noFill/>
        </p:spPr>
        <p:txBody>
          <a:bodyPr wrap="square" lIns="45720" rIns="45720" tIns="18288" bIns="18288">
            <a:spAutoFit/>
          </a:bodyPr>
          <a:lstStyle/>
          <a:p>
            <a:pPr algn="l"/>
            <a:r>
              <a:rPr sz="1100" b="0" i="1">
                <a:solidFill>
                  <a:srgbClr val="2EA44F"/>
                </a:solidFill>
                <a:latin typeface="Calibri"/>
              </a:rPr>
              <a:t>Three resources, three personas</a:t>
            </a:r>
          </a:p>
        </p:txBody>
      </p:sp>
      <p:sp>
        <p:nvSpPr>
          <p:cNvPr id="21" name="Rounded Rectangle 20"/>
          <p:cNvSpPr/>
          <p:nvPr/>
        </p:nvSpPr>
        <p:spPr>
          <a:xfrm>
            <a:off x="6553047" y="2148840"/>
            <a:ext cx="4907127" cy="68580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3047" y="2148840"/>
            <a:ext cx="4907127" cy="685800"/>
          </a:xfrm>
          <a:prstGeom prst="rect">
            <a:avLst/>
          </a:prstGeom>
          <a:noFill/>
        </p:spPr>
        <p:txBody>
          <a:bodyPr wrap="square" lIns="45720" rIns="45720" tIns="18288" bIns="18288" anchor="ctr">
            <a:spAutoFit/>
          </a:bodyPr>
          <a:lstStyle/>
          <a:p>
            <a:pPr algn="l"/>
            <a:r>
              <a:rPr sz="1300" b="1" i="0">
                <a:solidFill>
                  <a:srgbClr val="FFFFFF"/>
                </a:solidFill>
                <a:latin typeface="Calibri"/>
              </a:rPr>
              <a:t>GatewayClass</a:t>
            </a:r>
          </a:p>
        </p:txBody>
      </p:sp>
      <p:sp>
        <p:nvSpPr>
          <p:cNvPr id="23" name="TextBox 22"/>
          <p:cNvSpPr txBox="1"/>
          <p:nvPr/>
        </p:nvSpPr>
        <p:spPr>
          <a:xfrm>
            <a:off x="9631375" y="2148840"/>
            <a:ext cx="1828800" cy="685800"/>
          </a:xfrm>
          <a:prstGeom prst="rect">
            <a:avLst/>
          </a:prstGeom>
          <a:noFill/>
        </p:spPr>
        <p:txBody>
          <a:bodyPr wrap="square" lIns="45720" rIns="45720" tIns="18288" bIns="18288" anchor="ctr">
            <a:spAutoFit/>
          </a:bodyPr>
          <a:lstStyle/>
          <a:p>
            <a:pPr algn="r"/>
            <a:r>
              <a:rPr sz="1100" b="0" i="1">
                <a:solidFill>
                  <a:srgbClr val="FFFFFF"/>
                </a:solidFill>
                <a:latin typeface="Calibri"/>
              </a:rPr>
              <a:t>Infra provider</a:t>
            </a:r>
          </a:p>
        </p:txBody>
      </p:sp>
      <p:cxnSp>
        <p:nvCxnSpPr>
          <p:cNvPr id="24" name="Connector 23"/>
          <p:cNvCxnSpPr/>
          <p:nvPr/>
        </p:nvCxnSpPr>
        <p:spPr>
          <a:xfrm>
            <a:off x="7284567" y="2834640"/>
            <a:ext cx="0" cy="274320"/>
          </a:xfrm>
          <a:prstGeom prst="line">
            <a:avLst/>
          </a:prstGeom>
          <a:ln w="19050">
            <a:solidFill>
              <a:srgbClr val="2EA4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421727" y="2816352"/>
            <a:ext cx="2743200" cy="274320"/>
          </a:xfrm>
          <a:prstGeom prst="rect">
            <a:avLst/>
          </a:prstGeom>
          <a:noFill/>
        </p:spPr>
        <p:txBody>
          <a:bodyPr wrap="square" lIns="45720" rIns="45720" tIns="18288" bIns="18288" anchor="ctr">
            <a:spAutoFit/>
          </a:bodyPr>
          <a:lstStyle/>
          <a:p>
            <a:pPr algn="l"/>
            <a:r>
              <a:rPr sz="900" b="0" i="1">
                <a:solidFill>
                  <a:srgbClr val="2EA44F"/>
                </a:solidFill>
                <a:latin typeface="Calibri"/>
              </a:rPr>
              <a:t>GatewayClassName ↑</a:t>
            </a:r>
          </a:p>
        </p:txBody>
      </p:sp>
      <p:sp>
        <p:nvSpPr>
          <p:cNvPr id="26" name="Rounded Rectangle 25"/>
          <p:cNvSpPr/>
          <p:nvPr/>
        </p:nvSpPr>
        <p:spPr>
          <a:xfrm>
            <a:off x="6553047" y="3108960"/>
            <a:ext cx="4907127" cy="685800"/>
          </a:xfrm>
          <a:prstGeom prst="roundRect">
            <a:avLst>
              <a:gd name="adj" fmla="val 10000"/>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53047" y="3108960"/>
            <a:ext cx="4907127" cy="685800"/>
          </a:xfrm>
          <a:prstGeom prst="rect">
            <a:avLst/>
          </a:prstGeom>
          <a:noFill/>
        </p:spPr>
        <p:txBody>
          <a:bodyPr wrap="square" lIns="45720" rIns="45720" tIns="18288" bIns="18288" anchor="ctr">
            <a:spAutoFit/>
          </a:bodyPr>
          <a:lstStyle/>
          <a:p>
            <a:pPr algn="l"/>
            <a:r>
              <a:rPr sz="1300" b="1" i="0">
                <a:solidFill>
                  <a:srgbClr val="FFFFFF"/>
                </a:solidFill>
                <a:latin typeface="Calibri"/>
              </a:rPr>
              <a:t>Gateway</a:t>
            </a:r>
          </a:p>
        </p:txBody>
      </p:sp>
      <p:sp>
        <p:nvSpPr>
          <p:cNvPr id="28" name="TextBox 27"/>
          <p:cNvSpPr txBox="1"/>
          <p:nvPr/>
        </p:nvSpPr>
        <p:spPr>
          <a:xfrm>
            <a:off x="9631375" y="3108960"/>
            <a:ext cx="1828800" cy="685800"/>
          </a:xfrm>
          <a:prstGeom prst="rect">
            <a:avLst/>
          </a:prstGeom>
          <a:noFill/>
        </p:spPr>
        <p:txBody>
          <a:bodyPr wrap="square" lIns="45720" rIns="45720" tIns="18288" bIns="18288" anchor="ctr">
            <a:spAutoFit/>
          </a:bodyPr>
          <a:lstStyle/>
          <a:p>
            <a:pPr algn="r"/>
            <a:r>
              <a:rPr sz="1100" b="0" i="1">
                <a:solidFill>
                  <a:srgbClr val="FFFFFF"/>
                </a:solidFill>
                <a:latin typeface="Calibri"/>
              </a:rPr>
              <a:t>Platform team</a:t>
            </a:r>
          </a:p>
        </p:txBody>
      </p:sp>
      <p:cxnSp>
        <p:nvCxnSpPr>
          <p:cNvPr id="29" name="Connector 28"/>
          <p:cNvCxnSpPr/>
          <p:nvPr/>
        </p:nvCxnSpPr>
        <p:spPr>
          <a:xfrm>
            <a:off x="7284567" y="3794760"/>
            <a:ext cx="0" cy="274320"/>
          </a:xfrm>
          <a:prstGeom prst="line">
            <a:avLst/>
          </a:prstGeom>
          <a:ln w="19050">
            <a:solidFill>
              <a:srgbClr val="2EA4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421727" y="3776472"/>
            <a:ext cx="2743200" cy="274320"/>
          </a:xfrm>
          <a:prstGeom prst="rect">
            <a:avLst/>
          </a:prstGeom>
          <a:noFill/>
        </p:spPr>
        <p:txBody>
          <a:bodyPr wrap="square" lIns="45720" rIns="45720" tIns="18288" bIns="18288" anchor="ctr">
            <a:spAutoFit/>
          </a:bodyPr>
          <a:lstStyle/>
          <a:p>
            <a:pPr algn="l"/>
            <a:r>
              <a:rPr sz="900" b="0" i="1">
                <a:solidFill>
                  <a:srgbClr val="2EA44F"/>
                </a:solidFill>
                <a:latin typeface="Calibri"/>
              </a:rPr>
              <a:t>parentRefs ↑</a:t>
            </a:r>
          </a:p>
        </p:txBody>
      </p:sp>
      <p:sp>
        <p:nvSpPr>
          <p:cNvPr id="31" name="Rounded Rectangle 30"/>
          <p:cNvSpPr/>
          <p:nvPr/>
        </p:nvSpPr>
        <p:spPr>
          <a:xfrm>
            <a:off x="6553047" y="4069080"/>
            <a:ext cx="4907127" cy="685800"/>
          </a:xfrm>
          <a:prstGeom prst="roundRect">
            <a:avLst>
              <a:gd name="adj" fmla="val 1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53047" y="4069080"/>
            <a:ext cx="4907127" cy="685800"/>
          </a:xfrm>
          <a:prstGeom prst="rect">
            <a:avLst/>
          </a:prstGeom>
          <a:noFill/>
        </p:spPr>
        <p:txBody>
          <a:bodyPr wrap="square" lIns="45720" rIns="45720" tIns="18288" bIns="18288" anchor="ctr">
            <a:spAutoFit/>
          </a:bodyPr>
          <a:lstStyle/>
          <a:p>
            <a:pPr algn="l"/>
            <a:r>
              <a:rPr sz="1300" b="1" i="0">
                <a:solidFill>
                  <a:srgbClr val="FFFFFF"/>
                </a:solidFill>
                <a:latin typeface="Calibri"/>
              </a:rPr>
              <a:t>HTTPRoute</a:t>
            </a:r>
          </a:p>
        </p:txBody>
      </p:sp>
      <p:sp>
        <p:nvSpPr>
          <p:cNvPr id="33" name="TextBox 32"/>
          <p:cNvSpPr txBox="1"/>
          <p:nvPr/>
        </p:nvSpPr>
        <p:spPr>
          <a:xfrm>
            <a:off x="9631375" y="4069080"/>
            <a:ext cx="1828800" cy="685800"/>
          </a:xfrm>
          <a:prstGeom prst="rect">
            <a:avLst/>
          </a:prstGeom>
          <a:noFill/>
        </p:spPr>
        <p:txBody>
          <a:bodyPr wrap="square" lIns="45720" rIns="45720" tIns="18288" bIns="18288" anchor="ctr">
            <a:spAutoFit/>
          </a:bodyPr>
          <a:lstStyle/>
          <a:p>
            <a:pPr algn="r"/>
            <a:r>
              <a:rPr sz="1100" b="0" i="1">
                <a:solidFill>
                  <a:srgbClr val="FFFFFF"/>
                </a:solidFill>
                <a:latin typeface="Calibri"/>
              </a:rPr>
              <a:t>App developer</a:t>
            </a:r>
          </a:p>
        </p:txBody>
      </p:sp>
      <p:sp>
        <p:nvSpPr>
          <p:cNvPr id="34" name="Rectangle 33"/>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36" name="TextBox 35"/>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12 /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INGRESS → GATEWAY API</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Gateway API with Envoy Gateway on AKS</a:t>
            </a:r>
          </a:p>
        </p:txBody>
      </p:sp>
      <p:sp>
        <p:nvSpPr>
          <p:cNvPr id="7" name="TextBox 6"/>
          <p:cNvSpPr txBox="1"/>
          <p:nvPr/>
        </p:nvSpPr>
        <p:spPr>
          <a:xfrm>
            <a:off x="457200" y="1097280"/>
            <a:ext cx="11277295" cy="640080"/>
          </a:xfrm>
          <a:prstGeom prst="rect">
            <a:avLst/>
          </a:prstGeom>
          <a:noFill/>
        </p:spPr>
        <p:txBody>
          <a:bodyPr wrap="square" lIns="45720" rIns="45720" tIns="18288" bIns="18288">
            <a:spAutoFit/>
          </a:bodyPr>
          <a:lstStyle/>
          <a:p>
            <a:pPr algn="l"/>
            <a:r>
              <a:rPr sz="1500" b="0" i="1">
                <a:solidFill>
                  <a:srgbClr val="103A6E"/>
                </a:solidFill>
                <a:latin typeface="Calibri"/>
              </a:rPr>
              <a:t>Run the Envoy Gateway demo through the repo's split deployment phases: secure AKS infrastructure, source-hash image build, then Gateway API resources applied to the cluster.</a:t>
            </a:r>
          </a:p>
        </p:txBody>
      </p:sp>
      <p:sp>
        <p:nvSpPr>
          <p:cNvPr id="8" name="TextBox 7"/>
          <p:cNvSpPr txBox="1"/>
          <p:nvPr/>
        </p:nvSpPr>
        <p:spPr>
          <a:xfrm>
            <a:off x="457200" y="1783080"/>
            <a:ext cx="6858000" cy="320040"/>
          </a:xfrm>
          <a:prstGeom prst="rect">
            <a:avLst/>
          </a:prstGeom>
          <a:noFill/>
        </p:spPr>
        <p:txBody>
          <a:bodyPr wrap="square" lIns="45720" rIns="45720" tIns="18288" bIns="18288">
            <a:spAutoFit/>
          </a:bodyPr>
          <a:lstStyle/>
          <a:p>
            <a:pPr algn="l"/>
            <a:r>
              <a:rPr sz="1000" b="1" i="0">
                <a:solidFill>
                  <a:srgbClr val="0078D4"/>
                </a:solidFill>
                <a:latin typeface="Calibri"/>
              </a:rPr>
              <a:t>STEPS PERFORMED BY THE SCRIPT</a:t>
            </a:r>
          </a:p>
        </p:txBody>
      </p:sp>
      <p:sp>
        <p:nvSpPr>
          <p:cNvPr id="9" name="Oval 8"/>
          <p:cNvSpPr/>
          <p:nvPr/>
        </p:nvSpPr>
        <p:spPr>
          <a:xfrm>
            <a:off x="457200" y="2148840"/>
            <a:ext cx="384048" cy="384048"/>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148840"/>
            <a:ext cx="384048" cy="384048"/>
          </a:xfrm>
          <a:prstGeom prst="rect">
            <a:avLst/>
          </a:prstGeom>
          <a:noFill/>
        </p:spPr>
        <p:txBody>
          <a:bodyPr wrap="square" lIns="45720" rIns="45720" tIns="18288" bIns="18288" anchor="ctr">
            <a:spAutoFit/>
          </a:bodyPr>
          <a:lstStyle/>
          <a:p>
            <a:pPr algn="ctr"/>
            <a:r>
              <a:rPr sz="1400" b="1" i="0">
                <a:solidFill>
                  <a:srgbClr val="FFFFFF"/>
                </a:solidFill>
                <a:latin typeface="Calibri"/>
              </a:rPr>
              <a:t>1</a:t>
            </a:r>
          </a:p>
        </p:txBody>
      </p:sp>
      <p:sp>
        <p:nvSpPr>
          <p:cNvPr id="11" name="TextBox 10"/>
          <p:cNvSpPr txBox="1"/>
          <p:nvPr/>
        </p:nvSpPr>
        <p:spPr>
          <a:xfrm>
            <a:off x="960120" y="2167128"/>
            <a:ext cx="6309360" cy="411480"/>
          </a:xfrm>
          <a:prstGeom prst="rect">
            <a:avLst/>
          </a:prstGeom>
          <a:noFill/>
        </p:spPr>
        <p:txBody>
          <a:bodyPr wrap="square" lIns="45720" rIns="45720" tIns="18288" bIns="18288" anchor="ctr">
            <a:spAutoFit/>
          </a:bodyPr>
          <a:lstStyle/>
          <a:p>
            <a:pPr algn="l"/>
            <a:r>
              <a:rPr sz="1300" b="0" i="0">
                <a:solidFill>
                  <a:srgbClr val="1F2A44"/>
                </a:solidFill>
                <a:latin typeface="Calibri"/>
              </a:rPr>
              <a:t>Deploy AKS/ACR infra with Bicep, Entra ID + Azure RBAC, and local accounts disabled</a:t>
            </a:r>
          </a:p>
        </p:txBody>
      </p:sp>
      <p:sp>
        <p:nvSpPr>
          <p:cNvPr id="12" name="Oval 11"/>
          <p:cNvSpPr/>
          <p:nvPr/>
        </p:nvSpPr>
        <p:spPr>
          <a:xfrm>
            <a:off x="457200" y="2606040"/>
            <a:ext cx="384048" cy="384048"/>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606040"/>
            <a:ext cx="384048" cy="384048"/>
          </a:xfrm>
          <a:prstGeom prst="rect">
            <a:avLst/>
          </a:prstGeom>
          <a:noFill/>
        </p:spPr>
        <p:txBody>
          <a:bodyPr wrap="square" lIns="45720" rIns="45720" tIns="18288" bIns="18288" anchor="ctr">
            <a:spAutoFit/>
          </a:bodyPr>
          <a:lstStyle/>
          <a:p>
            <a:pPr algn="ctr"/>
            <a:r>
              <a:rPr sz="1400" b="1" i="0">
                <a:solidFill>
                  <a:srgbClr val="FFFFFF"/>
                </a:solidFill>
                <a:latin typeface="Calibri"/>
              </a:rPr>
              <a:t>2</a:t>
            </a:r>
          </a:p>
        </p:txBody>
      </p:sp>
      <p:sp>
        <p:nvSpPr>
          <p:cNvPr id="14" name="TextBox 13"/>
          <p:cNvSpPr txBox="1"/>
          <p:nvPr/>
        </p:nvSpPr>
        <p:spPr>
          <a:xfrm>
            <a:off x="960120" y="2624328"/>
            <a:ext cx="6309360" cy="411480"/>
          </a:xfrm>
          <a:prstGeom prst="rect">
            <a:avLst/>
          </a:prstGeom>
          <a:noFill/>
        </p:spPr>
        <p:txBody>
          <a:bodyPr wrap="square" lIns="45720" rIns="45720" tIns="18288" bIns="18288" anchor="ctr">
            <a:spAutoFit/>
          </a:bodyPr>
          <a:lstStyle/>
          <a:p>
            <a:pPr algn="l"/>
            <a:r>
              <a:rPr sz="1300" b="0" i="0">
                <a:solidFill>
                  <a:srgbClr val="1F2A44"/>
                </a:solidFill>
                <a:latin typeface="Calibri"/>
              </a:rPr>
              <a:t>Build the sample app remotely only when the source-content image tag is missing</a:t>
            </a:r>
          </a:p>
        </p:txBody>
      </p:sp>
      <p:sp>
        <p:nvSpPr>
          <p:cNvPr id="15" name="Oval 14"/>
          <p:cNvSpPr/>
          <p:nvPr/>
        </p:nvSpPr>
        <p:spPr>
          <a:xfrm>
            <a:off x="457200" y="3063240"/>
            <a:ext cx="384048" cy="384048"/>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063240"/>
            <a:ext cx="384048" cy="384048"/>
          </a:xfrm>
          <a:prstGeom prst="rect">
            <a:avLst/>
          </a:prstGeom>
          <a:noFill/>
        </p:spPr>
        <p:txBody>
          <a:bodyPr wrap="square" lIns="45720" rIns="45720" tIns="18288" bIns="18288" anchor="ctr">
            <a:spAutoFit/>
          </a:bodyPr>
          <a:lstStyle/>
          <a:p>
            <a:pPr algn="ctr"/>
            <a:r>
              <a:rPr sz="1400" b="1" i="0">
                <a:solidFill>
                  <a:srgbClr val="FFFFFF"/>
                </a:solidFill>
                <a:latin typeface="Calibri"/>
              </a:rPr>
              <a:t>3</a:t>
            </a:r>
          </a:p>
        </p:txBody>
      </p:sp>
      <p:sp>
        <p:nvSpPr>
          <p:cNvPr id="17" name="TextBox 16"/>
          <p:cNvSpPr txBox="1"/>
          <p:nvPr/>
        </p:nvSpPr>
        <p:spPr>
          <a:xfrm>
            <a:off x="960120" y="3081528"/>
            <a:ext cx="6309360" cy="411480"/>
          </a:xfrm>
          <a:prstGeom prst="rect">
            <a:avLst/>
          </a:prstGeom>
          <a:noFill/>
        </p:spPr>
        <p:txBody>
          <a:bodyPr wrap="square" lIns="45720" rIns="45720" tIns="18288" bIns="18288" anchor="ctr">
            <a:spAutoFit/>
          </a:bodyPr>
          <a:lstStyle/>
          <a:p>
            <a:pPr algn="l"/>
            <a:r>
              <a:rPr sz="1300" b="0" i="0">
                <a:solidFill>
                  <a:srgbClr val="1F2A44"/>
                </a:solidFill>
                <a:latin typeface="Calibri"/>
              </a:rPr>
              <a:t>Install Envoy Gateway v1.2.3 and deploy the Gateway/HTTPRoute/application manifests</a:t>
            </a:r>
          </a:p>
        </p:txBody>
      </p:sp>
      <p:sp>
        <p:nvSpPr>
          <p:cNvPr id="18" name="Rounded Rectangle 17"/>
          <p:cNvSpPr/>
          <p:nvPr/>
        </p:nvSpPr>
        <p:spPr>
          <a:xfrm>
            <a:off x="7589520" y="1783080"/>
            <a:ext cx="4144975" cy="2377440"/>
          </a:xfrm>
          <a:prstGeom prst="roundRect">
            <a:avLst>
              <a:gd name="adj" fmla="val 10000"/>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89520" y="1783080"/>
            <a:ext cx="4144975" cy="411480"/>
          </a:xfrm>
          <a:prstGeom prst="rect">
            <a:avLst/>
          </a:prstGeom>
          <a:solidFill>
            <a:srgbClr val="2EA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1783080"/>
            <a:ext cx="4144975" cy="411480"/>
          </a:xfrm>
          <a:prstGeom prst="rect">
            <a:avLst/>
          </a:prstGeom>
          <a:noFill/>
        </p:spPr>
        <p:txBody>
          <a:bodyPr wrap="square" lIns="45720" rIns="45720" tIns="18288" bIns="18288" anchor="ctr">
            <a:spAutoFit/>
          </a:bodyPr>
          <a:lstStyle/>
          <a:p>
            <a:pPr algn="l"/>
            <a:r>
              <a:rPr sz="1100" b="1" i="0">
                <a:solidFill>
                  <a:srgbClr val="FFFFFF"/>
                </a:solidFill>
                <a:latin typeface="Calibri"/>
              </a:rPr>
              <a:t>  ✅  YOU END UP WITH</a:t>
            </a:r>
          </a:p>
        </p:txBody>
      </p:sp>
      <p:sp>
        <p:nvSpPr>
          <p:cNvPr id="21" name="Oval 20"/>
          <p:cNvSpPr/>
          <p:nvPr/>
        </p:nvSpPr>
        <p:spPr>
          <a:xfrm>
            <a:off x="7772400" y="2395728"/>
            <a:ext cx="100584" cy="100584"/>
          </a:xfrm>
          <a:prstGeom prst="ellipse">
            <a:avLst/>
          </a:prstGeom>
          <a:solidFill>
            <a:srgbClr val="2EA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01000" y="2286000"/>
            <a:ext cx="3642055" cy="411480"/>
          </a:xfrm>
          <a:prstGeom prst="rect">
            <a:avLst/>
          </a:prstGeom>
          <a:noFill/>
        </p:spPr>
        <p:txBody>
          <a:bodyPr wrap="square" lIns="45720" rIns="45720" tIns="18288" bIns="18288" anchor="ctr">
            <a:spAutoFit/>
          </a:bodyPr>
          <a:lstStyle/>
          <a:p>
            <a:pPr algn="l"/>
            <a:r>
              <a:rPr sz="1200" b="0" i="0">
                <a:solidFill>
                  <a:srgbClr val="1F2A44"/>
                </a:solidFill>
                <a:latin typeface="Calibri"/>
              </a:rPr>
              <a:t>AKS/ACR infra with Entra ID + Azure RBAC</a:t>
            </a:r>
          </a:p>
        </p:txBody>
      </p:sp>
      <p:sp>
        <p:nvSpPr>
          <p:cNvPr id="23" name="Oval 22"/>
          <p:cNvSpPr/>
          <p:nvPr/>
        </p:nvSpPr>
        <p:spPr>
          <a:xfrm>
            <a:off x="7772400" y="2807208"/>
            <a:ext cx="100584" cy="100584"/>
          </a:xfrm>
          <a:prstGeom prst="ellipse">
            <a:avLst/>
          </a:prstGeom>
          <a:solidFill>
            <a:srgbClr val="2EA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0" y="2697480"/>
            <a:ext cx="3642055" cy="411480"/>
          </a:xfrm>
          <a:prstGeom prst="rect">
            <a:avLst/>
          </a:prstGeom>
          <a:noFill/>
        </p:spPr>
        <p:txBody>
          <a:bodyPr wrap="square" lIns="45720" rIns="45720" tIns="18288" bIns="18288" anchor="ctr">
            <a:spAutoFit/>
          </a:bodyPr>
          <a:lstStyle/>
          <a:p>
            <a:pPr algn="l"/>
            <a:r>
              <a:rPr sz="1200" b="0" i="0">
                <a:solidFill>
                  <a:srgbClr val="1F2A44"/>
                </a:solidFill>
                <a:latin typeface="Calibri"/>
              </a:rPr>
              <a:t>Local AKS accounts disabled; no admin kubeconfig dependency</a:t>
            </a:r>
          </a:p>
        </p:txBody>
      </p:sp>
      <p:sp>
        <p:nvSpPr>
          <p:cNvPr id="25" name="Oval 24"/>
          <p:cNvSpPr/>
          <p:nvPr/>
        </p:nvSpPr>
        <p:spPr>
          <a:xfrm>
            <a:off x="7772400" y="3218688"/>
            <a:ext cx="100584" cy="100584"/>
          </a:xfrm>
          <a:prstGeom prst="ellipse">
            <a:avLst/>
          </a:prstGeom>
          <a:solidFill>
            <a:srgbClr val="2EA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01000" y="3108960"/>
            <a:ext cx="3642055" cy="411480"/>
          </a:xfrm>
          <a:prstGeom prst="rect">
            <a:avLst/>
          </a:prstGeom>
          <a:noFill/>
        </p:spPr>
        <p:txBody>
          <a:bodyPr wrap="square" lIns="45720" rIns="45720" tIns="18288" bIns="18288" anchor="ctr">
            <a:spAutoFit/>
          </a:bodyPr>
          <a:lstStyle/>
          <a:p>
            <a:pPr algn="l"/>
            <a:r>
              <a:rPr sz="1200" b="0" i="0">
                <a:solidFill>
                  <a:srgbClr val="1F2A44"/>
                </a:solidFill>
                <a:latin typeface="Calibri"/>
              </a:rPr>
              <a:t>Envoy Gateway v1.2.3 with GatewayClass/envoy-gateway</a:t>
            </a:r>
          </a:p>
        </p:txBody>
      </p:sp>
      <p:sp>
        <p:nvSpPr>
          <p:cNvPr id="27" name="Oval 26"/>
          <p:cNvSpPr/>
          <p:nvPr/>
        </p:nvSpPr>
        <p:spPr>
          <a:xfrm>
            <a:off x="7772400" y="3630168"/>
            <a:ext cx="100584" cy="100584"/>
          </a:xfrm>
          <a:prstGeom prst="ellipse">
            <a:avLst/>
          </a:prstGeom>
          <a:solidFill>
            <a:srgbClr val="2EA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01000" y="3520440"/>
            <a:ext cx="3642055" cy="411480"/>
          </a:xfrm>
          <a:prstGeom prst="rect">
            <a:avLst/>
          </a:prstGeom>
          <a:noFill/>
        </p:spPr>
        <p:txBody>
          <a:bodyPr wrap="square" lIns="45720" rIns="45720" tIns="18288" bIns="18288" anchor="ctr">
            <a:spAutoFit/>
          </a:bodyPr>
          <a:lstStyle/>
          <a:p>
            <a:pPr algn="l"/>
            <a:r>
              <a:rPr sz="1200" b="0" i="0">
                <a:solidFill>
                  <a:srgbClr val="1F2A44"/>
                </a:solidFill>
                <a:latin typeface="Calibri"/>
              </a:rPr>
              <a:t>Gateway/HTTPRoute in default serving the sample app</a:t>
            </a:r>
          </a:p>
        </p:txBody>
      </p:sp>
      <p:sp>
        <p:nvSpPr>
          <p:cNvPr id="29" name="Rounded Rectangle 28"/>
          <p:cNvSpPr/>
          <p:nvPr/>
        </p:nvSpPr>
        <p:spPr>
          <a:xfrm>
            <a:off x="7589520" y="4389120"/>
            <a:ext cx="4144975" cy="1645920"/>
          </a:xfrm>
          <a:prstGeom prst="roundRect">
            <a:avLst>
              <a:gd name="adj" fmla="val 10000"/>
            </a:avLst>
          </a:prstGeom>
          <a:solidFill>
            <a:srgbClr val="1E1E2E"/>
          </a:solidFill>
          <a:ln>
            <a:solidFill>
              <a:srgbClr val="E81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18120" y="4572000"/>
            <a:ext cx="3687775" cy="320040"/>
          </a:xfrm>
          <a:prstGeom prst="rect">
            <a:avLst/>
          </a:prstGeom>
          <a:noFill/>
        </p:spPr>
        <p:txBody>
          <a:bodyPr wrap="square" lIns="45720" rIns="45720" tIns="18288" bIns="18288">
            <a:spAutoFit/>
          </a:bodyPr>
          <a:lstStyle/>
          <a:p>
            <a:pPr algn="l"/>
            <a:r>
              <a:rPr sz="1100" b="1" i="0">
                <a:solidFill>
                  <a:srgbClr val="E81E4F"/>
                </a:solidFill>
                <a:latin typeface="Calibri"/>
              </a:rPr>
              <a:t>📜  FULL AZURE CLI SCRIPT</a:t>
            </a:r>
          </a:p>
        </p:txBody>
      </p:sp>
      <p:sp>
        <p:nvSpPr>
          <p:cNvPr id="31" name="TextBox 30"/>
          <p:cNvSpPr txBox="1"/>
          <p:nvPr/>
        </p:nvSpPr>
        <p:spPr>
          <a:xfrm>
            <a:off x="7818120" y="4892040"/>
            <a:ext cx="3687775" cy="1097280"/>
          </a:xfrm>
          <a:prstGeom prst="rect">
            <a:avLst/>
          </a:prstGeom>
          <a:noFill/>
        </p:spPr>
        <p:txBody>
          <a:bodyPr wrap="square" lIns="45720" rIns="45720" tIns="18288" bIns="18288">
            <a:spAutoFit/>
          </a:bodyPr>
          <a:lstStyle/>
          <a:p>
            <a:pPr algn="l"/>
            <a:r>
              <a:rPr sz="1200" b="0" i="0">
                <a:solidFill>
                  <a:srgbClr val="E6E6E6"/>
                </a:solidFill>
                <a:latin typeface="Calibri"/>
              </a:rPr>
              <a:t>The complete, copy-pasteable script lives in the</a:t>
            </a:r>
          </a:p>
          <a:p>
            <a:pPr algn="l"/>
            <a:r>
              <a:rPr sz="1200" b="0" i="0">
                <a:solidFill>
                  <a:srgbClr val="E6E6E6"/>
                </a:solidFill>
                <a:latin typeface="Calibri"/>
              </a:rPr>
              <a:t>speaker notes of this slide.</a:t>
            </a:r>
          </a:p>
          <a:p>
            <a:pPr algn="l"/>
            <a:r>
              <a:rPr sz="1200" b="0" i="0">
                <a:solidFill>
                  <a:srgbClr val="E6E6E6"/>
                </a:solidFill>
                <a:latin typeface="Calibri"/>
              </a:rPr>
              <a:t/>
            </a:r>
          </a:p>
          <a:p>
            <a:pPr algn="l"/>
            <a:r>
              <a:rPr sz="1200" b="0" i="0">
                <a:solidFill>
                  <a:srgbClr val="E6E6E6"/>
                </a:solidFill>
                <a:latin typeface="Calibri"/>
              </a:rPr>
              <a:t>Press  Alt+F5  to open Presenter view</a:t>
            </a:r>
          </a:p>
          <a:p>
            <a:pPr algn="l"/>
            <a:r>
              <a:rPr sz="1200" b="0" i="0">
                <a:solidFill>
                  <a:srgbClr val="E6E6E6"/>
                </a:solidFill>
                <a:latin typeface="Calibri"/>
              </a:rPr>
              <a:t>and copy from the notes pane.</a:t>
            </a:r>
          </a:p>
        </p:txBody>
      </p:sp>
      <p:sp>
        <p:nvSpPr>
          <p:cNvPr id="32" name="Rectangle 31"/>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34" name="Rounded Rectangle 33"/>
          <p:cNvSpPr/>
          <p:nvPr/>
        </p:nvSpPr>
        <p:spPr>
          <a:xfrm>
            <a:off x="10362895" y="6601968"/>
            <a:ext cx="1463040" cy="219456"/>
          </a:xfrm>
          <a:prstGeom prst="roundRect">
            <a:avLst>
              <a:gd name="adj" fmla="val 10000"/>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62895" y="6601968"/>
            <a:ext cx="1463040" cy="219456"/>
          </a:xfrm>
          <a:prstGeom prst="rect">
            <a:avLst/>
          </a:prstGeom>
          <a:noFill/>
        </p:spPr>
        <p:txBody>
          <a:bodyPr wrap="square" lIns="45720" rIns="45720" tIns="18288" bIns="18288" anchor="ctr">
            <a:spAutoFit/>
          </a:bodyPr>
          <a:lstStyle/>
          <a:p>
            <a:pPr algn="ctr"/>
            <a:r>
              <a:rPr sz="900" b="1" i="0">
                <a:solidFill>
                  <a:srgbClr val="FFFFFF"/>
                </a:solidFill>
                <a:latin typeface="Calibri"/>
              </a:rPr>
              <a:t>🛠  HANDS-ON</a:t>
            </a:r>
          </a:p>
        </p:txBody>
      </p:sp>
      <p:sp>
        <p:nvSpPr>
          <p:cNvPr id="36" name="TextBox 35"/>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13 / 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INGRESS → GATEWAY API</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Application Gateway for Containers (AGC)</a:t>
            </a:r>
          </a:p>
        </p:txBody>
      </p:sp>
      <p:sp>
        <p:nvSpPr>
          <p:cNvPr id="7" name="TextBox 6"/>
          <p:cNvSpPr txBox="1"/>
          <p:nvPr/>
        </p:nvSpPr>
        <p:spPr>
          <a:xfrm>
            <a:off x="457200" y="1097280"/>
            <a:ext cx="11277295" cy="1797297"/>
          </a:xfrm>
          <a:prstGeom prst="rect">
            <a:avLst/>
          </a:prstGeom>
          <a:noFill/>
        </p:spPr>
        <p:txBody>
          <a:bodyPr wrap="square" lIns="45720" rIns="45720" tIns="18288" bIns="18288">
            <a:spAutoFit/>
          </a:bodyPr>
          <a:lstStyle/>
          <a:p>
            <a:pPr>
              <a:spcAft>
                <a:spcPts val="200"/>
              </a:spcAft>
            </a:pPr>
            <a:r>
              <a:rPr sz="1400" b="1" i="0">
                <a:solidFill>
                  <a:srgbClr val="1F2A44"/>
                </a:solidFill>
                <a:latin typeface="Calibri"/>
              </a:rPr>
              <a:t>What it is</a:t>
            </a:r>
          </a:p>
          <a:p>
            <a:pPr>
              <a:spcAft>
                <a:spcPts val="200"/>
              </a:spcAft>
            </a:pPr>
            <a:r>
              <a:rPr sz="1400" b="1">
                <a:solidFill>
                  <a:srgbClr val="0078D4"/>
                </a:solidFill>
                <a:latin typeface="Calibri"/>
              </a:rPr>
              <a:t>▸ </a:t>
            </a:r>
            <a:r>
              <a:rPr sz="1400" b="0" i="0">
                <a:solidFill>
                  <a:srgbClr val="1F2A44"/>
                </a:solidFill>
                <a:latin typeface="Calibri"/>
              </a:rPr>
              <a:t>Azure-managed L7 load balancer, evolution of Application Gateway</a:t>
            </a:r>
          </a:p>
          <a:p>
            <a:pPr>
              <a:spcAft>
                <a:spcPts val="200"/>
              </a:spcAft>
            </a:pPr>
            <a:r>
              <a:rPr sz="1400" b="1">
                <a:solidFill>
                  <a:srgbClr val="0078D4"/>
                </a:solidFill>
                <a:latin typeface="Calibri"/>
              </a:rPr>
              <a:t>▸ </a:t>
            </a:r>
            <a:r>
              <a:rPr sz="1400" b="0" i="0">
                <a:solidFill>
                  <a:srgbClr val="1F2A44"/>
                </a:solidFill>
                <a:latin typeface="Calibri"/>
              </a:rPr>
              <a:t>Native Gateway API implementation (</a:t>
            </a:r>
            <a:r>
              <a:rPr sz="1400" b="0">
                <a:solidFill>
                  <a:srgbClr val="B01060"/>
                </a:solidFill>
                <a:latin typeface="Consolas"/>
              </a:rPr>
              <a:t>GatewayClass: azure-alb-external</a:t>
            </a:r>
            <a:r>
              <a:rPr sz="1400" b="0" i="0">
                <a:solidFill>
                  <a:srgbClr val="1F2A44"/>
                </a:solidFill>
                <a:latin typeface="Calibri"/>
              </a:rPr>
              <a:t>)</a:t>
            </a:r>
          </a:p>
          <a:p>
            <a:pPr>
              <a:spcAft>
                <a:spcPts val="200"/>
              </a:spcAft>
            </a:pPr>
            <a:r>
              <a:rPr sz="1400" b="1">
                <a:solidFill>
                  <a:srgbClr val="0078D4"/>
                </a:solidFill>
                <a:latin typeface="Calibri"/>
              </a:rPr>
              <a:t>▸ </a:t>
            </a:r>
            <a:r>
              <a:rPr sz="1400" b="0" i="0">
                <a:solidFill>
                  <a:srgbClr val="1F2A44"/>
                </a:solidFill>
                <a:latin typeface="Calibri"/>
              </a:rPr>
              <a:t>Replaces AGIC (Ingress-based) for new workloads</a:t>
            </a:r>
          </a:p>
          <a:p>
            <a:pPr>
              <a:spcAft>
                <a:spcPts val="200"/>
              </a:spcAft>
            </a:pPr>
            <a:r>
              <a:rPr sz="1400" b="1">
                <a:solidFill>
                  <a:srgbClr val="0078D4"/>
                </a:solidFill>
                <a:latin typeface="Calibri"/>
              </a:rPr>
              <a:t>▸ </a:t>
            </a:r>
            <a:r>
              <a:rPr sz="1400" b="0" i="0">
                <a:solidFill>
                  <a:srgbClr val="1F2A44"/>
                </a:solidFill>
                <a:latin typeface="Calibri"/>
              </a:rPr>
              <a:t>WAF, mTLS to backends, HTTP/2 + gRPC, path/header routing, weighted splits</a:t>
            </a:r>
          </a:p>
          <a:p>
            <a:pPr>
              <a:spcAft>
                <a:spcPts val="200"/>
              </a:spcAft>
            </a:pPr>
            <a:r>
              <a:rPr sz="1400" b="1">
                <a:solidFill>
                  <a:srgbClr val="0078D4"/>
                </a:solidFill>
                <a:latin typeface="Calibri"/>
              </a:rPr>
              <a:t>▸ </a:t>
            </a:r>
            <a:r>
              <a:rPr sz="1400" b="0" i="0">
                <a:solidFill>
                  <a:srgbClr val="1F2A44"/>
                </a:solidFill>
                <a:latin typeface="Calibri"/>
              </a:rPr>
              <a:t>Current demo installs ALB Controller by Helm; it does </a:t>
            </a:r>
            <a:r>
              <a:rPr sz="1400" b="1" i="0">
                <a:solidFill>
                  <a:srgbClr val="1F2A44"/>
                </a:solidFill>
                <a:latin typeface="Calibri"/>
              </a:rPr>
              <a:t>not</a:t>
            </a:r>
            <a:r>
              <a:rPr sz="1400" b="0" i="0">
                <a:solidFill>
                  <a:srgbClr val="1F2A44"/>
                </a:solidFill>
                <a:latin typeface="Calibri"/>
              </a:rPr>
              <a:t> use AKS Web App Routing / </a:t>
            </a:r>
            <a:r>
              <a:rPr sz="1400" b="0">
                <a:solidFill>
                  <a:srgbClr val="B01060"/>
                </a:solidFill>
                <a:latin typeface="Consolas"/>
              </a:rPr>
              <a:t>az aks approuting</a:t>
            </a:r>
          </a:p>
        </p:txBody>
      </p:sp>
      <p:sp>
        <p:nvSpPr>
          <p:cNvPr id="8" name="TextBox 7"/>
          <p:cNvSpPr txBox="1"/>
          <p:nvPr/>
        </p:nvSpPr>
        <p:spPr>
          <a:xfrm>
            <a:off x="457200" y="2949441"/>
            <a:ext cx="11277295" cy="303783"/>
          </a:xfrm>
          <a:prstGeom prst="rect">
            <a:avLst/>
          </a:prstGeom>
          <a:noFill/>
        </p:spPr>
        <p:txBody>
          <a:bodyPr wrap="square" lIns="45720" rIns="45720" tIns="18288" bIns="18288">
            <a:spAutoFit/>
          </a:bodyPr>
          <a:lstStyle/>
          <a:p>
            <a:pPr>
              <a:spcAft>
                <a:spcPts val="200"/>
              </a:spcAft>
            </a:pPr>
            <a:r>
              <a:rPr sz="1400" b="1" i="0">
                <a:solidFill>
                  <a:srgbClr val="1F2A44"/>
                </a:solidFill>
                <a:latin typeface="Calibri"/>
              </a:rPr>
              <a:t>How it "jacks into" the cluster</a:t>
            </a:r>
          </a:p>
        </p:txBody>
      </p:sp>
      <p:sp>
        <p:nvSpPr>
          <p:cNvPr id="9" name="Rectangle 8"/>
          <p:cNvSpPr/>
          <p:nvPr/>
        </p:nvSpPr>
        <p:spPr>
          <a:xfrm>
            <a:off x="457200" y="3308088"/>
            <a:ext cx="11277295" cy="3249930"/>
          </a:xfrm>
          <a:prstGeom prst="rect">
            <a:avLst/>
          </a:prstGeom>
          <a:solidFill>
            <a:srgbClr val="1E1E2E"/>
          </a:solidFill>
          <a:ln>
            <a:solidFill>
              <a:srgbClr val="103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3308088"/>
            <a:ext cx="64008" cy="324993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381240"/>
            <a:ext cx="11048695" cy="3103626"/>
          </a:xfrm>
          <a:prstGeom prst="rect">
            <a:avLst/>
          </a:prstGeom>
          <a:noFill/>
        </p:spPr>
        <p:txBody>
          <a:bodyPr wrap="none" lIns="36576" rIns="36576" tIns="18288" bIns="18288">
            <a:spAutoFit/>
          </a:bodyPr>
          <a:lstStyle/>
          <a:p>
            <a:pPr>
              <a:lnSpc>
                <a:spcPct val="100000"/>
              </a:lnSpc>
            </a:pPr>
            <a:r>
              <a:rPr sz="900">
                <a:solidFill>
                  <a:srgbClr val="E6E6E6"/>
                </a:solidFill>
                <a:latin typeface="Consolas"/>
              </a:rPr>
              <a:t>                ┌─────────────────────────────────────────────┐</a:t>
            </a:r>
          </a:p>
          <a:p>
            <a:pPr>
              <a:lnSpc>
                <a:spcPct val="100000"/>
              </a:lnSpc>
            </a:pPr>
            <a:r>
              <a:rPr sz="900">
                <a:solidFill>
                  <a:srgbClr val="E6E6E6"/>
                </a:solidFill>
                <a:latin typeface="Consolas"/>
              </a:rPr>
              <a:t>                │           Azure subscription                │</a:t>
            </a:r>
          </a:p>
          <a:p>
            <a:pPr>
              <a:lnSpc>
                <a:spcPct val="100000"/>
              </a:lnSpc>
            </a:pPr>
            <a:r>
              <a:rPr sz="900">
                <a:solidFill>
                  <a:srgbClr val="E6E6E6"/>
                </a:solidFill>
                <a:latin typeface="Consolas"/>
              </a:rPr>
              <a:t>                │                                             │</a:t>
            </a:r>
          </a:p>
          <a:p>
            <a:pPr>
              <a:lnSpc>
                <a:spcPct val="100000"/>
              </a:lnSpc>
            </a:pPr>
            <a:r>
              <a:rPr sz="900">
                <a:solidFill>
                  <a:srgbClr val="E6E6E6"/>
                </a:solidFill>
                <a:latin typeface="Consolas"/>
              </a:rPr>
              <a:t>   Client ─────▶│  Application Gateway for Containers (PaaS)  │</a:t>
            </a:r>
          </a:p>
          <a:p>
            <a:pPr>
              <a:lnSpc>
                <a:spcPct val="100000"/>
              </a:lnSpc>
            </a:pPr>
            <a:r>
              <a:rPr sz="900">
                <a:solidFill>
                  <a:srgbClr val="E6E6E6"/>
                </a:solidFill>
                <a:latin typeface="Consolas"/>
              </a:rPr>
              <a:t>                │   (frontend IP, listeners, WAF)             │</a:t>
            </a:r>
          </a:p>
          <a:p>
            <a:pPr>
              <a:lnSpc>
                <a:spcPct val="100000"/>
              </a:lnSpc>
            </a:pPr>
            <a:r>
              <a:rPr sz="900">
                <a:solidFill>
                  <a:srgbClr val="E6E6E6"/>
                </a:solidFill>
                <a:latin typeface="Consolas"/>
              </a:rPr>
              <a:t>                │            │                                │</a:t>
            </a:r>
          </a:p>
          <a:p>
            <a:pPr>
              <a:lnSpc>
                <a:spcPct val="100000"/>
              </a:lnSpc>
            </a:pPr>
            <a:r>
              <a:rPr sz="900">
                <a:solidFill>
                  <a:srgbClr val="E6E6E6"/>
                </a:solidFill>
                <a:latin typeface="Consolas"/>
              </a:rPr>
              <a:t>                │            │ via ApplicationLoadBalancer CRD │</a:t>
            </a:r>
          </a:p>
          <a:p>
            <a:pPr>
              <a:lnSpc>
                <a:spcPct val="100000"/>
              </a:lnSpc>
            </a:pPr>
            <a:r>
              <a:rPr sz="900">
                <a:solidFill>
                  <a:srgbClr val="E6E6E6"/>
                </a:solidFill>
                <a:latin typeface="Consolas"/>
              </a:rPr>
              <a:t>                │            ▼                                │</a:t>
            </a:r>
          </a:p>
          <a:p>
            <a:pPr>
              <a:lnSpc>
                <a:spcPct val="100000"/>
              </a:lnSpc>
            </a:pPr>
            <a:r>
              <a:rPr sz="900">
                <a:solidFill>
                  <a:srgbClr val="E6E6E6"/>
                </a:solidFill>
                <a:latin typeface="Consolas"/>
              </a:rPr>
              <a:t>                │   Delegated subnet (AGC frontend)           │</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  data plane connects to pod IPs</a:t>
            </a:r>
          </a:p>
          <a:p>
            <a:pPr>
              <a:lnSpc>
                <a:spcPct val="100000"/>
              </a:lnSpc>
            </a:pPr>
            <a:r>
              <a:rPr sz="900">
                <a:solidFill>
                  <a:srgbClr val="E6E6E6"/>
                </a:solidFill>
                <a:latin typeface="Consolas"/>
              </a:rPr>
              <a:t>                             ▼   (Azure CNI pod IP, no kube-proxy hop)</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  AKS cluster (VNet-integrated)             │</a:t>
            </a:r>
          </a:p>
          <a:p>
            <a:pPr>
              <a:lnSpc>
                <a:spcPct val="100000"/>
              </a:lnSpc>
            </a:pPr>
            <a:r>
              <a:rPr sz="900">
                <a:solidFill>
                  <a:srgbClr val="E6E6E6"/>
                </a:solidFill>
                <a:latin typeface="Consolas"/>
              </a:rPr>
              <a:t>                │                                            │</a:t>
            </a:r>
          </a:p>
          <a:p>
            <a:pPr>
              <a:lnSpc>
                <a:spcPct val="100000"/>
              </a:lnSpc>
            </a:pPr>
            <a:r>
              <a:rPr sz="900">
                <a:solidFill>
                  <a:srgbClr val="E6E6E6"/>
                </a:solidFill>
                <a:latin typeface="Consolas"/>
              </a:rPr>
              <a:t>                │  azure-alb-system: alb-controller (Helm)   │</a:t>
            </a:r>
          </a:p>
          <a:p>
            <a:pPr>
              <a:lnSpc>
                <a:spcPct val="100000"/>
              </a:lnSpc>
            </a:pPr>
            <a:r>
              <a:rPr sz="900">
                <a:solidFill>
                  <a:srgbClr val="E6E6E6"/>
                </a:solidFill>
                <a:latin typeface="Consolas"/>
              </a:rPr>
              <a:t>                │     ▲ watches Gateway/Route + ALB CRD      │</a:t>
            </a:r>
          </a:p>
          <a:p>
            <a:pPr>
              <a:lnSpc>
                <a:spcPct val="100000"/>
              </a:lnSpc>
            </a:pPr>
            <a:r>
              <a:rPr sz="900">
                <a:solidFill>
                  <a:srgbClr val="E6E6E6"/>
                </a:solidFill>
                <a:latin typeface="Consolas"/>
              </a:rPr>
              <a:t>                │     │                                      │</a:t>
            </a:r>
          </a:p>
          <a:p>
            <a:pPr>
              <a:lnSpc>
                <a:spcPct val="100000"/>
              </a:lnSpc>
            </a:pPr>
            <a:r>
              <a:rPr sz="900">
                <a:solidFill>
                  <a:srgbClr val="E6E6E6"/>
                </a:solidFill>
                <a:latin typeface="Consolas"/>
              </a:rPr>
              <a:t>                │  alb-infra: ApplicationLoadBalancer "alb"  │</a:t>
            </a:r>
          </a:p>
          <a:p>
            <a:pPr>
              <a:lnSpc>
                <a:spcPct val="100000"/>
              </a:lnSpc>
            </a:pPr>
            <a:r>
              <a:rPr sz="900">
                <a:solidFill>
                  <a:srgbClr val="E6E6E6"/>
                </a:solidFill>
                <a:latin typeface="Consolas"/>
              </a:rPr>
              <a:t>                │     │ uses Workload Identity               │</a:t>
            </a:r>
          </a:p>
          <a:p>
            <a:pPr>
              <a:lnSpc>
                <a:spcPct val="100000"/>
              </a:lnSpc>
            </a:pPr>
            <a:r>
              <a:rPr sz="900">
                <a:solidFill>
                  <a:srgbClr val="E6E6E6"/>
                </a:solidFill>
                <a:latin typeface="Consolas"/>
              </a:rPr>
              <a:t>                │  default: Gateway (azure-alb-external)     │</a:t>
            </a:r>
          </a:p>
          <a:p>
            <a:pPr>
              <a:lnSpc>
                <a:spcPct val="100000"/>
              </a:lnSpc>
            </a:pPr>
            <a:r>
              <a:rPr sz="900">
                <a:solidFill>
                  <a:srgbClr val="E6E6E6"/>
                </a:solidFill>
                <a:latin typeface="Consolas"/>
              </a:rPr>
              <a:t>                │           HTTPRoute → Service → Pod        │</a:t>
            </a:r>
          </a:p>
          <a:p>
            <a:pPr>
              <a:lnSpc>
                <a:spcPct val="100000"/>
              </a:lnSpc>
            </a:pPr>
            <a:r>
              <a:rPr sz="900">
                <a:solidFill>
                  <a:srgbClr val="E6E6E6"/>
                </a:solidFill>
                <a:latin typeface="Consolas"/>
              </a:rPr>
              <a:t>                └────────────────────────────────────────────┘</a:t>
            </a:r>
          </a:p>
        </p:txBody>
      </p:sp>
      <p:sp>
        <p:nvSpPr>
          <p:cNvPr id="12" name="Rectangle 11"/>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14" name="TextBox 13"/>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14 /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INGRESS → GATEWAY API</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Deploying AGC with Gateway API</a:t>
            </a:r>
          </a:p>
        </p:txBody>
      </p:sp>
      <p:sp>
        <p:nvSpPr>
          <p:cNvPr id="7" name="TextBox 6"/>
          <p:cNvSpPr txBox="1"/>
          <p:nvPr/>
        </p:nvSpPr>
        <p:spPr>
          <a:xfrm>
            <a:off x="457200" y="1097280"/>
            <a:ext cx="11277295" cy="640080"/>
          </a:xfrm>
          <a:prstGeom prst="rect">
            <a:avLst/>
          </a:prstGeom>
          <a:noFill/>
        </p:spPr>
        <p:txBody>
          <a:bodyPr wrap="square" lIns="45720" rIns="45720" tIns="18288" bIns="18288">
            <a:spAutoFit/>
          </a:bodyPr>
          <a:lstStyle/>
          <a:p>
            <a:pPr algn="l"/>
            <a:r>
              <a:rPr sz="1500" b="0" i="1">
                <a:solidFill>
                  <a:srgbClr val="103A6E"/>
                </a:solidFill>
                <a:latin typeface="Calibri"/>
              </a:rPr>
              <a:t>Provision Application Gateway for Containers next to an AKS cluster, wire it in via a delegated subnet, and let the ALB Controller drive it from standard Gateway API objects using Workload Identity.</a:t>
            </a:r>
          </a:p>
        </p:txBody>
      </p:sp>
      <p:sp>
        <p:nvSpPr>
          <p:cNvPr id="8" name="TextBox 7"/>
          <p:cNvSpPr txBox="1"/>
          <p:nvPr/>
        </p:nvSpPr>
        <p:spPr>
          <a:xfrm>
            <a:off x="457200" y="1783080"/>
            <a:ext cx="6858000" cy="320040"/>
          </a:xfrm>
          <a:prstGeom prst="rect">
            <a:avLst/>
          </a:prstGeom>
          <a:noFill/>
        </p:spPr>
        <p:txBody>
          <a:bodyPr wrap="square" lIns="45720" rIns="45720" tIns="18288" bIns="18288">
            <a:spAutoFit/>
          </a:bodyPr>
          <a:lstStyle/>
          <a:p>
            <a:pPr algn="l"/>
            <a:r>
              <a:rPr sz="1000" b="1" i="0">
                <a:solidFill>
                  <a:srgbClr val="0078D4"/>
                </a:solidFill>
                <a:latin typeface="Calibri"/>
              </a:rPr>
              <a:t>STEPS PERFORMED BY THE SCRIPT</a:t>
            </a:r>
          </a:p>
        </p:txBody>
      </p:sp>
      <p:sp>
        <p:nvSpPr>
          <p:cNvPr id="9" name="Oval 8"/>
          <p:cNvSpPr/>
          <p:nvPr/>
        </p:nvSpPr>
        <p:spPr>
          <a:xfrm>
            <a:off x="457200" y="2148840"/>
            <a:ext cx="384048" cy="384048"/>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148840"/>
            <a:ext cx="384048" cy="384048"/>
          </a:xfrm>
          <a:prstGeom prst="rect">
            <a:avLst/>
          </a:prstGeom>
          <a:noFill/>
        </p:spPr>
        <p:txBody>
          <a:bodyPr wrap="square" lIns="45720" rIns="45720" tIns="18288" bIns="18288" anchor="ctr">
            <a:spAutoFit/>
          </a:bodyPr>
          <a:lstStyle/>
          <a:p>
            <a:pPr algn="ctr"/>
            <a:r>
              <a:rPr sz="1400" b="1" i="0">
                <a:solidFill>
                  <a:srgbClr val="FFFFFF"/>
                </a:solidFill>
                <a:latin typeface="Calibri"/>
              </a:rPr>
              <a:t>1</a:t>
            </a:r>
          </a:p>
        </p:txBody>
      </p:sp>
      <p:sp>
        <p:nvSpPr>
          <p:cNvPr id="11" name="TextBox 10"/>
          <p:cNvSpPr txBox="1"/>
          <p:nvPr/>
        </p:nvSpPr>
        <p:spPr>
          <a:xfrm>
            <a:off x="960120" y="2167128"/>
            <a:ext cx="6309360" cy="411480"/>
          </a:xfrm>
          <a:prstGeom prst="rect">
            <a:avLst/>
          </a:prstGeom>
          <a:noFill/>
        </p:spPr>
        <p:txBody>
          <a:bodyPr wrap="square" lIns="45720" rIns="45720" tIns="18288" bIns="18288" anchor="ctr">
            <a:spAutoFit/>
          </a:bodyPr>
          <a:lstStyle/>
          <a:p>
            <a:pPr algn="l"/>
            <a:r>
              <a:rPr sz="1300" b="0" i="0">
                <a:solidFill>
                  <a:srgbClr val="1F2A44"/>
                </a:solidFill>
                <a:latin typeface="Calibri"/>
              </a:rPr>
              <a:t>Deploy VNet/AKS/ACR/AGC identity with Bicep</a:t>
            </a:r>
          </a:p>
        </p:txBody>
      </p:sp>
      <p:sp>
        <p:nvSpPr>
          <p:cNvPr id="12" name="Oval 11"/>
          <p:cNvSpPr/>
          <p:nvPr/>
        </p:nvSpPr>
        <p:spPr>
          <a:xfrm>
            <a:off x="457200" y="2606040"/>
            <a:ext cx="384048" cy="384048"/>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606040"/>
            <a:ext cx="384048" cy="384048"/>
          </a:xfrm>
          <a:prstGeom prst="rect">
            <a:avLst/>
          </a:prstGeom>
          <a:noFill/>
        </p:spPr>
        <p:txBody>
          <a:bodyPr wrap="square" lIns="45720" rIns="45720" tIns="18288" bIns="18288" anchor="ctr">
            <a:spAutoFit/>
          </a:bodyPr>
          <a:lstStyle/>
          <a:p>
            <a:pPr algn="ctr"/>
            <a:r>
              <a:rPr sz="1400" b="1" i="0">
                <a:solidFill>
                  <a:srgbClr val="FFFFFF"/>
                </a:solidFill>
                <a:latin typeface="Calibri"/>
              </a:rPr>
              <a:t>2</a:t>
            </a:r>
          </a:p>
        </p:txBody>
      </p:sp>
      <p:sp>
        <p:nvSpPr>
          <p:cNvPr id="14" name="TextBox 13"/>
          <p:cNvSpPr txBox="1"/>
          <p:nvPr/>
        </p:nvSpPr>
        <p:spPr>
          <a:xfrm>
            <a:off x="960120" y="2624328"/>
            <a:ext cx="6309360" cy="411480"/>
          </a:xfrm>
          <a:prstGeom prst="rect">
            <a:avLst/>
          </a:prstGeom>
          <a:noFill/>
        </p:spPr>
        <p:txBody>
          <a:bodyPr wrap="square" lIns="45720" rIns="45720" tIns="18288" bIns="18288" anchor="ctr">
            <a:spAutoFit/>
          </a:bodyPr>
          <a:lstStyle/>
          <a:p>
            <a:pPr algn="l"/>
            <a:r>
              <a:rPr sz="1300" b="0" i="0">
                <a:solidFill>
                  <a:srgbClr val="1F2A44"/>
                </a:solidFill>
                <a:latin typeface="Calibri"/>
              </a:rPr>
              <a:t>Build the .NET sample app remotely with ACR Tasks only when the source hash tag is missing</a:t>
            </a:r>
          </a:p>
        </p:txBody>
      </p:sp>
      <p:sp>
        <p:nvSpPr>
          <p:cNvPr id="15" name="Oval 14"/>
          <p:cNvSpPr/>
          <p:nvPr/>
        </p:nvSpPr>
        <p:spPr>
          <a:xfrm>
            <a:off x="457200" y="3063240"/>
            <a:ext cx="384048" cy="384048"/>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063240"/>
            <a:ext cx="384048" cy="384048"/>
          </a:xfrm>
          <a:prstGeom prst="rect">
            <a:avLst/>
          </a:prstGeom>
          <a:noFill/>
        </p:spPr>
        <p:txBody>
          <a:bodyPr wrap="square" lIns="45720" rIns="45720" tIns="18288" bIns="18288" anchor="ctr">
            <a:spAutoFit/>
          </a:bodyPr>
          <a:lstStyle/>
          <a:p>
            <a:pPr algn="ctr"/>
            <a:r>
              <a:rPr sz="1400" b="1" i="0">
                <a:solidFill>
                  <a:srgbClr val="FFFFFF"/>
                </a:solidFill>
                <a:latin typeface="Calibri"/>
              </a:rPr>
              <a:t>3</a:t>
            </a:r>
          </a:p>
        </p:txBody>
      </p:sp>
      <p:sp>
        <p:nvSpPr>
          <p:cNvPr id="17" name="TextBox 16"/>
          <p:cNvSpPr txBox="1"/>
          <p:nvPr/>
        </p:nvSpPr>
        <p:spPr>
          <a:xfrm>
            <a:off x="960120" y="3081528"/>
            <a:ext cx="6309360" cy="411480"/>
          </a:xfrm>
          <a:prstGeom prst="rect">
            <a:avLst/>
          </a:prstGeom>
          <a:noFill/>
        </p:spPr>
        <p:txBody>
          <a:bodyPr wrap="square" lIns="45720" rIns="45720" tIns="18288" bIns="18288" anchor="ctr">
            <a:spAutoFit/>
          </a:bodyPr>
          <a:lstStyle/>
          <a:p>
            <a:pPr algn="l"/>
            <a:r>
              <a:rPr sz="1300" b="0" i="0">
                <a:solidFill>
                  <a:srgbClr val="1F2A44"/>
                </a:solidFill>
                <a:latin typeface="Calibri"/>
              </a:rPr>
              <a:t>Configure Kubernetes</a:t>
            </a:r>
          </a:p>
        </p:txBody>
      </p:sp>
      <p:sp>
        <p:nvSpPr>
          <p:cNvPr id="18" name="Rounded Rectangle 17"/>
          <p:cNvSpPr/>
          <p:nvPr/>
        </p:nvSpPr>
        <p:spPr>
          <a:xfrm>
            <a:off x="7589520" y="1783080"/>
            <a:ext cx="4144975" cy="2377440"/>
          </a:xfrm>
          <a:prstGeom prst="roundRect">
            <a:avLst>
              <a:gd name="adj" fmla="val 10000"/>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89520" y="1783080"/>
            <a:ext cx="4144975" cy="411480"/>
          </a:xfrm>
          <a:prstGeom prst="rect">
            <a:avLst/>
          </a:prstGeom>
          <a:solidFill>
            <a:srgbClr val="2EA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1783080"/>
            <a:ext cx="4144975" cy="411480"/>
          </a:xfrm>
          <a:prstGeom prst="rect">
            <a:avLst/>
          </a:prstGeom>
          <a:noFill/>
        </p:spPr>
        <p:txBody>
          <a:bodyPr wrap="square" lIns="45720" rIns="45720" tIns="18288" bIns="18288" anchor="ctr">
            <a:spAutoFit/>
          </a:bodyPr>
          <a:lstStyle/>
          <a:p>
            <a:pPr algn="l"/>
            <a:r>
              <a:rPr sz="1100" b="1" i="0">
                <a:solidFill>
                  <a:srgbClr val="FFFFFF"/>
                </a:solidFill>
                <a:latin typeface="Calibri"/>
              </a:rPr>
              <a:t>  ✅  YOU END UP WITH</a:t>
            </a:r>
          </a:p>
        </p:txBody>
      </p:sp>
      <p:sp>
        <p:nvSpPr>
          <p:cNvPr id="21" name="Oval 20"/>
          <p:cNvSpPr/>
          <p:nvPr/>
        </p:nvSpPr>
        <p:spPr>
          <a:xfrm>
            <a:off x="7772400" y="2395728"/>
            <a:ext cx="100584" cy="100584"/>
          </a:xfrm>
          <a:prstGeom prst="ellipse">
            <a:avLst/>
          </a:prstGeom>
          <a:solidFill>
            <a:srgbClr val="2EA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01000" y="2286000"/>
            <a:ext cx="3642055" cy="411480"/>
          </a:xfrm>
          <a:prstGeom prst="rect">
            <a:avLst/>
          </a:prstGeom>
          <a:noFill/>
        </p:spPr>
        <p:txBody>
          <a:bodyPr wrap="square" lIns="45720" rIns="45720" tIns="18288" bIns="18288" anchor="ctr">
            <a:spAutoFit/>
          </a:bodyPr>
          <a:lstStyle/>
          <a:p>
            <a:pPr algn="l"/>
            <a:r>
              <a:rPr sz="1200" b="0" i="0">
                <a:solidFill>
                  <a:srgbClr val="1F2A44"/>
                </a:solidFill>
                <a:latin typeface="Calibri"/>
              </a:rPr>
              <a:t>AKS cluster + VNet with a delegated subnet for AGC</a:t>
            </a:r>
          </a:p>
        </p:txBody>
      </p:sp>
      <p:sp>
        <p:nvSpPr>
          <p:cNvPr id="23" name="Oval 22"/>
          <p:cNvSpPr/>
          <p:nvPr/>
        </p:nvSpPr>
        <p:spPr>
          <a:xfrm>
            <a:off x="7772400" y="2807208"/>
            <a:ext cx="100584" cy="100584"/>
          </a:xfrm>
          <a:prstGeom prst="ellipse">
            <a:avLst/>
          </a:prstGeom>
          <a:solidFill>
            <a:srgbClr val="2EA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0" y="2697480"/>
            <a:ext cx="3642055" cy="411480"/>
          </a:xfrm>
          <a:prstGeom prst="rect">
            <a:avLst/>
          </a:prstGeom>
          <a:noFill/>
        </p:spPr>
        <p:txBody>
          <a:bodyPr wrap="square" lIns="45720" rIns="45720" tIns="18288" bIns="18288" anchor="ctr">
            <a:spAutoFit/>
          </a:bodyPr>
          <a:lstStyle/>
          <a:p>
            <a:pPr algn="l"/>
            <a:r>
              <a:rPr sz="1200" b="0" i="0">
                <a:solidFill>
                  <a:srgbClr val="1F2A44"/>
                </a:solidFill>
                <a:latin typeface="Calibri"/>
              </a:rPr>
              <a:t>AGC identity roles assigned after AKS infrastructure RG exists</a:t>
            </a:r>
          </a:p>
        </p:txBody>
      </p:sp>
      <p:sp>
        <p:nvSpPr>
          <p:cNvPr id="25" name="Oval 24"/>
          <p:cNvSpPr/>
          <p:nvPr/>
        </p:nvSpPr>
        <p:spPr>
          <a:xfrm>
            <a:off x="7772400" y="3218688"/>
            <a:ext cx="100584" cy="100584"/>
          </a:xfrm>
          <a:prstGeom prst="ellipse">
            <a:avLst/>
          </a:prstGeom>
          <a:solidFill>
            <a:srgbClr val="2EA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01000" y="3108960"/>
            <a:ext cx="3642055" cy="411480"/>
          </a:xfrm>
          <a:prstGeom prst="rect">
            <a:avLst/>
          </a:prstGeom>
          <a:noFill/>
        </p:spPr>
        <p:txBody>
          <a:bodyPr wrap="square" lIns="45720" rIns="45720" tIns="18288" bIns="18288" anchor="ctr">
            <a:spAutoFit/>
          </a:bodyPr>
          <a:lstStyle/>
          <a:p>
            <a:pPr algn="l"/>
            <a:r>
              <a:rPr sz="1200" b="0" i="0">
                <a:solidFill>
                  <a:srgbClr val="1F2A44"/>
                </a:solidFill>
                <a:latin typeface="Calibri"/>
              </a:rPr>
              <a:t>ALB Controller Helm chart 1.10.28 with Workload Identity</a:t>
            </a:r>
          </a:p>
        </p:txBody>
      </p:sp>
      <p:sp>
        <p:nvSpPr>
          <p:cNvPr id="27" name="Oval 26"/>
          <p:cNvSpPr/>
          <p:nvPr/>
        </p:nvSpPr>
        <p:spPr>
          <a:xfrm>
            <a:off x="7772400" y="3630168"/>
            <a:ext cx="100584" cy="100584"/>
          </a:xfrm>
          <a:prstGeom prst="ellipse">
            <a:avLst/>
          </a:prstGeom>
          <a:solidFill>
            <a:srgbClr val="2EA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01000" y="3520440"/>
            <a:ext cx="3642055" cy="411480"/>
          </a:xfrm>
          <a:prstGeom prst="rect">
            <a:avLst/>
          </a:prstGeom>
          <a:noFill/>
        </p:spPr>
        <p:txBody>
          <a:bodyPr wrap="square" lIns="45720" rIns="45720" tIns="18288" bIns="18288" anchor="ctr">
            <a:spAutoFit/>
          </a:bodyPr>
          <a:lstStyle/>
          <a:p>
            <a:pPr algn="l"/>
            <a:r>
              <a:rPr sz="1200" b="0" i="0">
                <a:solidFill>
                  <a:srgbClr val="1F2A44"/>
                </a:solidFill>
                <a:latin typeface="Calibri"/>
              </a:rPr>
              <a:t>ApplicationLoadBalancer CRD + Gateway + HTTPRoute serving traffic</a:t>
            </a:r>
          </a:p>
        </p:txBody>
      </p:sp>
      <p:sp>
        <p:nvSpPr>
          <p:cNvPr id="29" name="Rounded Rectangle 28"/>
          <p:cNvSpPr/>
          <p:nvPr/>
        </p:nvSpPr>
        <p:spPr>
          <a:xfrm>
            <a:off x="7589520" y="4389120"/>
            <a:ext cx="4144975" cy="1645920"/>
          </a:xfrm>
          <a:prstGeom prst="roundRect">
            <a:avLst>
              <a:gd name="adj" fmla="val 10000"/>
            </a:avLst>
          </a:prstGeom>
          <a:solidFill>
            <a:srgbClr val="1E1E2E"/>
          </a:solidFill>
          <a:ln>
            <a:solidFill>
              <a:srgbClr val="E81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18120" y="4572000"/>
            <a:ext cx="3687775" cy="320040"/>
          </a:xfrm>
          <a:prstGeom prst="rect">
            <a:avLst/>
          </a:prstGeom>
          <a:noFill/>
        </p:spPr>
        <p:txBody>
          <a:bodyPr wrap="square" lIns="45720" rIns="45720" tIns="18288" bIns="18288">
            <a:spAutoFit/>
          </a:bodyPr>
          <a:lstStyle/>
          <a:p>
            <a:pPr algn="l"/>
            <a:r>
              <a:rPr sz="1100" b="1" i="0">
                <a:solidFill>
                  <a:srgbClr val="E81E4F"/>
                </a:solidFill>
                <a:latin typeface="Calibri"/>
              </a:rPr>
              <a:t>📜  FULL AZURE CLI SCRIPT</a:t>
            </a:r>
          </a:p>
        </p:txBody>
      </p:sp>
      <p:sp>
        <p:nvSpPr>
          <p:cNvPr id="31" name="TextBox 30"/>
          <p:cNvSpPr txBox="1"/>
          <p:nvPr/>
        </p:nvSpPr>
        <p:spPr>
          <a:xfrm>
            <a:off x="7818120" y="4892040"/>
            <a:ext cx="3687775" cy="1097280"/>
          </a:xfrm>
          <a:prstGeom prst="rect">
            <a:avLst/>
          </a:prstGeom>
          <a:noFill/>
        </p:spPr>
        <p:txBody>
          <a:bodyPr wrap="square" lIns="45720" rIns="45720" tIns="18288" bIns="18288">
            <a:spAutoFit/>
          </a:bodyPr>
          <a:lstStyle/>
          <a:p>
            <a:pPr algn="l"/>
            <a:r>
              <a:rPr sz="1200" b="0" i="0">
                <a:solidFill>
                  <a:srgbClr val="E6E6E6"/>
                </a:solidFill>
                <a:latin typeface="Calibri"/>
              </a:rPr>
              <a:t>The complete, copy-pasteable script lives in the</a:t>
            </a:r>
          </a:p>
          <a:p>
            <a:pPr algn="l"/>
            <a:r>
              <a:rPr sz="1200" b="0" i="0">
                <a:solidFill>
                  <a:srgbClr val="E6E6E6"/>
                </a:solidFill>
                <a:latin typeface="Calibri"/>
              </a:rPr>
              <a:t>speaker notes of this slide.</a:t>
            </a:r>
          </a:p>
          <a:p>
            <a:pPr algn="l"/>
            <a:r>
              <a:rPr sz="1200" b="0" i="0">
                <a:solidFill>
                  <a:srgbClr val="E6E6E6"/>
                </a:solidFill>
                <a:latin typeface="Calibri"/>
              </a:rPr>
              <a:t/>
            </a:r>
          </a:p>
          <a:p>
            <a:pPr algn="l"/>
            <a:r>
              <a:rPr sz="1200" b="0" i="0">
                <a:solidFill>
                  <a:srgbClr val="E6E6E6"/>
                </a:solidFill>
                <a:latin typeface="Calibri"/>
              </a:rPr>
              <a:t>Press  Alt+F5  to open Presenter view</a:t>
            </a:r>
          </a:p>
          <a:p>
            <a:pPr algn="l"/>
            <a:r>
              <a:rPr sz="1200" b="0" i="0">
                <a:solidFill>
                  <a:srgbClr val="E6E6E6"/>
                </a:solidFill>
                <a:latin typeface="Calibri"/>
              </a:rPr>
              <a:t>and copy from the notes pane.</a:t>
            </a:r>
          </a:p>
        </p:txBody>
      </p:sp>
      <p:sp>
        <p:nvSpPr>
          <p:cNvPr id="32" name="Rectangle 31"/>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34" name="Rounded Rectangle 33"/>
          <p:cNvSpPr/>
          <p:nvPr/>
        </p:nvSpPr>
        <p:spPr>
          <a:xfrm>
            <a:off x="10362895" y="6601968"/>
            <a:ext cx="1463040" cy="219456"/>
          </a:xfrm>
          <a:prstGeom prst="roundRect">
            <a:avLst>
              <a:gd name="adj" fmla="val 10000"/>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62895" y="6601968"/>
            <a:ext cx="1463040" cy="219456"/>
          </a:xfrm>
          <a:prstGeom prst="rect">
            <a:avLst/>
          </a:prstGeom>
          <a:noFill/>
        </p:spPr>
        <p:txBody>
          <a:bodyPr wrap="square" lIns="45720" rIns="45720" tIns="18288" bIns="18288" anchor="ctr">
            <a:spAutoFit/>
          </a:bodyPr>
          <a:lstStyle/>
          <a:p>
            <a:pPr algn="ctr"/>
            <a:r>
              <a:rPr sz="900" b="1" i="0">
                <a:solidFill>
                  <a:srgbClr val="FFFFFF"/>
                </a:solidFill>
                <a:latin typeface="Calibri"/>
              </a:rPr>
              <a:t>🛠  HANDS-ON</a:t>
            </a:r>
          </a:p>
        </p:txBody>
      </p:sp>
      <p:sp>
        <p:nvSpPr>
          <p:cNvPr id="36" name="TextBox 35"/>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15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INGRESS → GATEWAY API</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Legacy reference: community ingress-nginx on AKS</a:t>
            </a:r>
          </a:p>
        </p:txBody>
      </p:sp>
      <p:sp>
        <p:nvSpPr>
          <p:cNvPr id="7" name="Rectangle 6"/>
          <p:cNvSpPr/>
          <p:nvPr/>
        </p:nvSpPr>
        <p:spPr>
          <a:xfrm>
            <a:off x="457200" y="1097280"/>
            <a:ext cx="11277295" cy="1833880"/>
          </a:xfrm>
          <a:prstGeom prst="rect">
            <a:avLst/>
          </a:prstGeom>
          <a:solidFill>
            <a:srgbClr val="1E1E2E"/>
          </a:solidFill>
          <a:ln>
            <a:solidFill>
              <a:srgbClr val="103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64008" cy="18338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170432"/>
            <a:ext cx="11048695" cy="1687576"/>
          </a:xfrm>
          <a:prstGeom prst="rect">
            <a:avLst/>
          </a:prstGeom>
          <a:noFill/>
        </p:spPr>
        <p:txBody>
          <a:bodyPr wrap="none" lIns="36576" rIns="36576" tIns="18288" bIns="18288">
            <a:spAutoFit/>
          </a:bodyPr>
          <a:lstStyle/>
          <a:p>
            <a:pPr>
              <a:lnSpc>
                <a:spcPct val="100000"/>
              </a:lnSpc>
            </a:pPr>
            <a:r>
              <a:rPr sz="1100">
                <a:solidFill>
                  <a:srgbClr val="E6E6E6"/>
                </a:solidFill>
                <a:latin typeface="Consolas"/>
              </a:rPr>
              <a:t>   Client</a:t>
            </a:r>
          </a:p>
          <a:p>
            <a:pPr>
              <a:lnSpc>
                <a:spcPct val="100000"/>
              </a:lnSpc>
            </a:pPr>
            <a:r>
              <a:rPr sz="1100">
                <a:solidFill>
                  <a:srgbClr val="E6E6E6"/>
                </a:solidFill>
                <a:latin typeface="Consolas"/>
              </a:rPr>
              <a:t>     │</a:t>
            </a:r>
          </a:p>
          <a:p>
            <a:pPr>
              <a:lnSpc>
                <a:spcPct val="100000"/>
              </a:lnSpc>
            </a:pPr>
            <a:r>
              <a:rPr sz="1100">
                <a:solidFill>
                  <a:srgbClr val="E6E6E6"/>
                </a:solidFill>
                <a:latin typeface="Consolas"/>
              </a:rPr>
              <a:t>     ▼</a:t>
            </a:r>
          </a:p>
          <a:p>
            <a:pPr>
              <a:lnSpc>
                <a:spcPct val="100000"/>
              </a:lnSpc>
            </a:pPr>
            <a:r>
              <a:rPr sz="1100">
                <a:solidFill>
                  <a:srgbClr val="E6E6E6"/>
                </a:solidFill>
                <a:latin typeface="Consolas"/>
              </a:rPr>
              <a:t>   Azure SLB ──▶ Service type=LoadBalancer</a:t>
            </a:r>
          </a:p>
          <a:p>
            <a:pPr>
              <a:lnSpc>
                <a:spcPct val="100000"/>
              </a:lnSpc>
            </a:pPr>
            <a:r>
              <a:rPr sz="1100">
                <a:solidFill>
                  <a:srgbClr val="E6E6E6"/>
                </a:solidFill>
                <a:latin typeface="Consolas"/>
              </a:rPr>
              <a:t>                       │</a:t>
            </a:r>
          </a:p>
          <a:p>
            <a:pPr>
              <a:lnSpc>
                <a:spcPct val="100000"/>
              </a:lnSpc>
            </a:pPr>
            <a:r>
              <a:rPr sz="1100">
                <a:solidFill>
                  <a:srgbClr val="E6E6E6"/>
                </a:solidFill>
                <a:latin typeface="Consolas"/>
              </a:rPr>
              <a:t>                       ▼</a:t>
            </a:r>
          </a:p>
          <a:p>
            <a:pPr>
              <a:lnSpc>
                <a:spcPct val="100000"/>
              </a:lnSpc>
            </a:pPr>
            <a:r>
              <a:rPr sz="1100">
                <a:solidFill>
                  <a:srgbClr val="E6E6E6"/>
                </a:solidFill>
                <a:latin typeface="Consolas"/>
              </a:rPr>
              <a:t>              ingress-nginx Pod  (Deployment, in-cluster)</a:t>
            </a:r>
          </a:p>
          <a:p>
            <a:pPr>
              <a:lnSpc>
                <a:spcPct val="100000"/>
              </a:lnSpc>
            </a:pPr>
            <a:r>
              <a:rPr sz="1100">
                <a:solidFill>
                  <a:srgbClr val="E6E6E6"/>
                </a:solidFill>
                <a:latin typeface="Consolas"/>
              </a:rPr>
              <a:t>                       │  reads Ingress + annotations</a:t>
            </a:r>
          </a:p>
          <a:p>
            <a:pPr>
              <a:lnSpc>
                <a:spcPct val="100000"/>
              </a:lnSpc>
            </a:pPr>
            <a:r>
              <a:rPr sz="1100">
                <a:solidFill>
                  <a:srgbClr val="E6E6E6"/>
                </a:solidFill>
                <a:latin typeface="Consolas"/>
              </a:rPr>
              <a:t>                       ▼</a:t>
            </a:r>
          </a:p>
          <a:p>
            <a:pPr>
              <a:lnSpc>
                <a:spcPct val="100000"/>
              </a:lnSpc>
            </a:pPr>
            <a:r>
              <a:rPr sz="1100">
                <a:solidFill>
                  <a:srgbClr val="E6E6E6"/>
                </a:solidFill>
                <a:latin typeface="Consolas"/>
              </a:rPr>
              <a:t>              Service ──► Pod (via kube-proxy)</a:t>
            </a:r>
          </a:p>
        </p:txBody>
      </p:sp>
      <p:sp>
        <p:nvSpPr>
          <p:cNvPr id="10" name="TextBox 9"/>
          <p:cNvSpPr txBox="1"/>
          <p:nvPr/>
        </p:nvSpPr>
        <p:spPr>
          <a:xfrm>
            <a:off x="457200" y="3022600"/>
            <a:ext cx="11277295" cy="1299459"/>
          </a:xfrm>
          <a:prstGeom prst="rect">
            <a:avLst/>
          </a:prstGeom>
          <a:noFill/>
        </p:spPr>
        <p:txBody>
          <a:bodyPr wrap="square" lIns="45720" rIns="45720" tIns="18288" bIns="18288">
            <a:spAutoFit/>
          </a:bodyPr>
          <a:lstStyle/>
          <a:p>
            <a:pPr>
              <a:spcAft>
                <a:spcPts val="200"/>
              </a:spcAft>
            </a:pPr>
            <a:r>
              <a:rPr sz="1400" b="1">
                <a:solidFill>
                  <a:srgbClr val="0078D4"/>
                </a:solidFill>
                <a:latin typeface="Calibri"/>
              </a:rPr>
              <a:t>▸ </a:t>
            </a:r>
            <a:r>
              <a:rPr sz="1400" b="0" i="0">
                <a:solidFill>
                  <a:srgbClr val="1F2A44"/>
                </a:solidFill>
                <a:latin typeface="Calibri"/>
              </a:rPr>
              <a:t>Kubernetes </a:t>
            </a:r>
            <a:r>
              <a:rPr sz="1400" b="0">
                <a:solidFill>
                  <a:srgbClr val="B01060"/>
                </a:solidFill>
                <a:latin typeface="Consolas"/>
              </a:rPr>
              <a:t>Ingress</a:t>
            </a:r>
            <a:r>
              <a:rPr sz="1400" b="0" i="0">
                <a:solidFill>
                  <a:srgbClr val="1F2A44"/>
                </a:solidFill>
                <a:latin typeface="Calibri"/>
              </a:rPr>
              <a:t> API: stable, still valid</a:t>
            </a:r>
          </a:p>
          <a:p>
            <a:pPr>
              <a:spcAft>
                <a:spcPts val="200"/>
              </a:spcAft>
            </a:pPr>
            <a:r>
              <a:rPr sz="1400" b="1">
                <a:solidFill>
                  <a:srgbClr val="0078D4"/>
                </a:solidFill>
                <a:latin typeface="Calibri"/>
              </a:rPr>
              <a:t>▸ </a:t>
            </a:r>
            <a:r>
              <a:rPr sz="1400" b="0" i="0">
                <a:solidFill>
                  <a:srgbClr val="1F2A44"/>
                </a:solidFill>
                <a:latin typeface="Calibri"/>
              </a:rPr>
              <a:t>Community </a:t>
            </a:r>
            <a:r>
              <a:rPr sz="1400" b="0">
                <a:solidFill>
                  <a:srgbClr val="B01060"/>
                </a:solidFill>
                <a:latin typeface="Consolas"/>
              </a:rPr>
              <a:t>kubernetes/ingress-nginx</a:t>
            </a:r>
            <a:r>
              <a:rPr sz="1400" b="0" i="0">
                <a:solidFill>
                  <a:srgbClr val="1F2A44"/>
                </a:solidFill>
                <a:latin typeface="Calibri"/>
              </a:rPr>
              <a:t> controller: retired/EOL implementation</a:t>
            </a:r>
          </a:p>
          <a:p>
            <a:pPr>
              <a:spcAft>
                <a:spcPts val="200"/>
              </a:spcAft>
            </a:pPr>
            <a:r>
              <a:rPr sz="1400" b="1">
                <a:solidFill>
                  <a:srgbClr val="0078D4"/>
                </a:solidFill>
                <a:latin typeface="Calibri"/>
              </a:rPr>
              <a:t>▸ </a:t>
            </a:r>
            <a:r>
              <a:rPr sz="1400" b="0" i="0">
                <a:solidFill>
                  <a:srgbClr val="1F2A44"/>
                </a:solidFill>
                <a:latin typeface="Calibri"/>
              </a:rPr>
              <a:t>Single resource (</a:t>
            </a:r>
            <a:r>
              <a:rPr sz="1400" b="0">
                <a:solidFill>
                  <a:srgbClr val="B01060"/>
                </a:solidFill>
                <a:latin typeface="Consolas"/>
              </a:rPr>
              <a:t>Ingress</a:t>
            </a:r>
            <a:r>
              <a:rPr sz="1400" b="0" i="0">
                <a:solidFill>
                  <a:srgbClr val="1F2A44"/>
                </a:solidFill>
                <a:latin typeface="Calibri"/>
              </a:rPr>
              <a:t>) with controller-specific annotations</a:t>
            </a:r>
          </a:p>
          <a:p>
            <a:pPr>
              <a:spcAft>
                <a:spcPts val="200"/>
              </a:spcAft>
            </a:pPr>
            <a:r>
              <a:rPr sz="1400" b="1">
                <a:solidFill>
                  <a:srgbClr val="0078D4"/>
                </a:solidFill>
                <a:latin typeface="Calibri"/>
              </a:rPr>
              <a:t>▸ </a:t>
            </a:r>
            <a:r>
              <a:rPr sz="1400" b="0" i="0">
                <a:solidFill>
                  <a:srgbClr val="1F2A44"/>
                </a:solidFill>
                <a:latin typeface="Calibri"/>
              </a:rPr>
              <a:t>For new platform designs, Gateway API gives cleaner ownership, portability, and typed extension points</a:t>
            </a:r>
          </a:p>
        </p:txBody>
      </p:sp>
      <p:sp>
        <p:nvSpPr>
          <p:cNvPr id="11" name="Rectangle 10"/>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13" name="TextBox 12"/>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16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2743200" cy="457200"/>
          </a:xfrm>
          <a:prstGeom prst="rect">
            <a:avLst/>
          </a:prstGeom>
          <a:noFill/>
        </p:spPr>
        <p:txBody>
          <a:bodyPr wrap="square" lIns="45720" rIns="45720" tIns="18288" bIns="18288">
            <a:spAutoFit/>
          </a:bodyPr>
          <a:lstStyle/>
          <a:p>
            <a:pPr algn="l"/>
            <a:r>
              <a:rPr sz="1800" b="1" i="0">
                <a:solidFill>
                  <a:srgbClr val="9CC8FF"/>
                </a:solidFill>
                <a:latin typeface="Calibri"/>
              </a:rPr>
              <a:t>PART</a:t>
            </a:r>
          </a:p>
        </p:txBody>
      </p:sp>
      <p:sp>
        <p:nvSpPr>
          <p:cNvPr id="5" name="TextBox 4"/>
          <p:cNvSpPr txBox="1"/>
          <p:nvPr/>
        </p:nvSpPr>
        <p:spPr>
          <a:xfrm>
            <a:off x="640080" y="1005840"/>
            <a:ext cx="3657600" cy="3200400"/>
          </a:xfrm>
          <a:prstGeom prst="rect">
            <a:avLst/>
          </a:prstGeom>
          <a:noFill/>
        </p:spPr>
        <p:txBody>
          <a:bodyPr wrap="square" lIns="45720" rIns="45720" tIns="18288" bIns="18288">
            <a:spAutoFit/>
          </a:bodyPr>
          <a:lstStyle/>
          <a:p>
            <a:pPr algn="l"/>
            <a:r>
              <a:rPr sz="24000" b="1" i="0">
                <a:solidFill>
                  <a:srgbClr val="FFFFFF"/>
                </a:solidFill>
                <a:latin typeface="Calibri"/>
              </a:rPr>
              <a:t>3</a:t>
            </a:r>
          </a:p>
        </p:txBody>
      </p:sp>
      <p:sp>
        <p:nvSpPr>
          <p:cNvPr id="6" name="TextBox 5"/>
          <p:cNvSpPr txBox="1"/>
          <p:nvPr/>
        </p:nvSpPr>
        <p:spPr>
          <a:xfrm>
            <a:off x="5029200" y="1463040"/>
            <a:ext cx="6522415" cy="1371600"/>
          </a:xfrm>
          <a:prstGeom prst="rect">
            <a:avLst/>
          </a:prstGeom>
          <a:noFill/>
        </p:spPr>
        <p:txBody>
          <a:bodyPr wrap="square" lIns="45720" rIns="45720" tIns="18288" bIns="18288">
            <a:spAutoFit/>
          </a:bodyPr>
          <a:lstStyle/>
          <a:p>
            <a:pPr algn="l"/>
            <a:r>
              <a:rPr sz="4000" b="1" i="0">
                <a:solidFill>
                  <a:srgbClr val="FFFFFF"/>
                </a:solidFill>
                <a:latin typeface="Calibri"/>
              </a:rPr>
              <a:t>How AGC integrates with Gateway API on AKS</a:t>
            </a:r>
          </a:p>
        </p:txBody>
      </p:sp>
      <p:sp>
        <p:nvSpPr>
          <p:cNvPr id="7" name="Rectangle 6"/>
          <p:cNvSpPr/>
          <p:nvPr/>
        </p:nvSpPr>
        <p:spPr>
          <a:xfrm>
            <a:off x="5029200" y="2834640"/>
            <a:ext cx="914400" cy="73152"/>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063240"/>
            <a:ext cx="1645920" cy="320040"/>
          </a:xfrm>
          <a:prstGeom prst="rect">
            <a:avLst/>
          </a:prstGeom>
          <a:noFill/>
        </p:spPr>
        <p:txBody>
          <a:bodyPr wrap="square" lIns="45720" rIns="45720" tIns="18288" bIns="18288">
            <a:spAutoFit/>
          </a:bodyPr>
          <a:lstStyle/>
          <a:p>
            <a:pPr algn="l"/>
            <a:r>
              <a:rPr sz="1000" b="1" i="0">
                <a:solidFill>
                  <a:srgbClr val="9CC8FF"/>
                </a:solidFill>
                <a:latin typeface="Calibri"/>
              </a:rPr>
              <a:t>IN THIS PART</a:t>
            </a:r>
          </a:p>
        </p:txBody>
      </p:sp>
      <p:sp>
        <p:nvSpPr>
          <p:cNvPr id="9" name="Oval 8"/>
          <p:cNvSpPr/>
          <p:nvPr/>
        </p:nvSpPr>
        <p:spPr>
          <a:xfrm>
            <a:off x="5029200" y="3520440"/>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429000"/>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End-to-end: AGC + Gateway API + AKS</a:t>
            </a:r>
          </a:p>
        </p:txBody>
      </p:sp>
      <p:sp>
        <p:nvSpPr>
          <p:cNvPr id="11" name="Oval 10"/>
          <p:cNvSpPr/>
          <p:nvPr/>
        </p:nvSpPr>
        <p:spPr>
          <a:xfrm>
            <a:off x="5029200" y="3904488"/>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0" y="3813048"/>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Traffic flow: client → AGC → pod (request lifecycle)</a:t>
            </a:r>
          </a:p>
        </p:txBody>
      </p:sp>
      <p:sp>
        <p:nvSpPr>
          <p:cNvPr id="13" name="TextBox 12"/>
          <p:cNvSpPr txBox="1"/>
          <p:nvPr/>
        </p:nvSpPr>
        <p:spPr>
          <a:xfrm>
            <a:off x="640080" y="6400800"/>
            <a:ext cx="3657600" cy="365760"/>
          </a:xfrm>
          <a:prstGeom prst="rect">
            <a:avLst/>
          </a:prstGeom>
          <a:noFill/>
        </p:spPr>
        <p:txBody>
          <a:bodyPr wrap="square" lIns="45720" rIns="45720" tIns="18288" bIns="18288">
            <a:spAutoFit/>
          </a:bodyPr>
          <a:lstStyle/>
          <a:p>
            <a:pPr algn="l"/>
            <a:r>
              <a:rPr sz="1100" b="0" i="0">
                <a:solidFill>
                  <a:srgbClr val="9CC8FF"/>
                </a:solidFill>
                <a:latin typeface="Calibri"/>
              </a:rPr>
              <a:t>17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AGC + GATEWAY API</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End-to-end: AGC + Gateway API + AKS</a:t>
            </a:r>
          </a:p>
        </p:txBody>
      </p:sp>
      <p:sp>
        <p:nvSpPr>
          <p:cNvPr id="7" name="Rectangle 6"/>
          <p:cNvSpPr/>
          <p:nvPr/>
        </p:nvSpPr>
        <p:spPr>
          <a:xfrm>
            <a:off x="457200" y="1097280"/>
            <a:ext cx="11277295" cy="3249930"/>
          </a:xfrm>
          <a:prstGeom prst="rect">
            <a:avLst/>
          </a:prstGeom>
          <a:solidFill>
            <a:srgbClr val="1E1E2E"/>
          </a:solidFill>
          <a:ln>
            <a:solidFill>
              <a:srgbClr val="103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64008" cy="324993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170432"/>
            <a:ext cx="11048695" cy="3103626"/>
          </a:xfrm>
          <a:prstGeom prst="rect">
            <a:avLst/>
          </a:prstGeom>
          <a:noFill/>
        </p:spPr>
        <p:txBody>
          <a:bodyPr wrap="none" lIns="36576" rIns="36576" tIns="18288" bIns="18288">
            <a:spAutoFit/>
          </a:bodyPr>
          <a:lstStyle/>
          <a:p>
            <a:pPr>
              <a:lnSpc>
                <a:spcPct val="100000"/>
              </a:lnSpc>
            </a:pPr>
            <a:r>
              <a:rPr sz="900">
                <a:solidFill>
                  <a:srgbClr val="E6E6E6"/>
                </a:solidFill>
                <a:latin typeface="Consolas"/>
              </a:rPr>
              <a:t>    ┌─ Application namespace: demo ────────────────────────────────┐</a:t>
            </a:r>
          </a:p>
          <a:p>
            <a:pPr>
              <a:lnSpc>
                <a:spcPct val="100000"/>
              </a:lnSpc>
            </a:pPr>
            <a:r>
              <a:rPr sz="900">
                <a:solidFill>
                  <a:srgbClr val="E6E6E6"/>
                </a:solidFill>
                <a:latin typeface="Consolas"/>
              </a:rPr>
              <a:t>    │  Gateway (azure-alb-external)                                │</a:t>
            </a:r>
          </a:p>
          <a:p>
            <a:pPr>
              <a:lnSpc>
                <a:spcPct val="100000"/>
              </a:lnSpc>
            </a:pPr>
            <a:r>
              <a:rPr sz="900">
                <a:solidFill>
                  <a:srgbClr val="E6E6E6"/>
                </a:solidFill>
                <a:latin typeface="Consolas"/>
              </a:rPr>
              <a:t>    │    annotations: alb-name=alb, alb-namespace=alb-infra         │</a:t>
            </a:r>
          </a:p>
          <a:p>
            <a:pPr>
              <a:lnSpc>
                <a:spcPct val="100000"/>
              </a:lnSpc>
            </a:pPr>
            <a:r>
              <a:rPr sz="900">
                <a:solidFill>
                  <a:srgbClr val="E6E6E6"/>
                </a:solidFill>
                <a:latin typeface="Consolas"/>
              </a:rPr>
              <a:t>    │       ▲                                                       │</a:t>
            </a:r>
          </a:p>
          <a:p>
            <a:pPr>
              <a:lnSpc>
                <a:spcPct val="100000"/>
              </a:lnSpc>
            </a:pPr>
            <a:r>
              <a:rPr sz="900">
                <a:solidFill>
                  <a:srgbClr val="E6E6E6"/>
                </a:solidFill>
                <a:latin typeface="Consolas"/>
              </a:rPr>
              <a:t>    │       │ parentRefs                                            │</a:t>
            </a:r>
          </a:p>
          <a:p>
            <a:pPr>
              <a:lnSpc>
                <a:spcPct val="100000"/>
              </a:lnSpc>
            </a:pPr>
            <a:r>
              <a:rPr sz="900">
                <a:solidFill>
                  <a:srgbClr val="E6E6E6"/>
                </a:solidFill>
                <a:latin typeface="Consolas"/>
              </a:rPr>
              <a:t>    │  HTTPRoute → Service → Pod                                    │</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 watched by</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azure-alb-system: alb-controller (Workload Identity)</a:t>
            </a:r>
          </a:p>
          <a:p>
            <a:pPr>
              <a:lnSpc>
                <a:spcPct val="100000"/>
              </a:lnSpc>
            </a:pPr>
            <a:r>
              <a:rPr sz="900">
                <a:solidFill>
                  <a:srgbClr val="E6E6E6"/>
                </a:solidFill>
                <a:latin typeface="Consolas"/>
              </a:rPr>
              <a:t>                                   │ reads</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alb-infra: ApplicationLoadBalancer "alb"</a:t>
            </a:r>
          </a:p>
          <a:p>
            <a:pPr>
              <a:lnSpc>
                <a:spcPct val="100000"/>
              </a:lnSpc>
            </a:pPr>
            <a:r>
              <a:rPr sz="900">
                <a:solidFill>
                  <a:srgbClr val="E6E6E6"/>
                </a:solidFill>
                <a:latin typeface="Consolas"/>
              </a:rPr>
              <a:t>                                   │ ARM API calls</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Application Gateway for Containers (PaaS)</a:t>
            </a:r>
          </a:p>
          <a:p>
            <a:pPr>
              <a:lnSpc>
                <a:spcPct val="100000"/>
              </a:lnSpc>
            </a:pPr>
            <a:r>
              <a:rPr sz="900">
                <a:solidFill>
                  <a:srgbClr val="E6E6E6"/>
                </a:solidFill>
                <a:latin typeface="Consolas"/>
              </a:rPr>
              <a:t>                    ├─ frontend(s) (public/private IP)</a:t>
            </a:r>
          </a:p>
          <a:p>
            <a:pPr>
              <a:lnSpc>
                <a:spcPct val="100000"/>
              </a:lnSpc>
            </a:pPr>
            <a:r>
              <a:rPr sz="900">
                <a:solidFill>
                  <a:srgbClr val="E6E6E6"/>
                </a:solidFill>
                <a:latin typeface="Consolas"/>
              </a:rPr>
              <a:t>                    ├─ listener rules from Gateway listeners</a:t>
            </a:r>
          </a:p>
          <a:p>
            <a:pPr>
              <a:lnSpc>
                <a:spcPct val="100000"/>
              </a:lnSpc>
            </a:pPr>
            <a:r>
              <a:rPr sz="900">
                <a:solidFill>
                  <a:srgbClr val="E6E6E6"/>
                </a:solidFill>
                <a:latin typeface="Consolas"/>
              </a:rPr>
              <a:t>                    ├─ backend settings from HTTPRoute filters</a:t>
            </a:r>
          </a:p>
          <a:p>
            <a:pPr>
              <a:lnSpc>
                <a:spcPct val="100000"/>
              </a:lnSpc>
            </a:pPr>
            <a:r>
              <a:rPr sz="900">
                <a:solidFill>
                  <a:srgbClr val="E6E6E6"/>
                </a:solidFill>
                <a:latin typeface="Consolas"/>
              </a:rPr>
              <a:t>                    └─ backend pool = pod IPs from EndpointSlice</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a:t>
            </a:r>
          </a:p>
          <a:p>
            <a:pPr>
              <a:lnSpc>
                <a:spcPct val="100000"/>
              </a:lnSpc>
            </a:pPr>
            <a:r>
              <a:rPr sz="900">
                <a:solidFill>
                  <a:srgbClr val="E6E6E6"/>
                </a:solidFill>
                <a:latin typeface="Consolas"/>
              </a:rPr>
              <a:t>                              AKS pods (Azure CNI)</a:t>
            </a:r>
          </a:p>
        </p:txBody>
      </p:sp>
      <p:sp>
        <p:nvSpPr>
          <p:cNvPr id="10" name="TextBox 9"/>
          <p:cNvSpPr txBox="1"/>
          <p:nvPr/>
        </p:nvSpPr>
        <p:spPr>
          <a:xfrm>
            <a:off x="457200" y="4438650"/>
            <a:ext cx="11277295" cy="2046216"/>
          </a:xfrm>
          <a:prstGeom prst="rect">
            <a:avLst/>
          </a:prstGeom>
          <a:noFill/>
        </p:spPr>
        <p:txBody>
          <a:bodyPr wrap="square" lIns="45720" rIns="45720" tIns="18288" bIns="18288">
            <a:spAutoFit/>
          </a:bodyPr>
          <a:lstStyle/>
          <a:p>
            <a:pPr>
              <a:spcAft>
                <a:spcPts val="200"/>
              </a:spcAft>
            </a:pPr>
            <a:r>
              <a:rPr sz="1400" b="1" i="0">
                <a:solidFill>
                  <a:srgbClr val="1F2A44"/>
                </a:solidFill>
                <a:latin typeface="Calibri"/>
              </a:rPr>
              <a:t>Why this is great</a:t>
            </a:r>
          </a:p>
          <a:p>
            <a:pPr>
              <a:spcAft>
                <a:spcPts val="200"/>
              </a:spcAft>
            </a:pPr>
            <a:r>
              <a:rPr sz="1400" b="1">
                <a:solidFill>
                  <a:srgbClr val="0078D4"/>
                </a:solidFill>
                <a:latin typeface="Calibri"/>
              </a:rPr>
              <a:t>▸ </a:t>
            </a:r>
            <a:r>
              <a:rPr sz="1400" b="1" i="0">
                <a:solidFill>
                  <a:srgbClr val="1F2A44"/>
                </a:solidFill>
                <a:latin typeface="Calibri"/>
              </a:rPr>
              <a:t>Clear ownership model</a:t>
            </a:r>
            <a:r>
              <a:rPr sz="1400" b="0" i="0">
                <a:solidFill>
                  <a:srgbClr val="1F2A44"/>
                </a:solidFill>
                <a:latin typeface="Calibri"/>
              </a:rPr>
              <a:t>: platform can own </a:t>
            </a:r>
            <a:r>
              <a:rPr sz="1400" b="0">
                <a:solidFill>
                  <a:srgbClr val="B01060"/>
                </a:solidFill>
                <a:latin typeface="Consolas"/>
              </a:rPr>
              <a:t>alb-infra</a:t>
            </a:r>
            <a:r>
              <a:rPr sz="1400" b="0" i="0">
                <a:solidFill>
                  <a:srgbClr val="1F2A44"/>
                </a:solidFill>
                <a:latin typeface="Calibri"/>
              </a:rPr>
              <a:t> + controller; apps attach with Gateway/HTTPRoute</a:t>
            </a:r>
          </a:p>
          <a:p>
            <a:pPr>
              <a:spcAft>
                <a:spcPts val="200"/>
              </a:spcAft>
            </a:pPr>
            <a:r>
              <a:rPr sz="1400" b="1">
                <a:solidFill>
                  <a:srgbClr val="0078D4"/>
                </a:solidFill>
                <a:latin typeface="Calibri"/>
              </a:rPr>
              <a:t>▸ </a:t>
            </a:r>
            <a:r>
              <a:rPr sz="1400" b="1" i="0">
                <a:solidFill>
                  <a:srgbClr val="1F2A44"/>
                </a:solidFill>
                <a:latin typeface="Calibri"/>
              </a:rPr>
              <a:t>Direct pod targeting</a:t>
            </a:r>
            <a:r>
              <a:rPr sz="1400" b="0" i="0">
                <a:solidFill>
                  <a:srgbClr val="1F2A44"/>
                </a:solidFill>
                <a:latin typeface="Calibri"/>
              </a:rPr>
              <a:t>: AGC backend pool = real pod IPs, no extra hop</a:t>
            </a:r>
          </a:p>
          <a:p>
            <a:pPr>
              <a:spcAft>
                <a:spcPts val="200"/>
              </a:spcAft>
            </a:pPr>
            <a:r>
              <a:rPr sz="1400" b="1">
                <a:solidFill>
                  <a:srgbClr val="0078D4"/>
                </a:solidFill>
                <a:latin typeface="Calibri"/>
              </a:rPr>
              <a:t>▸ </a:t>
            </a:r>
            <a:r>
              <a:rPr sz="1400" b="1" i="0">
                <a:solidFill>
                  <a:srgbClr val="1F2A44"/>
                </a:solidFill>
                <a:latin typeface="Calibri"/>
              </a:rPr>
              <a:t>Identity, not secrets</a:t>
            </a:r>
            <a:r>
              <a:rPr sz="1400" b="0" i="0">
                <a:solidFill>
                  <a:srgbClr val="1F2A44"/>
                </a:solidFill>
                <a:latin typeface="Calibri"/>
              </a:rPr>
              <a:t>: ALB Controller uses Workload Identity + federated credential</a:t>
            </a:r>
          </a:p>
          <a:p>
            <a:pPr>
              <a:spcAft>
                <a:spcPts val="200"/>
              </a:spcAft>
            </a:pPr>
            <a:r>
              <a:rPr sz="1400" b="1">
                <a:solidFill>
                  <a:srgbClr val="0078D4"/>
                </a:solidFill>
                <a:latin typeface="Calibri"/>
              </a:rPr>
              <a:t>▸ </a:t>
            </a:r>
            <a:r>
              <a:rPr sz="1400" b="1" i="0">
                <a:solidFill>
                  <a:srgbClr val="1F2A44"/>
                </a:solidFill>
                <a:latin typeface="Calibri"/>
              </a:rPr>
              <a:t>Portable spec</a:t>
            </a:r>
            <a:r>
              <a:rPr sz="1400" b="0" i="0">
                <a:solidFill>
                  <a:srgbClr val="1F2A44"/>
                </a:solidFill>
                <a:latin typeface="Calibri"/>
              </a:rPr>
              <a:t>: same </a:t>
            </a:r>
            <a:r>
              <a:rPr sz="1400" b="0">
                <a:solidFill>
                  <a:srgbClr val="B01060"/>
                </a:solidFill>
                <a:latin typeface="Consolas"/>
              </a:rPr>
              <a:t>HTTPRoute</a:t>
            </a:r>
            <a:r>
              <a:rPr sz="1400" b="0" i="0">
                <a:solidFill>
                  <a:srgbClr val="1F2A44"/>
                </a:solidFill>
                <a:latin typeface="Calibri"/>
              </a:rPr>
              <a:t> yaml runs against Envoy Gateway in dev and AGC in prod</a:t>
            </a:r>
          </a:p>
          <a:p>
            <a:pPr>
              <a:spcAft>
                <a:spcPts val="200"/>
              </a:spcAft>
            </a:pPr>
            <a:r>
              <a:rPr sz="1400" b="1">
                <a:solidFill>
                  <a:srgbClr val="0078D4"/>
                </a:solidFill>
                <a:latin typeface="Calibri"/>
              </a:rPr>
              <a:t>▸ </a:t>
            </a:r>
            <a:r>
              <a:rPr sz="1400" b="1" i="0">
                <a:solidFill>
                  <a:srgbClr val="1F2A44"/>
                </a:solidFill>
                <a:latin typeface="Calibri"/>
              </a:rPr>
              <a:t>Enterprise edge features for free</a:t>
            </a:r>
            <a:r>
              <a:rPr sz="1400" b="0" i="0">
                <a:solidFill>
                  <a:srgbClr val="1F2A44"/>
                </a:solidFill>
                <a:latin typeface="Calibri"/>
              </a:rPr>
              <a:t>: WAF, mTLS to backend, autoscaled PaaS, Azure Monitor integration</a:t>
            </a:r>
          </a:p>
        </p:txBody>
      </p:sp>
      <p:sp>
        <p:nvSpPr>
          <p:cNvPr id="11" name="Rectangle 10"/>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13" name="TextBox 12"/>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18 /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AGC + GATEWAY API</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Traffic flow: client → AGC → pod (request lifecycle)</a:t>
            </a:r>
          </a:p>
        </p:txBody>
      </p:sp>
      <p:sp>
        <p:nvSpPr>
          <p:cNvPr id="7" name="Rectangle 6"/>
          <p:cNvSpPr/>
          <p:nvPr/>
        </p:nvSpPr>
        <p:spPr>
          <a:xfrm>
            <a:off x="457200" y="1097280"/>
            <a:ext cx="11277295" cy="1833880"/>
          </a:xfrm>
          <a:prstGeom prst="rect">
            <a:avLst/>
          </a:prstGeom>
          <a:solidFill>
            <a:srgbClr val="1E1E2E"/>
          </a:solidFill>
          <a:ln>
            <a:solidFill>
              <a:srgbClr val="103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64008" cy="18338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170432"/>
            <a:ext cx="11048695" cy="1687576"/>
          </a:xfrm>
          <a:prstGeom prst="rect">
            <a:avLst/>
          </a:prstGeom>
          <a:noFill/>
        </p:spPr>
        <p:txBody>
          <a:bodyPr wrap="none" lIns="36576" rIns="36576" tIns="18288" bIns="18288">
            <a:spAutoFit/>
          </a:bodyPr>
          <a:lstStyle/>
          <a:p>
            <a:pPr>
              <a:lnSpc>
                <a:spcPct val="100000"/>
              </a:lnSpc>
            </a:pPr>
            <a:r>
              <a:rPr sz="1100">
                <a:solidFill>
                  <a:srgbClr val="E6E6E6"/>
                </a:solidFill>
                <a:latin typeface="Consolas"/>
              </a:rPr>
              <a:t>  1. DNS:  app.contoso.com  → AGC frontend IP</a:t>
            </a:r>
          </a:p>
          <a:p>
            <a:pPr>
              <a:lnSpc>
                <a:spcPct val="100000"/>
              </a:lnSpc>
            </a:pPr>
            <a:r>
              <a:rPr sz="1100">
                <a:solidFill>
                  <a:srgbClr val="E6E6E6"/>
                </a:solidFill>
                <a:latin typeface="Consolas"/>
              </a:rPr>
              <a:t>  2. Client TCP+TLS to AGC                         (TLS terminated at AGC)</a:t>
            </a:r>
          </a:p>
          <a:p>
            <a:pPr>
              <a:lnSpc>
                <a:spcPct val="100000"/>
              </a:lnSpc>
            </a:pPr>
            <a:r>
              <a:rPr sz="1100">
                <a:solidFill>
                  <a:srgbClr val="E6E6E6"/>
                </a:solidFill>
                <a:latin typeface="Consolas"/>
              </a:rPr>
              <a:t>  3. AGC listener matches host/path/headers        (from Gateway+HTTPRoute)</a:t>
            </a:r>
          </a:p>
          <a:p>
            <a:pPr>
              <a:lnSpc>
                <a:spcPct val="100000"/>
              </a:lnSpc>
            </a:pPr>
            <a:r>
              <a:rPr sz="1100">
                <a:solidFill>
                  <a:srgbClr val="E6E6E6"/>
                </a:solidFill>
                <a:latin typeface="Consolas"/>
              </a:rPr>
              <a:t>  4. WAF inspects request                          (if WAF policy attached)</a:t>
            </a:r>
          </a:p>
          <a:p>
            <a:pPr>
              <a:lnSpc>
                <a:spcPct val="100000"/>
              </a:lnSpc>
            </a:pPr>
            <a:r>
              <a:rPr sz="1100">
                <a:solidFill>
                  <a:srgbClr val="E6E6E6"/>
                </a:solidFill>
                <a:latin typeface="Consolas"/>
              </a:rPr>
              <a:t>  5. AGC picks healthy backend from pool           (pool = pod IPs)</a:t>
            </a:r>
          </a:p>
          <a:p>
            <a:pPr>
              <a:lnSpc>
                <a:spcPct val="100000"/>
              </a:lnSpc>
            </a:pPr>
            <a:r>
              <a:rPr sz="1100">
                <a:solidFill>
                  <a:srgbClr val="E6E6E6"/>
                </a:solidFill>
                <a:latin typeface="Consolas"/>
              </a:rPr>
              <a:t>  6. AGC opens connection to pod IP in delegated   (Azure CNI: pods have</a:t>
            </a:r>
          </a:p>
          <a:p>
            <a:pPr>
              <a:lnSpc>
                <a:spcPct val="100000"/>
              </a:lnSpc>
            </a:pPr>
            <a:r>
              <a:rPr sz="1100">
                <a:solidFill>
                  <a:srgbClr val="E6E6E6"/>
                </a:solidFill>
                <a:latin typeface="Consolas"/>
              </a:rPr>
              <a:t>     subnet's peer — directly to the pod            VNet IPs, routable)</a:t>
            </a:r>
          </a:p>
          <a:p>
            <a:pPr>
              <a:lnSpc>
                <a:spcPct val="100000"/>
              </a:lnSpc>
            </a:pPr>
            <a:r>
              <a:rPr sz="1100">
                <a:solidFill>
                  <a:srgbClr val="E6E6E6"/>
                </a:solidFill>
                <a:latin typeface="Consolas"/>
              </a:rPr>
              <a:t>  7. (Optional) mTLS to backend, HTTP/2 / gRPC</a:t>
            </a:r>
          </a:p>
          <a:p>
            <a:pPr>
              <a:lnSpc>
                <a:spcPct val="100000"/>
              </a:lnSpc>
            </a:pPr>
            <a:r>
              <a:rPr sz="1100">
                <a:solidFill>
                  <a:srgbClr val="E6E6E6"/>
                </a:solidFill>
                <a:latin typeface="Consolas"/>
              </a:rPr>
              <a:t>  8. Response returns through AGC to client</a:t>
            </a:r>
          </a:p>
          <a:p>
            <a:pPr>
              <a:lnSpc>
                <a:spcPct val="100000"/>
              </a:lnSpc>
            </a:pPr>
            <a:r>
              <a:rPr sz="1100">
                <a:solidFill>
                  <a:srgbClr val="E6E6E6"/>
                </a:solidFill>
                <a:latin typeface="Consolas"/>
              </a:rPr>
              <a:t>  9. Telemetry → Azure Monitor / Log Analytics</a:t>
            </a:r>
          </a:p>
        </p:txBody>
      </p:sp>
      <p:sp>
        <p:nvSpPr>
          <p:cNvPr id="10" name="Rectangle 9"/>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12" name="TextBox 11"/>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19 / 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2743200" cy="457200"/>
          </a:xfrm>
          <a:prstGeom prst="rect">
            <a:avLst/>
          </a:prstGeom>
          <a:noFill/>
        </p:spPr>
        <p:txBody>
          <a:bodyPr wrap="square" lIns="45720" rIns="45720" tIns="18288" bIns="18288">
            <a:spAutoFit/>
          </a:bodyPr>
          <a:lstStyle/>
          <a:p>
            <a:pPr algn="l"/>
            <a:r>
              <a:rPr sz="1800" b="1" i="0">
                <a:solidFill>
                  <a:srgbClr val="9CC8FF"/>
                </a:solidFill>
                <a:latin typeface="Calibri"/>
              </a:rPr>
              <a:t>PART</a:t>
            </a:r>
          </a:p>
        </p:txBody>
      </p:sp>
      <p:sp>
        <p:nvSpPr>
          <p:cNvPr id="5" name="TextBox 4"/>
          <p:cNvSpPr txBox="1"/>
          <p:nvPr/>
        </p:nvSpPr>
        <p:spPr>
          <a:xfrm>
            <a:off x="640080" y="1005840"/>
            <a:ext cx="3657600" cy="3200400"/>
          </a:xfrm>
          <a:prstGeom prst="rect">
            <a:avLst/>
          </a:prstGeom>
          <a:noFill/>
        </p:spPr>
        <p:txBody>
          <a:bodyPr wrap="square" lIns="45720" rIns="45720" tIns="18288" bIns="18288">
            <a:spAutoFit/>
          </a:bodyPr>
          <a:lstStyle/>
          <a:p>
            <a:pPr algn="l"/>
            <a:r>
              <a:rPr sz="24000" b="1" i="0">
                <a:solidFill>
                  <a:srgbClr val="FFFFFF"/>
                </a:solidFill>
                <a:latin typeface="Calibri"/>
              </a:rPr>
              <a:t>4</a:t>
            </a:r>
          </a:p>
        </p:txBody>
      </p:sp>
      <p:sp>
        <p:nvSpPr>
          <p:cNvPr id="6" name="TextBox 5"/>
          <p:cNvSpPr txBox="1"/>
          <p:nvPr/>
        </p:nvSpPr>
        <p:spPr>
          <a:xfrm>
            <a:off x="5029200" y="1463040"/>
            <a:ext cx="6522415" cy="1371600"/>
          </a:xfrm>
          <a:prstGeom prst="rect">
            <a:avLst/>
          </a:prstGeom>
          <a:noFill/>
        </p:spPr>
        <p:txBody>
          <a:bodyPr wrap="square" lIns="45720" rIns="45720" tIns="18288" bIns="18288">
            <a:spAutoFit/>
          </a:bodyPr>
          <a:lstStyle/>
          <a:p>
            <a:pPr algn="l"/>
            <a:r>
              <a:rPr sz="4000" b="1" i="0">
                <a:solidFill>
                  <a:srgbClr val="FFFFFF"/>
                </a:solidFill>
                <a:latin typeface="Calibri"/>
              </a:rPr>
              <a:t>Managed Argo CD on AKS</a:t>
            </a:r>
          </a:p>
        </p:txBody>
      </p:sp>
      <p:sp>
        <p:nvSpPr>
          <p:cNvPr id="7" name="Rectangle 6"/>
          <p:cNvSpPr/>
          <p:nvPr/>
        </p:nvSpPr>
        <p:spPr>
          <a:xfrm>
            <a:off x="5029200" y="2834640"/>
            <a:ext cx="914400" cy="73152"/>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063240"/>
            <a:ext cx="1645920" cy="320040"/>
          </a:xfrm>
          <a:prstGeom prst="rect">
            <a:avLst/>
          </a:prstGeom>
          <a:noFill/>
        </p:spPr>
        <p:txBody>
          <a:bodyPr wrap="square" lIns="45720" rIns="45720" tIns="18288" bIns="18288">
            <a:spAutoFit/>
          </a:bodyPr>
          <a:lstStyle/>
          <a:p>
            <a:pPr algn="l"/>
            <a:r>
              <a:rPr sz="1000" b="1" i="0">
                <a:solidFill>
                  <a:srgbClr val="9CC8FF"/>
                </a:solidFill>
                <a:latin typeface="Calibri"/>
              </a:rPr>
              <a:t>IN THIS PART</a:t>
            </a:r>
          </a:p>
        </p:txBody>
      </p:sp>
      <p:sp>
        <p:nvSpPr>
          <p:cNvPr id="9" name="Oval 8"/>
          <p:cNvSpPr/>
          <p:nvPr/>
        </p:nvSpPr>
        <p:spPr>
          <a:xfrm>
            <a:off x="5029200" y="3520440"/>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429000"/>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GitOps on AKS today</a:t>
            </a:r>
          </a:p>
        </p:txBody>
      </p:sp>
      <p:sp>
        <p:nvSpPr>
          <p:cNvPr id="11" name="Oval 10"/>
          <p:cNvSpPr/>
          <p:nvPr/>
        </p:nvSpPr>
        <p:spPr>
          <a:xfrm>
            <a:off x="5029200" y="3904488"/>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0" y="3813048"/>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Why managed Argo CD on AKS matters</a:t>
            </a:r>
          </a:p>
        </p:txBody>
      </p:sp>
      <p:sp>
        <p:nvSpPr>
          <p:cNvPr id="13" name="Oval 12"/>
          <p:cNvSpPr/>
          <p:nvPr/>
        </p:nvSpPr>
        <p:spPr>
          <a:xfrm>
            <a:off x="5029200" y="4288536"/>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0" y="4197096"/>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Enabling managed Argo CD</a:t>
            </a:r>
          </a:p>
        </p:txBody>
      </p:sp>
      <p:sp>
        <p:nvSpPr>
          <p:cNvPr id="15" name="Oval 14"/>
          <p:cNvSpPr/>
          <p:nvPr/>
        </p:nvSpPr>
        <p:spPr>
          <a:xfrm>
            <a:off x="5029200" y="4672584"/>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0" y="4581144"/>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Recap</a:t>
            </a:r>
          </a:p>
        </p:txBody>
      </p:sp>
      <p:sp>
        <p:nvSpPr>
          <p:cNvPr id="17" name="Oval 16"/>
          <p:cNvSpPr/>
          <p:nvPr/>
        </p:nvSpPr>
        <p:spPr>
          <a:xfrm>
            <a:off x="5029200" y="5056632"/>
            <a:ext cx="109728" cy="109728"/>
          </a:xfrm>
          <a:prstGeom prst="ellipse">
            <a:avLst/>
          </a:prstGeom>
          <a:solidFill>
            <a:srgbClr val="E81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4965192"/>
            <a:ext cx="6248095" cy="384048"/>
          </a:xfrm>
          <a:prstGeom prst="rect">
            <a:avLst/>
          </a:prstGeom>
          <a:noFill/>
        </p:spPr>
        <p:txBody>
          <a:bodyPr wrap="square" lIns="45720" rIns="45720" tIns="18288" bIns="18288" anchor="ctr">
            <a:spAutoFit/>
          </a:bodyPr>
          <a:lstStyle/>
          <a:p>
            <a:pPr algn="l"/>
            <a:r>
              <a:rPr sz="1500" b="0" i="0">
                <a:solidFill>
                  <a:srgbClr val="FFFFFF"/>
                </a:solidFill>
                <a:latin typeface="Calibri"/>
              </a:rPr>
              <a:t>Q&amp;A</a:t>
            </a:r>
          </a:p>
        </p:txBody>
      </p:sp>
      <p:sp>
        <p:nvSpPr>
          <p:cNvPr id="19" name="TextBox 18"/>
          <p:cNvSpPr txBox="1"/>
          <p:nvPr/>
        </p:nvSpPr>
        <p:spPr>
          <a:xfrm>
            <a:off x="640080" y="6400800"/>
            <a:ext cx="3657600" cy="365760"/>
          </a:xfrm>
          <a:prstGeom prst="rect">
            <a:avLst/>
          </a:prstGeom>
          <a:noFill/>
        </p:spPr>
        <p:txBody>
          <a:bodyPr wrap="square" lIns="45720" rIns="45720" tIns="18288" bIns="18288">
            <a:spAutoFit/>
          </a:bodyPr>
          <a:lstStyle/>
          <a:p>
            <a:pPr algn="l"/>
            <a:r>
              <a:rPr sz="1100" b="0" i="0">
                <a:solidFill>
                  <a:srgbClr val="9CC8FF"/>
                </a:solidFill>
                <a:latin typeface="Calibri"/>
              </a:rPr>
              <a:t>20 / 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MANAGED ARGO CD ON AKS</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GitOps on AKS today</a:t>
            </a:r>
          </a:p>
        </p:txBody>
      </p:sp>
      <p:sp>
        <p:nvSpPr>
          <p:cNvPr id="7" name="TextBox 6"/>
          <p:cNvSpPr txBox="1"/>
          <p:nvPr/>
        </p:nvSpPr>
        <p:spPr>
          <a:xfrm>
            <a:off x="457200" y="1097280"/>
            <a:ext cx="11277295" cy="303783"/>
          </a:xfrm>
          <a:prstGeom prst="rect">
            <a:avLst/>
          </a:prstGeom>
          <a:noFill/>
        </p:spPr>
        <p:txBody>
          <a:bodyPr wrap="square" lIns="45720" rIns="45720" tIns="18288" bIns="18288">
            <a:spAutoFit/>
          </a:bodyPr>
          <a:lstStyle/>
          <a:p>
            <a:pPr>
              <a:spcAft>
                <a:spcPts val="200"/>
              </a:spcAft>
            </a:pPr>
            <a:r>
              <a:rPr sz="1400" b="1" i="0">
                <a:solidFill>
                  <a:srgbClr val="1F2A44"/>
                </a:solidFill>
                <a:latin typeface="Calibri"/>
              </a:rPr>
              <a:t>Two managed options, one model</a:t>
            </a:r>
          </a:p>
        </p:txBody>
      </p:sp>
      <p:graphicFrame>
        <p:nvGraphicFramePr>
          <p:cNvPr id="8" name="Table 7"/>
          <p:cNvGraphicFramePr>
            <a:graphicFrameLocks noGrp="1"/>
          </p:cNvGraphicFramePr>
          <p:nvPr/>
        </p:nvGraphicFramePr>
        <p:xfrm>
          <a:off x="457200" y="1455927"/>
          <a:ext cx="11277294" cy="2734056"/>
        </p:xfrm>
        <a:graphic>
          <a:graphicData uri="http://schemas.openxmlformats.org/drawingml/2006/table">
            <a:tbl>
              <a:tblPr firstRow="1" bandRow="1">
                <a:tableStyleId>{5C22544A-7EE6-4342-B048-85BDC9FD1C3A}</a:tableStyleId>
              </a:tblPr>
              <a:tblGrid>
                <a:gridCol w="3759098"/>
                <a:gridCol w="3759098"/>
                <a:gridCol w="3759098"/>
              </a:tblGrid>
              <a:tr h="390579">
                <a:tc>
                  <a:txBody>
                    <a:bodyPr lIns="73152" rIns="73152" tIns="27432" bIns="27432"/>
                    <a:lstStyle/>
                    <a:p>
                      <a:r>
                        <a:rPr sz="1200" b="1">
                          <a:solidFill>
                            <a:srgbClr val="FFFFFF"/>
                          </a:solidFill>
                          <a:latin typeface="Calibri"/>
                        </a:rPr>
                        <a:t/>
                      </a:r>
                    </a:p>
                  </a:txBody>
                  <a:tcPr>
                    <a:solidFill>
                      <a:srgbClr val="103A6E"/>
                    </a:solidFill>
                  </a:tcPr>
                </a:tc>
                <a:tc>
                  <a:txBody>
                    <a:bodyPr lIns="73152" rIns="73152" tIns="27432" bIns="27432"/>
                    <a:lstStyle/>
                    <a:p>
                      <a:r>
                        <a:rPr sz="1200" b="1">
                          <a:solidFill>
                            <a:srgbClr val="FFFFFF"/>
                          </a:solidFill>
                          <a:latin typeface="Calibri"/>
                        </a:rPr>
                        <a:t>Managed Flux (existing)</a:t>
                      </a:r>
                    </a:p>
                  </a:txBody>
                  <a:tcPr>
                    <a:solidFill>
                      <a:srgbClr val="103A6E"/>
                    </a:solidFill>
                  </a:tcPr>
                </a:tc>
                <a:tc>
                  <a:txBody>
                    <a:bodyPr lIns="73152" rIns="73152" tIns="27432" bIns="27432"/>
                    <a:lstStyle/>
                    <a:p>
                      <a:r>
                        <a:rPr sz="1200" b="1">
                          <a:solidFill>
                            <a:srgbClr val="FFFFFF"/>
                          </a:solidFill>
                          <a:latin typeface="Calibri"/>
                        </a:rPr>
                        <a:t>Managed Argo CD (new)</a:t>
                      </a:r>
                    </a:p>
                  </a:txBody>
                  <a:tcPr>
                    <a:solidFill>
                      <a:srgbClr val="103A6E"/>
                    </a:solidFill>
                  </a:tcPr>
                </a:tc>
              </a:tr>
              <a:tr h="390579">
                <a:tc>
                  <a:txBody>
                    <a:bodyPr lIns="73152" rIns="73152" tIns="27432" bIns="27432"/>
                    <a:lstStyle/>
                    <a:p>
                      <a:r>
                        <a:rPr sz="1200" b="0" i="0">
                          <a:solidFill>
                            <a:srgbClr val="1F2A44"/>
                          </a:solidFill>
                          <a:latin typeface="Calibri"/>
                        </a:rPr>
                        <a:t>Add-on</a:t>
                      </a:r>
                    </a:p>
                  </a:txBody>
                  <a:tcPr>
                    <a:solidFill>
                      <a:srgbClr val="F3F5F9"/>
                    </a:solidFill>
                  </a:tcPr>
                </a:tc>
                <a:tc>
                  <a:txBody>
                    <a:bodyPr lIns="73152" rIns="73152" tIns="27432" bIns="27432"/>
                    <a:lstStyle/>
                    <a:p>
                      <a:r>
                        <a:rPr sz="1200" b="0">
                          <a:solidFill>
                            <a:srgbClr val="B01060"/>
                          </a:solidFill>
                          <a:latin typeface="Consolas"/>
                        </a:rPr>
                        <a:t>microsoft.flux</a:t>
                      </a:r>
                      <a:r>
                        <a:rPr sz="1200" b="0" i="0">
                          <a:solidFill>
                            <a:srgbClr val="1F2A44"/>
                          </a:solidFill>
                          <a:latin typeface="Calibri"/>
                        </a:rPr>
                        <a:t> extension</a:t>
                      </a:r>
                    </a:p>
                  </a:txBody>
                  <a:tcPr>
                    <a:solidFill>
                      <a:srgbClr val="F3F5F9"/>
                    </a:solidFill>
                  </a:tcPr>
                </a:tc>
                <a:tc>
                  <a:txBody>
                    <a:bodyPr lIns="73152" rIns="73152" tIns="27432" bIns="27432"/>
                    <a:lstStyle/>
                    <a:p>
                      <a:r>
                        <a:rPr sz="1200" b="0">
                          <a:solidFill>
                            <a:srgbClr val="B01060"/>
                          </a:solidFill>
                          <a:latin typeface="Consolas"/>
                        </a:rPr>
                        <a:t>microsoft.argocd</a:t>
                      </a:r>
                      <a:r>
                        <a:rPr sz="1200" b="0" i="0">
                          <a:solidFill>
                            <a:srgbClr val="1F2A44"/>
                          </a:solidFill>
                          <a:latin typeface="Calibri"/>
                        </a:rPr>
                        <a:t> extension</a:t>
                      </a:r>
                    </a:p>
                  </a:txBody>
                  <a:tcPr>
                    <a:solidFill>
                      <a:srgbClr val="F3F5F9"/>
                    </a:solidFill>
                  </a:tcPr>
                </a:tc>
              </a:tr>
              <a:tr h="390579">
                <a:tc>
                  <a:txBody>
                    <a:bodyPr lIns="73152" rIns="73152" tIns="27432" bIns="27432"/>
                    <a:lstStyle/>
                    <a:p>
                      <a:r>
                        <a:rPr sz="1200" b="0" i="0">
                          <a:solidFill>
                            <a:srgbClr val="1F2A44"/>
                          </a:solidFill>
                          <a:latin typeface="Calibri"/>
                        </a:rPr>
                        <a:t>UI</a:t>
                      </a:r>
                    </a:p>
                  </a:txBody>
                  <a:tcPr>
                    <a:solidFill>
                      <a:srgbClr val="FFFFFF"/>
                    </a:solidFill>
                  </a:tcPr>
                </a:tc>
                <a:tc>
                  <a:txBody>
                    <a:bodyPr lIns="73152" rIns="73152" tIns="27432" bIns="27432"/>
                    <a:lstStyle/>
                    <a:p>
                      <a:r>
                        <a:rPr sz="1200" b="0" i="0">
                          <a:solidFill>
                            <a:srgbClr val="1F2A44"/>
                          </a:solidFill>
                          <a:latin typeface="Calibri"/>
                        </a:rPr>
                        <a:t>None (CLI / Git only)</a:t>
                      </a:r>
                    </a:p>
                  </a:txBody>
                  <a:tcPr>
                    <a:solidFill>
                      <a:srgbClr val="FFFFFF"/>
                    </a:solidFill>
                  </a:tcPr>
                </a:tc>
                <a:tc>
                  <a:txBody>
                    <a:bodyPr lIns="73152" rIns="73152" tIns="27432" bIns="27432"/>
                    <a:lstStyle/>
                    <a:p>
                      <a:r>
                        <a:rPr sz="1200" b="0" i="0">
                          <a:solidFill>
                            <a:srgbClr val="1F2A44"/>
                          </a:solidFill>
                          <a:latin typeface="Calibri"/>
                        </a:rPr>
                        <a:t>Argo CD Web UI + CLI</a:t>
                      </a:r>
                    </a:p>
                  </a:txBody>
                  <a:tcPr>
                    <a:solidFill>
                      <a:srgbClr val="FFFFFF"/>
                    </a:solidFill>
                  </a:tcPr>
                </a:tc>
              </a:tr>
              <a:tr h="390579">
                <a:tc>
                  <a:txBody>
                    <a:bodyPr lIns="73152" rIns="73152" tIns="27432" bIns="27432"/>
                    <a:lstStyle/>
                    <a:p>
                      <a:r>
                        <a:rPr sz="1200" b="0" i="0">
                          <a:solidFill>
                            <a:srgbClr val="1F2A44"/>
                          </a:solidFill>
                          <a:latin typeface="Calibri"/>
                        </a:rPr>
                        <a:t>Reconciler</a:t>
                      </a:r>
                    </a:p>
                  </a:txBody>
                  <a:tcPr>
                    <a:solidFill>
                      <a:srgbClr val="F3F5F9"/>
                    </a:solidFill>
                  </a:tcPr>
                </a:tc>
                <a:tc>
                  <a:txBody>
                    <a:bodyPr lIns="73152" rIns="73152" tIns="27432" bIns="27432"/>
                    <a:lstStyle/>
                    <a:p>
                      <a:r>
                        <a:rPr sz="1200" b="0" i="0">
                          <a:solidFill>
                            <a:srgbClr val="1F2A44"/>
                          </a:solidFill>
                          <a:latin typeface="Calibri"/>
                        </a:rPr>
                        <a:t>Flux controllers</a:t>
                      </a:r>
                    </a:p>
                  </a:txBody>
                  <a:tcPr>
                    <a:solidFill>
                      <a:srgbClr val="F3F5F9"/>
                    </a:solidFill>
                  </a:tcPr>
                </a:tc>
                <a:tc>
                  <a:txBody>
                    <a:bodyPr lIns="73152" rIns="73152" tIns="27432" bIns="27432"/>
                    <a:lstStyle/>
                    <a:p>
                      <a:r>
                        <a:rPr sz="1200" b="0" i="0">
                          <a:solidFill>
                            <a:srgbClr val="1F2A44"/>
                          </a:solidFill>
                          <a:latin typeface="Calibri"/>
                        </a:rPr>
                        <a:t>Argo CD controllers</a:t>
                      </a:r>
                    </a:p>
                  </a:txBody>
                  <a:tcPr>
                    <a:solidFill>
                      <a:srgbClr val="F3F5F9"/>
                    </a:solidFill>
                  </a:tcPr>
                </a:tc>
              </a:tr>
              <a:tr h="390579">
                <a:tc>
                  <a:txBody>
                    <a:bodyPr lIns="73152" rIns="73152" tIns="27432" bIns="27432"/>
                    <a:lstStyle/>
                    <a:p>
                      <a:r>
                        <a:rPr sz="1200" b="0" i="0">
                          <a:solidFill>
                            <a:srgbClr val="1F2A44"/>
                          </a:solidFill>
                          <a:latin typeface="Calibri"/>
                        </a:rPr>
                        <a:t>Multi-cluster</a:t>
                      </a:r>
                    </a:p>
                  </a:txBody>
                  <a:tcPr>
                    <a:solidFill>
                      <a:srgbClr val="FFFFFF"/>
                    </a:solidFill>
                  </a:tcPr>
                </a:tc>
                <a:tc>
                  <a:txBody>
                    <a:bodyPr lIns="73152" rIns="73152" tIns="27432" bIns="27432"/>
                    <a:lstStyle/>
                    <a:p>
                      <a:r>
                        <a:rPr sz="1200" b="0" i="0">
                          <a:solidFill>
                            <a:srgbClr val="1F2A44"/>
                          </a:solidFill>
                          <a:latin typeface="Calibri"/>
                        </a:rPr>
                        <a:t>Per-cluster</a:t>
                      </a:r>
                    </a:p>
                  </a:txBody>
                  <a:tcPr>
                    <a:solidFill>
                      <a:srgbClr val="FFFFFF"/>
                    </a:solidFill>
                  </a:tcPr>
                </a:tc>
                <a:tc>
                  <a:txBody>
                    <a:bodyPr lIns="73152" rIns="73152" tIns="27432" bIns="27432"/>
                    <a:lstStyle/>
                    <a:p>
                      <a:r>
                        <a:rPr sz="1200" b="0" i="0">
                          <a:solidFill>
                            <a:srgbClr val="1F2A44"/>
                          </a:solidFill>
                          <a:latin typeface="Calibri"/>
                        </a:rPr>
                        <a:t>Hub-and-spoke from one Argo CD</a:t>
                      </a:r>
                    </a:p>
                  </a:txBody>
                  <a:tcPr>
                    <a:solidFill>
                      <a:srgbClr val="FFFFFF"/>
                    </a:solidFill>
                  </a:tcPr>
                </a:tc>
              </a:tr>
              <a:tr h="390579">
                <a:tc>
                  <a:txBody>
                    <a:bodyPr lIns="73152" rIns="73152" tIns="27432" bIns="27432"/>
                    <a:lstStyle/>
                    <a:p>
                      <a:r>
                        <a:rPr sz="1200" b="0" i="0">
                          <a:solidFill>
                            <a:srgbClr val="1F2A44"/>
                          </a:solidFill>
                          <a:latin typeface="Calibri"/>
                        </a:rPr>
                        <a:t>Tenancy model</a:t>
                      </a:r>
                    </a:p>
                  </a:txBody>
                  <a:tcPr>
                    <a:solidFill>
                      <a:srgbClr val="F3F5F9"/>
                    </a:solidFill>
                  </a:tcPr>
                </a:tc>
                <a:tc>
                  <a:txBody>
                    <a:bodyPr lIns="73152" rIns="73152" tIns="27432" bIns="27432"/>
                    <a:lstStyle/>
                    <a:p>
                      <a:r>
                        <a:rPr sz="1200" b="0" i="0">
                          <a:solidFill>
                            <a:srgbClr val="1F2A44"/>
                          </a:solidFill>
                          <a:latin typeface="Calibri"/>
                        </a:rPr>
                        <a:t>Kustomization / HelmRelease</a:t>
                      </a:r>
                    </a:p>
                  </a:txBody>
                  <a:tcPr>
                    <a:solidFill>
                      <a:srgbClr val="F3F5F9"/>
                    </a:solidFill>
                  </a:tcPr>
                </a:tc>
                <a:tc>
                  <a:txBody>
                    <a:bodyPr lIns="73152" rIns="73152" tIns="27432" bIns="27432"/>
                    <a:lstStyle/>
                    <a:p>
                      <a:r>
                        <a:rPr sz="1200" b="0" i="0">
                          <a:solidFill>
                            <a:srgbClr val="1F2A44"/>
                          </a:solidFill>
                          <a:latin typeface="Calibri"/>
                        </a:rPr>
                        <a:t>Application / ApplicationSet / Project</a:t>
                      </a:r>
                    </a:p>
                  </a:txBody>
                  <a:tcPr>
                    <a:solidFill>
                      <a:srgbClr val="F3F5F9"/>
                    </a:solidFill>
                  </a:tcPr>
                </a:tc>
              </a:tr>
              <a:tr h="390582">
                <a:tc>
                  <a:txBody>
                    <a:bodyPr lIns="73152" rIns="73152" tIns="27432" bIns="27432"/>
                    <a:lstStyle/>
                    <a:p>
                      <a:r>
                        <a:rPr sz="1200" b="0" i="0">
                          <a:solidFill>
                            <a:srgbClr val="1F2A44"/>
                          </a:solidFill>
                          <a:latin typeface="Calibri"/>
                        </a:rPr>
                        <a:t>Strength</a:t>
                      </a:r>
                    </a:p>
                  </a:txBody>
                  <a:tcPr>
                    <a:solidFill>
                      <a:srgbClr val="FFFFFF"/>
                    </a:solidFill>
                  </a:tcPr>
                </a:tc>
                <a:tc>
                  <a:txBody>
                    <a:bodyPr lIns="73152" rIns="73152" tIns="27432" bIns="27432"/>
                    <a:lstStyle/>
                    <a:p>
                      <a:r>
                        <a:rPr sz="1200" b="0" i="0">
                          <a:solidFill>
                            <a:srgbClr val="1F2A44"/>
                          </a:solidFill>
                          <a:latin typeface="Calibri"/>
                        </a:rPr>
                        <a:t>Lightweight, pull-only, great for fleet</a:t>
                      </a:r>
                    </a:p>
                  </a:txBody>
                  <a:tcPr>
                    <a:solidFill>
                      <a:srgbClr val="FFFFFF"/>
                    </a:solidFill>
                  </a:tcPr>
                </a:tc>
                <a:tc>
                  <a:txBody>
                    <a:bodyPr lIns="73152" rIns="73152" tIns="27432" bIns="27432"/>
                    <a:lstStyle/>
                    <a:p>
                      <a:r>
                        <a:rPr sz="1200" b="0" i="0">
                          <a:solidFill>
                            <a:srgbClr val="1F2A44"/>
                          </a:solidFill>
                          <a:latin typeface="Calibri"/>
                        </a:rPr>
                        <a:t>Visual, app-centric, great for dev teams</a:t>
                      </a:r>
                    </a:p>
                  </a:txBody>
                  <a:tcPr>
                    <a:solidFill>
                      <a:srgbClr val="FFFFFF"/>
                    </a:solidFill>
                  </a:tcPr>
                </a:tc>
              </a:tr>
            </a:tbl>
          </a:graphicData>
        </a:graphic>
      </p:graphicFrame>
      <p:sp>
        <p:nvSpPr>
          <p:cNvPr id="9" name="Rectangle 8"/>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11" name="TextBox 10"/>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21 / 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MANAGED ARGO CD ON AKS</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Why managed Argo CD on AKS matters</a:t>
            </a:r>
          </a:p>
        </p:txBody>
      </p:sp>
      <p:sp>
        <p:nvSpPr>
          <p:cNvPr id="7" name="TextBox 6"/>
          <p:cNvSpPr txBox="1"/>
          <p:nvPr/>
        </p:nvSpPr>
        <p:spPr>
          <a:xfrm>
            <a:off x="457200" y="1097280"/>
            <a:ext cx="11277295" cy="2046216"/>
          </a:xfrm>
          <a:prstGeom prst="rect">
            <a:avLst/>
          </a:prstGeom>
          <a:noFill/>
        </p:spPr>
        <p:txBody>
          <a:bodyPr wrap="square" lIns="45720" rIns="45720" tIns="18288" bIns="18288">
            <a:spAutoFit/>
          </a:bodyPr>
          <a:lstStyle/>
          <a:p>
            <a:pPr>
              <a:spcAft>
                <a:spcPts val="200"/>
              </a:spcAft>
            </a:pPr>
            <a:r>
              <a:rPr sz="1400" b="1">
                <a:solidFill>
                  <a:srgbClr val="0078D4"/>
                </a:solidFill>
                <a:latin typeface="Calibri"/>
              </a:rPr>
              <a:t>▸ </a:t>
            </a:r>
            <a:r>
              <a:rPr sz="1400" b="1" i="0">
                <a:solidFill>
                  <a:srgbClr val="1F2A44"/>
                </a:solidFill>
                <a:latin typeface="Calibri"/>
              </a:rPr>
              <a:t>No more "who owns the Argo CD cluster?"</a:t>
            </a:r>
            <a:r>
              <a:rPr sz="1400" b="0" i="0">
                <a:solidFill>
                  <a:srgbClr val="1F2A44"/>
                </a:solidFill>
                <a:latin typeface="Calibri"/>
              </a:rPr>
              <a:t> — Microsoft runs the control plane components, upgrades, CVEs, backups</a:t>
            </a:r>
          </a:p>
          <a:p>
            <a:pPr>
              <a:spcAft>
                <a:spcPts val="200"/>
              </a:spcAft>
            </a:pPr>
            <a:r>
              <a:rPr sz="1400" b="1">
                <a:solidFill>
                  <a:srgbClr val="0078D4"/>
                </a:solidFill>
                <a:latin typeface="Calibri"/>
              </a:rPr>
              <a:t>▸ </a:t>
            </a:r>
            <a:r>
              <a:rPr sz="1400" b="1" i="0">
                <a:solidFill>
                  <a:srgbClr val="1F2A44"/>
                </a:solidFill>
                <a:latin typeface="Calibri"/>
              </a:rPr>
              <a:t>Identity integrated with Entra ID</a:t>
            </a:r>
            <a:r>
              <a:rPr sz="1400" b="0" i="0">
                <a:solidFill>
                  <a:srgbClr val="1F2A44"/>
                </a:solidFill>
                <a:latin typeface="Calibri"/>
              </a:rPr>
              <a:t> — SSO, RBAC mapped to AAD groups out of the box</a:t>
            </a:r>
          </a:p>
          <a:p>
            <a:pPr>
              <a:spcAft>
                <a:spcPts val="200"/>
              </a:spcAft>
            </a:pPr>
            <a:r>
              <a:rPr sz="1400" b="1">
                <a:solidFill>
                  <a:srgbClr val="0078D4"/>
                </a:solidFill>
                <a:latin typeface="Calibri"/>
              </a:rPr>
              <a:t>▸ </a:t>
            </a:r>
            <a:r>
              <a:rPr sz="1400" b="1" i="0">
                <a:solidFill>
                  <a:srgbClr val="1F2A44"/>
                </a:solidFill>
                <a:latin typeface="Calibri"/>
              </a:rPr>
              <a:t>Workload Identity to target clusters</a:t>
            </a:r>
            <a:r>
              <a:rPr sz="1400" b="0" i="0">
                <a:solidFill>
                  <a:srgbClr val="1F2A44"/>
                </a:solidFill>
                <a:latin typeface="Calibri"/>
              </a:rPr>
              <a:t> — no kubeconfig secrets stored in Argo CD</a:t>
            </a:r>
          </a:p>
          <a:p>
            <a:pPr>
              <a:spcAft>
                <a:spcPts val="200"/>
              </a:spcAft>
            </a:pPr>
            <a:r>
              <a:rPr sz="1400" b="1">
                <a:solidFill>
                  <a:srgbClr val="0078D4"/>
                </a:solidFill>
                <a:latin typeface="Calibri"/>
              </a:rPr>
              <a:t>▸ </a:t>
            </a:r>
            <a:r>
              <a:rPr sz="1400" b="1" i="0">
                <a:solidFill>
                  <a:srgbClr val="1F2A44"/>
                </a:solidFill>
                <a:latin typeface="Calibri"/>
              </a:rPr>
              <a:t>Azure Monitor integration</a:t>
            </a:r>
            <a:r>
              <a:rPr sz="1400" b="0" i="0">
                <a:solidFill>
                  <a:srgbClr val="1F2A44"/>
                </a:solidFill>
                <a:latin typeface="Calibri"/>
              </a:rPr>
              <a:t> — sync status, drift, app health as standard metrics</a:t>
            </a:r>
          </a:p>
          <a:p>
            <a:pPr>
              <a:spcAft>
                <a:spcPts val="200"/>
              </a:spcAft>
            </a:pPr>
            <a:r>
              <a:rPr sz="1400" b="1">
                <a:solidFill>
                  <a:srgbClr val="0078D4"/>
                </a:solidFill>
                <a:latin typeface="Calibri"/>
              </a:rPr>
              <a:t>▸ </a:t>
            </a:r>
            <a:r>
              <a:rPr sz="1400" b="1" i="0">
                <a:solidFill>
                  <a:srgbClr val="1F2A44"/>
                </a:solidFill>
                <a:latin typeface="Calibri"/>
              </a:rPr>
              <a:t>Fleet-scale</a:t>
            </a:r>
            <a:r>
              <a:rPr sz="1400" b="0" i="0">
                <a:solidFill>
                  <a:srgbClr val="1F2A44"/>
                </a:solidFill>
                <a:latin typeface="Calibri"/>
              </a:rPr>
              <a:t> — install via Azure Arc / AKS extension on many clusters with one ARM template</a:t>
            </a:r>
          </a:p>
          <a:p>
            <a:pPr>
              <a:spcAft>
                <a:spcPts val="200"/>
              </a:spcAft>
            </a:pPr>
            <a:r>
              <a:rPr sz="1400" b="1">
                <a:solidFill>
                  <a:srgbClr val="0078D4"/>
                </a:solidFill>
                <a:latin typeface="Calibri"/>
              </a:rPr>
              <a:t>▸ </a:t>
            </a:r>
            <a:r>
              <a:rPr sz="1400" b="1" i="0">
                <a:solidFill>
                  <a:srgbClr val="1F2A44"/>
                </a:solidFill>
                <a:latin typeface="Calibri"/>
              </a:rPr>
              <a:t>Same upstream API</a:t>
            </a:r>
            <a:r>
              <a:rPr sz="1400" b="0" i="0">
                <a:solidFill>
                  <a:srgbClr val="1F2A44"/>
                </a:solidFill>
                <a:latin typeface="Calibri"/>
              </a:rPr>
              <a:t> — your existing </a:t>
            </a:r>
            <a:r>
              <a:rPr sz="1400" b="0">
                <a:solidFill>
                  <a:srgbClr val="B01060"/>
                </a:solidFill>
                <a:latin typeface="Consolas"/>
              </a:rPr>
              <a:t>Application</a:t>
            </a:r>
            <a:r>
              <a:rPr sz="1400" b="0" i="0">
                <a:solidFill>
                  <a:srgbClr val="1F2A44"/>
                </a:solidFill>
                <a:latin typeface="Calibri"/>
              </a:rPr>
              <a:t>, </a:t>
            </a:r>
            <a:r>
              <a:rPr sz="1400" b="0">
                <a:solidFill>
                  <a:srgbClr val="B01060"/>
                </a:solidFill>
                <a:latin typeface="Consolas"/>
              </a:rPr>
              <a:t>ApplicationSet</a:t>
            </a:r>
            <a:r>
              <a:rPr sz="1400" b="0" i="0">
                <a:solidFill>
                  <a:srgbClr val="1F2A44"/>
                </a:solidFill>
                <a:latin typeface="Calibri"/>
              </a:rPr>
              <a:t>, </a:t>
            </a:r>
            <a:r>
              <a:rPr sz="1400" b="0">
                <a:solidFill>
                  <a:srgbClr val="B01060"/>
                </a:solidFill>
                <a:latin typeface="Consolas"/>
              </a:rPr>
              <a:t>AppProject</a:t>
            </a:r>
            <a:r>
              <a:rPr sz="1400" b="0" i="0">
                <a:solidFill>
                  <a:srgbClr val="1F2A44"/>
                </a:solidFill>
                <a:latin typeface="Calibri"/>
              </a:rPr>
              <a:t> manifests work unchanged</a:t>
            </a:r>
          </a:p>
        </p:txBody>
      </p:sp>
      <p:sp>
        <p:nvSpPr>
          <p:cNvPr id="8" name="TextBox 7"/>
          <p:cNvSpPr txBox="1"/>
          <p:nvPr/>
        </p:nvSpPr>
        <p:spPr>
          <a:xfrm>
            <a:off x="457200" y="3198360"/>
            <a:ext cx="11277295" cy="1050540"/>
          </a:xfrm>
          <a:prstGeom prst="rect">
            <a:avLst/>
          </a:prstGeom>
          <a:noFill/>
        </p:spPr>
        <p:txBody>
          <a:bodyPr wrap="square" lIns="45720" rIns="45720" tIns="18288" bIns="18288">
            <a:spAutoFit/>
          </a:bodyPr>
          <a:lstStyle/>
          <a:p>
            <a:pPr>
              <a:spcAft>
                <a:spcPts val="200"/>
              </a:spcAft>
            </a:pPr>
            <a:r>
              <a:rPr sz="1400" b="1" i="0">
                <a:solidFill>
                  <a:srgbClr val="1F2A44"/>
                </a:solidFill>
                <a:latin typeface="Calibri"/>
              </a:rPr>
              <a:t>Where it fits</a:t>
            </a:r>
          </a:p>
          <a:p>
            <a:pPr>
              <a:spcAft>
                <a:spcPts val="200"/>
              </a:spcAft>
            </a:pPr>
            <a:r>
              <a:rPr sz="1400" b="1">
                <a:solidFill>
                  <a:srgbClr val="0078D4"/>
                </a:solidFill>
                <a:latin typeface="Calibri"/>
              </a:rPr>
              <a:t>▸ </a:t>
            </a:r>
            <a:r>
              <a:rPr sz="1400" b="0" i="0">
                <a:solidFill>
                  <a:srgbClr val="1F2A44"/>
                </a:solidFill>
                <a:latin typeface="Calibri"/>
              </a:rPr>
              <a:t>Platform teams running 10s–100s of clusters who want a single pane of glass per app</a:t>
            </a:r>
          </a:p>
          <a:p>
            <a:pPr>
              <a:spcAft>
                <a:spcPts val="200"/>
              </a:spcAft>
            </a:pPr>
            <a:r>
              <a:rPr sz="1400" b="1">
                <a:solidFill>
                  <a:srgbClr val="0078D4"/>
                </a:solidFill>
                <a:latin typeface="Calibri"/>
              </a:rPr>
              <a:t>▸ </a:t>
            </a:r>
            <a:r>
              <a:rPr sz="1400" b="0" i="0">
                <a:solidFill>
                  <a:srgbClr val="1F2A44"/>
                </a:solidFill>
                <a:latin typeface="Calibri"/>
              </a:rPr>
              <a:t>Organizations standardizing on Entra ID for everything (Argo's native auth is replaced)</a:t>
            </a:r>
          </a:p>
          <a:p>
            <a:pPr>
              <a:spcAft>
                <a:spcPts val="200"/>
              </a:spcAft>
            </a:pPr>
            <a:r>
              <a:rPr sz="1400" b="1">
                <a:solidFill>
                  <a:srgbClr val="0078D4"/>
                </a:solidFill>
                <a:latin typeface="Calibri"/>
              </a:rPr>
              <a:t>▸ </a:t>
            </a:r>
            <a:r>
              <a:rPr sz="1400" b="0" i="0">
                <a:solidFill>
                  <a:srgbClr val="1F2A44"/>
                </a:solidFill>
                <a:latin typeface="Calibri"/>
              </a:rPr>
              <a:t>Teams that want UI-driven rollback / sync without giving cluster-admin to developers</a:t>
            </a:r>
          </a:p>
        </p:txBody>
      </p:sp>
      <p:sp>
        <p:nvSpPr>
          <p:cNvPr id="9" name="Rectangle 8"/>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11" name="TextBox 10"/>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22 /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MANAGED ARGO CD ON AKS</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Enabling managed Argo CD</a:t>
            </a:r>
          </a:p>
        </p:txBody>
      </p:sp>
      <p:sp>
        <p:nvSpPr>
          <p:cNvPr id="7" name="TextBox 6"/>
          <p:cNvSpPr txBox="1"/>
          <p:nvPr/>
        </p:nvSpPr>
        <p:spPr>
          <a:xfrm>
            <a:off x="457200" y="1097280"/>
            <a:ext cx="11277295" cy="640080"/>
          </a:xfrm>
          <a:prstGeom prst="rect">
            <a:avLst/>
          </a:prstGeom>
          <a:noFill/>
        </p:spPr>
        <p:txBody>
          <a:bodyPr wrap="square" lIns="45720" rIns="45720" tIns="18288" bIns="18288">
            <a:spAutoFit/>
          </a:bodyPr>
          <a:lstStyle/>
          <a:p>
            <a:pPr algn="l"/>
            <a:r>
              <a:rPr sz="1500" b="0" i="1">
                <a:solidFill>
                  <a:srgbClr val="103A6E"/>
                </a:solidFill>
                <a:latin typeface="Calibri"/>
              </a:rPr>
              <a:t>Turn AKS into a GitOps target with the managed Argo CD extension. SSO via Entra ID, target-cluster access via Workload Identity, and Argo's Application CRDs untouched.</a:t>
            </a:r>
          </a:p>
        </p:txBody>
      </p:sp>
      <p:sp>
        <p:nvSpPr>
          <p:cNvPr id="8" name="TextBox 7"/>
          <p:cNvSpPr txBox="1"/>
          <p:nvPr/>
        </p:nvSpPr>
        <p:spPr>
          <a:xfrm>
            <a:off x="457200" y="1783080"/>
            <a:ext cx="6858000" cy="320040"/>
          </a:xfrm>
          <a:prstGeom prst="rect">
            <a:avLst/>
          </a:prstGeom>
          <a:noFill/>
        </p:spPr>
        <p:txBody>
          <a:bodyPr wrap="square" lIns="45720" rIns="45720" tIns="18288" bIns="18288">
            <a:spAutoFit/>
          </a:bodyPr>
          <a:lstStyle/>
          <a:p>
            <a:pPr algn="l"/>
            <a:r>
              <a:rPr sz="1000" b="1" i="0">
                <a:solidFill>
                  <a:srgbClr val="0078D4"/>
                </a:solidFill>
                <a:latin typeface="Calibri"/>
              </a:rPr>
              <a:t>STEPS PERFORMED BY THE SCRIPT</a:t>
            </a:r>
          </a:p>
        </p:txBody>
      </p:sp>
      <p:sp>
        <p:nvSpPr>
          <p:cNvPr id="9" name="Oval 8"/>
          <p:cNvSpPr/>
          <p:nvPr/>
        </p:nvSpPr>
        <p:spPr>
          <a:xfrm>
            <a:off x="457200" y="2148840"/>
            <a:ext cx="384048" cy="384048"/>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148840"/>
            <a:ext cx="384048" cy="384048"/>
          </a:xfrm>
          <a:prstGeom prst="rect">
            <a:avLst/>
          </a:prstGeom>
          <a:noFill/>
        </p:spPr>
        <p:txBody>
          <a:bodyPr wrap="square" lIns="45720" rIns="45720" tIns="18288" bIns="18288" anchor="ctr">
            <a:spAutoFit/>
          </a:bodyPr>
          <a:lstStyle/>
          <a:p>
            <a:pPr algn="ctr"/>
            <a:r>
              <a:rPr sz="1400" b="1" i="0">
                <a:solidFill>
                  <a:srgbClr val="FFFFFF"/>
                </a:solidFill>
                <a:latin typeface="Calibri"/>
              </a:rPr>
              <a:t>1</a:t>
            </a:r>
          </a:p>
        </p:txBody>
      </p:sp>
      <p:sp>
        <p:nvSpPr>
          <p:cNvPr id="11" name="TextBox 10"/>
          <p:cNvSpPr txBox="1"/>
          <p:nvPr/>
        </p:nvSpPr>
        <p:spPr>
          <a:xfrm>
            <a:off x="960120" y="2167128"/>
            <a:ext cx="6309360" cy="411480"/>
          </a:xfrm>
          <a:prstGeom prst="rect">
            <a:avLst/>
          </a:prstGeom>
          <a:noFill/>
        </p:spPr>
        <p:txBody>
          <a:bodyPr wrap="square" lIns="45720" rIns="45720" tIns="18288" bIns="18288" anchor="ctr">
            <a:spAutoFit/>
          </a:bodyPr>
          <a:lstStyle/>
          <a:p>
            <a:pPr algn="l"/>
            <a:r>
              <a:rPr sz="1300" b="0" i="0">
                <a:solidFill>
                  <a:srgbClr val="1F2A44"/>
                </a:solidFill>
                <a:latin typeface="Calibri"/>
              </a:rPr>
              <a:t>Ensure the K8s-configuration provider + extension CLI are available</a:t>
            </a:r>
          </a:p>
        </p:txBody>
      </p:sp>
      <p:sp>
        <p:nvSpPr>
          <p:cNvPr id="12" name="Oval 11"/>
          <p:cNvSpPr/>
          <p:nvPr/>
        </p:nvSpPr>
        <p:spPr>
          <a:xfrm>
            <a:off x="457200" y="2606040"/>
            <a:ext cx="384048" cy="384048"/>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606040"/>
            <a:ext cx="384048" cy="384048"/>
          </a:xfrm>
          <a:prstGeom prst="rect">
            <a:avLst/>
          </a:prstGeom>
          <a:noFill/>
        </p:spPr>
        <p:txBody>
          <a:bodyPr wrap="square" lIns="45720" rIns="45720" tIns="18288" bIns="18288" anchor="ctr">
            <a:spAutoFit/>
          </a:bodyPr>
          <a:lstStyle/>
          <a:p>
            <a:pPr algn="ctr"/>
            <a:r>
              <a:rPr sz="1400" b="1" i="0">
                <a:solidFill>
                  <a:srgbClr val="FFFFFF"/>
                </a:solidFill>
                <a:latin typeface="Calibri"/>
              </a:rPr>
              <a:t>2</a:t>
            </a:r>
          </a:p>
        </p:txBody>
      </p:sp>
      <p:sp>
        <p:nvSpPr>
          <p:cNvPr id="14" name="TextBox 13"/>
          <p:cNvSpPr txBox="1"/>
          <p:nvPr/>
        </p:nvSpPr>
        <p:spPr>
          <a:xfrm>
            <a:off x="960120" y="2624328"/>
            <a:ext cx="6309360" cy="411480"/>
          </a:xfrm>
          <a:prstGeom prst="rect">
            <a:avLst/>
          </a:prstGeom>
          <a:noFill/>
        </p:spPr>
        <p:txBody>
          <a:bodyPr wrap="square" lIns="45720" rIns="45720" tIns="18288" bIns="18288" anchor="ctr">
            <a:spAutoFit/>
          </a:bodyPr>
          <a:lstStyle/>
          <a:p>
            <a:pPr algn="l"/>
            <a:r>
              <a:rPr sz="1300" b="0" i="0">
                <a:solidFill>
                  <a:srgbClr val="1F2A44"/>
                </a:solidFill>
                <a:latin typeface="Calibri"/>
              </a:rPr>
              <a:t>Install the managed Argo CD extension on the cluster</a:t>
            </a:r>
          </a:p>
        </p:txBody>
      </p:sp>
      <p:sp>
        <p:nvSpPr>
          <p:cNvPr id="15" name="Oval 14"/>
          <p:cNvSpPr/>
          <p:nvPr/>
        </p:nvSpPr>
        <p:spPr>
          <a:xfrm>
            <a:off x="457200" y="3063240"/>
            <a:ext cx="384048" cy="384048"/>
          </a:xfrm>
          <a:prstGeom prst="ellipse">
            <a:avLst/>
          </a:prstGeom>
          <a:solidFill>
            <a:srgbClr val="1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063240"/>
            <a:ext cx="384048" cy="384048"/>
          </a:xfrm>
          <a:prstGeom prst="rect">
            <a:avLst/>
          </a:prstGeom>
          <a:noFill/>
        </p:spPr>
        <p:txBody>
          <a:bodyPr wrap="square" lIns="45720" rIns="45720" tIns="18288" bIns="18288" anchor="ctr">
            <a:spAutoFit/>
          </a:bodyPr>
          <a:lstStyle/>
          <a:p>
            <a:pPr algn="ctr"/>
            <a:r>
              <a:rPr sz="1400" b="1" i="0">
                <a:solidFill>
                  <a:srgbClr val="FFFFFF"/>
                </a:solidFill>
                <a:latin typeface="Calibri"/>
              </a:rPr>
              <a:t>3</a:t>
            </a:r>
          </a:p>
        </p:txBody>
      </p:sp>
      <p:sp>
        <p:nvSpPr>
          <p:cNvPr id="17" name="TextBox 16"/>
          <p:cNvSpPr txBox="1"/>
          <p:nvPr/>
        </p:nvSpPr>
        <p:spPr>
          <a:xfrm>
            <a:off x="960120" y="3081528"/>
            <a:ext cx="6309360" cy="411480"/>
          </a:xfrm>
          <a:prstGeom prst="rect">
            <a:avLst/>
          </a:prstGeom>
          <a:noFill/>
        </p:spPr>
        <p:txBody>
          <a:bodyPr wrap="square" lIns="45720" rIns="45720" tIns="18288" bIns="18288" anchor="ctr">
            <a:spAutoFit/>
          </a:bodyPr>
          <a:lstStyle/>
          <a:p>
            <a:pPr algn="l"/>
            <a:r>
              <a:rPr sz="1300" b="0" i="0">
                <a:solidFill>
                  <a:srgbClr val="1F2A44"/>
                </a:solidFill>
                <a:latin typeface="Calibri"/>
              </a:rPr>
              <a:t>Bootstrap an Application from Git</a:t>
            </a:r>
          </a:p>
        </p:txBody>
      </p:sp>
      <p:sp>
        <p:nvSpPr>
          <p:cNvPr id="18" name="Rounded Rectangle 17"/>
          <p:cNvSpPr/>
          <p:nvPr/>
        </p:nvSpPr>
        <p:spPr>
          <a:xfrm>
            <a:off x="7589520" y="1783080"/>
            <a:ext cx="4144975" cy="2377440"/>
          </a:xfrm>
          <a:prstGeom prst="roundRect">
            <a:avLst>
              <a:gd name="adj" fmla="val 10000"/>
            </a:avLst>
          </a:prstGeom>
          <a:solidFill>
            <a:srgbClr val="E6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89520" y="1783080"/>
            <a:ext cx="4144975" cy="411480"/>
          </a:xfrm>
          <a:prstGeom prst="rect">
            <a:avLst/>
          </a:prstGeom>
          <a:solidFill>
            <a:srgbClr val="2EA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1783080"/>
            <a:ext cx="4144975" cy="411480"/>
          </a:xfrm>
          <a:prstGeom prst="rect">
            <a:avLst/>
          </a:prstGeom>
          <a:noFill/>
        </p:spPr>
        <p:txBody>
          <a:bodyPr wrap="square" lIns="45720" rIns="45720" tIns="18288" bIns="18288" anchor="ctr">
            <a:spAutoFit/>
          </a:bodyPr>
          <a:lstStyle/>
          <a:p>
            <a:pPr algn="l"/>
            <a:r>
              <a:rPr sz="1100" b="1" i="0">
                <a:solidFill>
                  <a:srgbClr val="FFFFFF"/>
                </a:solidFill>
                <a:latin typeface="Calibri"/>
              </a:rPr>
              <a:t>  ✅  YOU END UP WITH</a:t>
            </a:r>
          </a:p>
        </p:txBody>
      </p:sp>
      <p:sp>
        <p:nvSpPr>
          <p:cNvPr id="21" name="Oval 20"/>
          <p:cNvSpPr/>
          <p:nvPr/>
        </p:nvSpPr>
        <p:spPr>
          <a:xfrm>
            <a:off x="7772400" y="2395728"/>
            <a:ext cx="100584" cy="100584"/>
          </a:xfrm>
          <a:prstGeom prst="ellipse">
            <a:avLst/>
          </a:prstGeom>
          <a:solidFill>
            <a:srgbClr val="2EA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01000" y="2286000"/>
            <a:ext cx="3642055" cy="411480"/>
          </a:xfrm>
          <a:prstGeom prst="rect">
            <a:avLst/>
          </a:prstGeom>
          <a:noFill/>
        </p:spPr>
        <p:txBody>
          <a:bodyPr wrap="square" lIns="45720" rIns="45720" tIns="18288" bIns="18288" anchor="ctr">
            <a:spAutoFit/>
          </a:bodyPr>
          <a:lstStyle/>
          <a:p>
            <a:pPr algn="l"/>
            <a:r>
              <a:rPr sz="1200" b="0" i="0">
                <a:solidFill>
                  <a:srgbClr val="1F2A44"/>
                </a:solidFill>
                <a:latin typeface="Calibri"/>
              </a:rPr>
              <a:t>AKS cluster with OIDC issuer and Workload Identity</a:t>
            </a:r>
          </a:p>
        </p:txBody>
      </p:sp>
      <p:sp>
        <p:nvSpPr>
          <p:cNvPr id="23" name="Oval 22"/>
          <p:cNvSpPr/>
          <p:nvPr/>
        </p:nvSpPr>
        <p:spPr>
          <a:xfrm>
            <a:off x="7772400" y="2807208"/>
            <a:ext cx="100584" cy="100584"/>
          </a:xfrm>
          <a:prstGeom prst="ellipse">
            <a:avLst/>
          </a:prstGeom>
          <a:solidFill>
            <a:srgbClr val="2EA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0" y="2697480"/>
            <a:ext cx="3642055" cy="411480"/>
          </a:xfrm>
          <a:prstGeom prst="rect">
            <a:avLst/>
          </a:prstGeom>
          <a:noFill/>
        </p:spPr>
        <p:txBody>
          <a:bodyPr wrap="square" lIns="45720" rIns="45720" tIns="18288" bIns="18288" anchor="ctr">
            <a:spAutoFit/>
          </a:bodyPr>
          <a:lstStyle/>
          <a:p>
            <a:pPr algn="l"/>
            <a:r>
              <a:rPr sz="1200" b="0" i="0">
                <a:solidFill>
                  <a:srgbClr val="1F2A44"/>
                </a:solidFill>
                <a:latin typeface="Calibri"/>
              </a:rPr>
              <a:t>Managed Argo CD extension installed (Microsoft.ArgoCD)</a:t>
            </a:r>
          </a:p>
        </p:txBody>
      </p:sp>
      <p:sp>
        <p:nvSpPr>
          <p:cNvPr id="25" name="Oval 24"/>
          <p:cNvSpPr/>
          <p:nvPr/>
        </p:nvSpPr>
        <p:spPr>
          <a:xfrm>
            <a:off x="7772400" y="3218688"/>
            <a:ext cx="100584" cy="100584"/>
          </a:xfrm>
          <a:prstGeom prst="ellipse">
            <a:avLst/>
          </a:prstGeom>
          <a:solidFill>
            <a:srgbClr val="2EA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01000" y="3108960"/>
            <a:ext cx="3642055" cy="411480"/>
          </a:xfrm>
          <a:prstGeom prst="rect">
            <a:avLst/>
          </a:prstGeom>
          <a:noFill/>
        </p:spPr>
        <p:txBody>
          <a:bodyPr wrap="square" lIns="45720" rIns="45720" tIns="18288" bIns="18288" anchor="ctr">
            <a:spAutoFit/>
          </a:bodyPr>
          <a:lstStyle/>
          <a:p>
            <a:pPr algn="l"/>
            <a:r>
              <a:rPr sz="1200" b="0" i="0">
                <a:solidFill>
                  <a:srgbClr val="1F2A44"/>
                </a:solidFill>
                <a:latin typeface="Calibri"/>
              </a:rPr>
              <a:t>Entra ID SSO turned on for the Argo CD UI</a:t>
            </a:r>
          </a:p>
        </p:txBody>
      </p:sp>
      <p:sp>
        <p:nvSpPr>
          <p:cNvPr id="27" name="Oval 26"/>
          <p:cNvSpPr/>
          <p:nvPr/>
        </p:nvSpPr>
        <p:spPr>
          <a:xfrm>
            <a:off x="7772400" y="3630168"/>
            <a:ext cx="100584" cy="100584"/>
          </a:xfrm>
          <a:prstGeom prst="ellipse">
            <a:avLst/>
          </a:prstGeom>
          <a:solidFill>
            <a:srgbClr val="2EA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01000" y="3520440"/>
            <a:ext cx="3642055" cy="411480"/>
          </a:xfrm>
          <a:prstGeom prst="rect">
            <a:avLst/>
          </a:prstGeom>
          <a:noFill/>
        </p:spPr>
        <p:txBody>
          <a:bodyPr wrap="square" lIns="45720" rIns="45720" tIns="18288" bIns="18288" anchor="ctr">
            <a:spAutoFit/>
          </a:bodyPr>
          <a:lstStyle/>
          <a:p>
            <a:pPr algn="l"/>
            <a:r>
              <a:rPr sz="1200" b="0" i="0">
                <a:solidFill>
                  <a:srgbClr val="1F2A44"/>
                </a:solidFill>
                <a:latin typeface="Calibri"/>
              </a:rPr>
              <a:t>Bootstrap Application syncing from Git into the demo namespace</a:t>
            </a:r>
          </a:p>
        </p:txBody>
      </p:sp>
      <p:sp>
        <p:nvSpPr>
          <p:cNvPr id="29" name="Rounded Rectangle 28"/>
          <p:cNvSpPr/>
          <p:nvPr/>
        </p:nvSpPr>
        <p:spPr>
          <a:xfrm>
            <a:off x="7589520" y="4389120"/>
            <a:ext cx="4144975" cy="1645920"/>
          </a:xfrm>
          <a:prstGeom prst="roundRect">
            <a:avLst>
              <a:gd name="adj" fmla="val 10000"/>
            </a:avLst>
          </a:prstGeom>
          <a:solidFill>
            <a:srgbClr val="1E1E2E"/>
          </a:solidFill>
          <a:ln>
            <a:solidFill>
              <a:srgbClr val="E81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18120" y="4572000"/>
            <a:ext cx="3687775" cy="320040"/>
          </a:xfrm>
          <a:prstGeom prst="rect">
            <a:avLst/>
          </a:prstGeom>
          <a:noFill/>
        </p:spPr>
        <p:txBody>
          <a:bodyPr wrap="square" lIns="45720" rIns="45720" tIns="18288" bIns="18288">
            <a:spAutoFit/>
          </a:bodyPr>
          <a:lstStyle/>
          <a:p>
            <a:pPr algn="l"/>
            <a:r>
              <a:rPr sz="1100" b="1" i="0">
                <a:solidFill>
                  <a:srgbClr val="E81E4F"/>
                </a:solidFill>
                <a:latin typeface="Calibri"/>
              </a:rPr>
              <a:t>📜  FULL AZURE CLI SCRIPT</a:t>
            </a:r>
          </a:p>
        </p:txBody>
      </p:sp>
      <p:sp>
        <p:nvSpPr>
          <p:cNvPr id="31" name="TextBox 30"/>
          <p:cNvSpPr txBox="1"/>
          <p:nvPr/>
        </p:nvSpPr>
        <p:spPr>
          <a:xfrm>
            <a:off x="7818120" y="4892040"/>
            <a:ext cx="3687775" cy="1097280"/>
          </a:xfrm>
          <a:prstGeom prst="rect">
            <a:avLst/>
          </a:prstGeom>
          <a:noFill/>
        </p:spPr>
        <p:txBody>
          <a:bodyPr wrap="square" lIns="45720" rIns="45720" tIns="18288" bIns="18288">
            <a:spAutoFit/>
          </a:bodyPr>
          <a:lstStyle/>
          <a:p>
            <a:pPr algn="l"/>
            <a:r>
              <a:rPr sz="1200" b="0" i="0">
                <a:solidFill>
                  <a:srgbClr val="E6E6E6"/>
                </a:solidFill>
                <a:latin typeface="Calibri"/>
              </a:rPr>
              <a:t>The complete, copy-pasteable script lives in the</a:t>
            </a:r>
          </a:p>
          <a:p>
            <a:pPr algn="l"/>
            <a:r>
              <a:rPr sz="1200" b="0" i="0">
                <a:solidFill>
                  <a:srgbClr val="E6E6E6"/>
                </a:solidFill>
                <a:latin typeface="Calibri"/>
              </a:rPr>
              <a:t>speaker notes of this slide.</a:t>
            </a:r>
          </a:p>
          <a:p>
            <a:pPr algn="l"/>
            <a:r>
              <a:rPr sz="1200" b="0" i="0">
                <a:solidFill>
                  <a:srgbClr val="E6E6E6"/>
                </a:solidFill>
                <a:latin typeface="Calibri"/>
              </a:rPr>
              <a:t/>
            </a:r>
          </a:p>
          <a:p>
            <a:pPr algn="l"/>
            <a:r>
              <a:rPr sz="1200" b="0" i="0">
                <a:solidFill>
                  <a:srgbClr val="E6E6E6"/>
                </a:solidFill>
                <a:latin typeface="Calibri"/>
              </a:rPr>
              <a:t>Press  Alt+F5  to open Presenter view</a:t>
            </a:r>
          </a:p>
          <a:p>
            <a:pPr algn="l"/>
            <a:r>
              <a:rPr sz="1200" b="0" i="0">
                <a:solidFill>
                  <a:srgbClr val="E6E6E6"/>
                </a:solidFill>
                <a:latin typeface="Calibri"/>
              </a:rPr>
              <a:t>and copy from the notes pane.</a:t>
            </a:r>
          </a:p>
        </p:txBody>
      </p:sp>
      <p:sp>
        <p:nvSpPr>
          <p:cNvPr id="32" name="Rectangle 31"/>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34" name="Rounded Rectangle 33"/>
          <p:cNvSpPr/>
          <p:nvPr/>
        </p:nvSpPr>
        <p:spPr>
          <a:xfrm>
            <a:off x="10362895" y="6601968"/>
            <a:ext cx="1463040" cy="219456"/>
          </a:xfrm>
          <a:prstGeom prst="roundRect">
            <a:avLst>
              <a:gd name="adj" fmla="val 10000"/>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62895" y="6601968"/>
            <a:ext cx="1463040" cy="219456"/>
          </a:xfrm>
          <a:prstGeom prst="rect">
            <a:avLst/>
          </a:prstGeom>
          <a:noFill/>
        </p:spPr>
        <p:txBody>
          <a:bodyPr wrap="square" lIns="45720" rIns="45720" tIns="18288" bIns="18288" anchor="ctr">
            <a:spAutoFit/>
          </a:bodyPr>
          <a:lstStyle/>
          <a:p>
            <a:pPr algn="ctr"/>
            <a:r>
              <a:rPr sz="900" b="1" i="0">
                <a:solidFill>
                  <a:srgbClr val="FFFFFF"/>
                </a:solidFill>
                <a:latin typeface="Calibri"/>
              </a:rPr>
              <a:t>🛠  HANDS-ON</a:t>
            </a:r>
          </a:p>
        </p:txBody>
      </p:sp>
      <p:sp>
        <p:nvSpPr>
          <p:cNvPr id="36" name="TextBox 35"/>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23 /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MANAGED ARGO CD ON AKS</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Recap</a:t>
            </a:r>
          </a:p>
        </p:txBody>
      </p:sp>
      <p:sp>
        <p:nvSpPr>
          <p:cNvPr id="7" name="TextBox 6"/>
          <p:cNvSpPr txBox="1"/>
          <p:nvPr/>
        </p:nvSpPr>
        <p:spPr>
          <a:xfrm>
            <a:off x="457200" y="1097280"/>
            <a:ext cx="11277295" cy="2792973"/>
          </a:xfrm>
          <a:prstGeom prst="rect">
            <a:avLst/>
          </a:prstGeom>
          <a:noFill/>
        </p:spPr>
        <p:txBody>
          <a:bodyPr wrap="square" lIns="45720" rIns="45720" tIns="18288" bIns="18288">
            <a:spAutoFit/>
          </a:bodyPr>
          <a:lstStyle/>
          <a:p>
            <a:pPr>
              <a:spcAft>
                <a:spcPts val="200"/>
              </a:spcAft>
            </a:pPr>
            <a:r>
              <a:rPr sz="1400" b="1">
                <a:solidFill>
                  <a:srgbClr val="0078D4"/>
                </a:solidFill>
                <a:latin typeface="Calibri"/>
              </a:rPr>
              <a:t>▸ </a:t>
            </a:r>
            <a:r>
              <a:rPr sz="1400" b="1" i="0">
                <a:solidFill>
                  <a:srgbClr val="1F2A44"/>
                </a:solidFill>
                <a:latin typeface="Calibri"/>
              </a:rPr>
              <a:t>Mesh:</a:t>
            </a:r>
            <a:r>
              <a:rPr sz="1400" b="0" i="0">
                <a:solidFill>
                  <a:srgbClr val="1F2A44"/>
                </a:solidFill>
                <a:latin typeface="Calibri"/>
              </a:rPr>
              <a:t> ambient Istio splits security (always-on, cheap ztunnel) from L7 (opt-in waypoints). No sidecars, no pod restarts on mesh upgrade.</a:t>
            </a:r>
          </a:p>
          <a:p>
            <a:pPr>
              <a:spcAft>
                <a:spcPts val="200"/>
              </a:spcAft>
            </a:pPr>
            <a:r>
              <a:rPr sz="1400" b="1">
                <a:solidFill>
                  <a:srgbClr val="0078D4"/>
                </a:solidFill>
                <a:latin typeface="Calibri"/>
              </a:rPr>
              <a:t>▸ </a:t>
            </a:r>
            <a:r>
              <a:rPr sz="1400" b="1" i="0">
                <a:solidFill>
                  <a:srgbClr val="1F2A44"/>
                </a:solidFill>
                <a:latin typeface="Calibri"/>
              </a:rPr>
              <a:t>Ingress → Gateway API:</a:t>
            </a:r>
            <a:r>
              <a:rPr sz="1400" b="0" i="0">
                <a:solidFill>
                  <a:srgbClr val="1F2A44"/>
                </a:solidFill>
                <a:latin typeface="Calibri"/>
              </a:rPr>
              <a:t> role-oriented, portable, structured status. Same YAML across Envoy, AGC, and others.</a:t>
            </a:r>
          </a:p>
          <a:p>
            <a:pPr>
              <a:spcAft>
                <a:spcPts val="200"/>
              </a:spcAft>
            </a:pPr>
            <a:r>
              <a:rPr sz="1400" b="1">
                <a:solidFill>
                  <a:srgbClr val="0078D4"/>
                </a:solidFill>
                <a:latin typeface="Calibri"/>
              </a:rPr>
              <a:t>▸ </a:t>
            </a:r>
            <a:r>
              <a:rPr sz="1400" b="1" i="0">
                <a:solidFill>
                  <a:srgbClr val="1F2A44"/>
                </a:solidFill>
                <a:latin typeface="Calibri"/>
              </a:rPr>
              <a:t>AGC:</a:t>
            </a:r>
            <a:r>
              <a:rPr sz="1400" b="0" i="0">
                <a:solidFill>
                  <a:srgbClr val="1F2A44"/>
                </a:solidFill>
                <a:latin typeface="Calibri"/>
              </a:rPr>
              <a:t> Azure-native Gateway API implementation; PaaS L7 LB in your VNet talking directly to pod IPs via Azure CNI; ALB Controller + </a:t>
            </a:r>
            <a:r>
              <a:rPr sz="1400" b="0">
                <a:solidFill>
                  <a:srgbClr val="B01060"/>
                </a:solidFill>
                <a:latin typeface="Consolas"/>
              </a:rPr>
              <a:t>ApplicationLoadBalancer</a:t>
            </a:r>
            <a:r>
              <a:rPr sz="1400" b="0" i="0">
                <a:solidFill>
                  <a:srgbClr val="1F2A44"/>
                </a:solidFill>
                <a:latin typeface="Calibri"/>
              </a:rPr>
              <a:t> bridge Gateway API ↔ ARM with Workload Identity.</a:t>
            </a:r>
          </a:p>
          <a:p>
            <a:pPr>
              <a:spcAft>
                <a:spcPts val="200"/>
              </a:spcAft>
            </a:pPr>
            <a:r>
              <a:rPr sz="1400" b="1">
                <a:solidFill>
                  <a:srgbClr val="0078D4"/>
                </a:solidFill>
                <a:latin typeface="Calibri"/>
              </a:rPr>
              <a:t>▸ </a:t>
            </a:r>
            <a:r>
              <a:rPr sz="1400" b="1" i="0">
                <a:solidFill>
                  <a:srgbClr val="1F2A44"/>
                </a:solidFill>
                <a:latin typeface="Calibri"/>
              </a:rPr>
              <a:t>Demo repo baseline:</a:t>
            </a:r>
            <a:r>
              <a:rPr sz="1400" b="0" i="0">
                <a:solidFill>
                  <a:srgbClr val="1F2A44"/>
                </a:solidFill>
                <a:latin typeface="Calibri"/>
              </a:rPr>
              <a:t> Sweden Central, AKS 1.35.4, Free tier, 2 x </a:t>
            </a:r>
            <a:r>
              <a:rPr sz="1400" b="0">
                <a:solidFill>
                  <a:srgbClr val="B01060"/>
                </a:solidFill>
                <a:latin typeface="Consolas"/>
              </a:rPr>
              <a:t>Standard_B4as_v2</a:t>
            </a:r>
            <a:r>
              <a:rPr sz="1400" b="0" i="0">
                <a:solidFill>
                  <a:srgbClr val="1F2A44"/>
                </a:solidFill>
                <a:latin typeface="Calibri"/>
              </a:rPr>
              <a:t>, Entra ID + Azure RBAC, local accounts disabled, source-hash ACR builds.</a:t>
            </a:r>
          </a:p>
          <a:p>
            <a:pPr>
              <a:spcAft>
                <a:spcPts val="200"/>
              </a:spcAft>
            </a:pPr>
            <a:r>
              <a:rPr sz="1400" b="1">
                <a:solidFill>
                  <a:srgbClr val="0078D4"/>
                </a:solidFill>
                <a:latin typeface="Calibri"/>
              </a:rPr>
              <a:t>▸ </a:t>
            </a:r>
            <a:r>
              <a:rPr sz="1400" b="1" i="0">
                <a:solidFill>
                  <a:srgbClr val="1F2A44"/>
                </a:solidFill>
                <a:latin typeface="Calibri"/>
              </a:rPr>
              <a:t>Managed Argo CD:</a:t>
            </a:r>
            <a:r>
              <a:rPr sz="1400" b="0" i="0">
                <a:solidFill>
                  <a:srgbClr val="1F2A44"/>
                </a:solidFill>
                <a:latin typeface="Calibri"/>
              </a:rPr>
              <a:t> AKS extension, Entra-SSO, Workload Identity, sits alongside managed Flux — pick per team.</a:t>
            </a:r>
          </a:p>
        </p:txBody>
      </p:sp>
      <p:sp>
        <p:nvSpPr>
          <p:cNvPr id="8" name="TextBox 7"/>
          <p:cNvSpPr txBox="1"/>
          <p:nvPr/>
        </p:nvSpPr>
        <p:spPr>
          <a:xfrm>
            <a:off x="457200" y="3945117"/>
            <a:ext cx="11277295" cy="552702"/>
          </a:xfrm>
          <a:prstGeom prst="rect">
            <a:avLst/>
          </a:prstGeom>
          <a:noFill/>
        </p:spPr>
        <p:txBody>
          <a:bodyPr wrap="square" lIns="45720" rIns="45720" tIns="18288" bIns="18288">
            <a:spAutoFit/>
          </a:bodyPr>
          <a:lstStyle/>
          <a:p>
            <a:pPr>
              <a:spcAft>
                <a:spcPts val="200"/>
              </a:spcAft>
            </a:pPr>
            <a:r>
              <a:rPr sz="1400" b="1" i="0">
                <a:solidFill>
                  <a:srgbClr val="1F2A44"/>
                </a:solidFill>
                <a:latin typeface="Calibri"/>
              </a:rPr>
              <a:t>One-liner to remember:</a:t>
            </a:r>
            <a:r>
              <a:rPr sz="1400" b="0" i="0">
                <a:solidFill>
                  <a:srgbClr val="1F2A44"/>
                </a:solidFill>
                <a:latin typeface="Calibri"/>
              </a:rPr>
              <a:t> </a:t>
            </a:r>
            <a:r>
              <a:rPr sz="1400" b="0" i="1">
                <a:solidFill>
                  <a:srgbClr val="1F2A44"/>
                </a:solidFill>
                <a:latin typeface="Calibri"/>
              </a:rPr>
              <a:t>Gateway API is the contract. Ambient is the safety net. AGC is the Azure on-ramp. Managed Argo CD is how the platform team keeps it all reconciled.</a:t>
            </a:r>
          </a:p>
        </p:txBody>
      </p:sp>
      <p:sp>
        <p:nvSpPr>
          <p:cNvPr id="9" name="Rectangle 8"/>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11" name="TextBox 10"/>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24 / 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868680"/>
          </a:xfrm>
          <a:prstGeom prst="rect">
            <a:avLst/>
          </a:prstGeom>
          <a:solidFill>
            <a:srgbClr val="E81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7103" cy="868680"/>
          </a:xfrm>
          <a:prstGeom prst="rect">
            <a:avLst/>
          </a:prstGeom>
          <a:solidFill>
            <a:srgbClr val="10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11368735" cy="228600"/>
          </a:xfrm>
          <a:prstGeom prst="rect">
            <a:avLst/>
          </a:prstGeom>
          <a:noFill/>
        </p:spPr>
        <p:txBody>
          <a:bodyPr wrap="square" lIns="45720" rIns="45720" tIns="18288" bIns="18288">
            <a:spAutoFit/>
          </a:bodyPr>
          <a:lstStyle/>
          <a:p>
            <a:pPr algn="l"/>
            <a:r>
              <a:rPr sz="1000" b="1" i="0">
                <a:solidFill>
                  <a:srgbClr val="9CC8FF"/>
                </a:solidFill>
                <a:latin typeface="Calibri"/>
              </a:rPr>
              <a:t>MANAGED ARGO CD ON AKS</a:t>
            </a:r>
          </a:p>
        </p:txBody>
      </p:sp>
      <p:sp>
        <p:nvSpPr>
          <p:cNvPr id="6" name="TextBox 5"/>
          <p:cNvSpPr txBox="1"/>
          <p:nvPr/>
        </p:nvSpPr>
        <p:spPr>
          <a:xfrm>
            <a:off x="411480" y="292608"/>
            <a:ext cx="11368735" cy="530352"/>
          </a:xfrm>
          <a:prstGeom prst="rect">
            <a:avLst/>
          </a:prstGeom>
          <a:noFill/>
        </p:spPr>
        <p:txBody>
          <a:bodyPr wrap="square" lIns="45720" rIns="45720" tIns="18288" bIns="18288">
            <a:spAutoFit/>
          </a:bodyPr>
          <a:lstStyle/>
          <a:p>
            <a:pPr algn="l"/>
            <a:r>
              <a:rPr sz="2400" b="1" i="0">
                <a:solidFill>
                  <a:srgbClr val="FFFFFF"/>
                </a:solidFill>
                <a:latin typeface="Calibri"/>
              </a:rPr>
              <a:t>Q&amp;A</a:t>
            </a:r>
          </a:p>
        </p:txBody>
      </p:sp>
      <p:sp>
        <p:nvSpPr>
          <p:cNvPr id="7" name="TextBox 6"/>
          <p:cNvSpPr txBox="1"/>
          <p:nvPr/>
        </p:nvSpPr>
        <p:spPr>
          <a:xfrm>
            <a:off x="457200" y="1097280"/>
            <a:ext cx="11277295" cy="303783"/>
          </a:xfrm>
          <a:prstGeom prst="rect">
            <a:avLst/>
          </a:prstGeom>
          <a:noFill/>
        </p:spPr>
        <p:txBody>
          <a:bodyPr wrap="square" lIns="45720" rIns="45720" tIns="18288" bIns="18288">
            <a:spAutoFit/>
          </a:bodyPr>
          <a:lstStyle/>
          <a:p>
            <a:pPr>
              <a:spcAft>
                <a:spcPts val="200"/>
              </a:spcAft>
            </a:pPr>
            <a:r>
              <a:rPr sz="1400" b="0" i="0">
                <a:solidFill>
                  <a:srgbClr val="1F2A44"/>
                </a:solidFill>
                <a:latin typeface="Calibri"/>
              </a:rPr>
              <a:t>Thank you. Questions?</a:t>
            </a:r>
          </a:p>
        </p:txBody>
      </p:sp>
      <p:sp>
        <p:nvSpPr>
          <p:cNvPr id="8" name="Rectangle 7"/>
          <p:cNvSpPr/>
          <p:nvPr/>
        </p:nvSpPr>
        <p:spPr>
          <a:xfrm>
            <a:off x="0" y="6565392"/>
            <a:ext cx="12191695" cy="29260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583680"/>
            <a:ext cx="7315200" cy="256032"/>
          </a:xfrm>
          <a:prstGeom prst="rect">
            <a:avLst/>
          </a:prstGeom>
          <a:noFill/>
        </p:spPr>
        <p:txBody>
          <a:bodyPr wrap="square" lIns="45720" rIns="45720" tIns="18288" bIns="18288" anchor="ctr">
            <a:spAutoFit/>
          </a:bodyPr>
          <a:lstStyle/>
          <a:p>
            <a:pPr algn="l"/>
            <a:r>
              <a:rPr sz="900" b="0" i="0">
                <a:solidFill>
                  <a:srgbClr val="606E85"/>
                </a:solidFill>
                <a:latin typeface="Calibri"/>
              </a:rPr>
              <a:t>Major Changes in AKS  •  Level 400  •  2026</a:t>
            </a:r>
          </a:p>
        </p:txBody>
      </p:sp>
      <p:sp>
        <p:nvSpPr>
          <p:cNvPr id="10" name="TextBox 9"/>
          <p:cNvSpPr txBox="1"/>
          <p:nvPr/>
        </p:nvSpPr>
        <p:spPr>
          <a:xfrm>
            <a:off x="11460175" y="6583680"/>
            <a:ext cx="548640" cy="256032"/>
          </a:xfrm>
          <a:prstGeom prst="rect">
            <a:avLst/>
          </a:prstGeom>
          <a:noFill/>
        </p:spPr>
        <p:txBody>
          <a:bodyPr wrap="square" lIns="45720" rIns="45720" tIns="18288" bIns="18288" anchor="ctr">
            <a:spAutoFit/>
          </a:bodyPr>
          <a:lstStyle/>
          <a:p>
            <a:pPr algn="r"/>
            <a:r>
              <a:rPr sz="900" b="1" i="0">
                <a:solidFill>
                  <a:srgbClr val="103A6E"/>
                </a:solidFill>
                <a:latin typeface="Calibri"/>
              </a:rPr>
              <a:t>25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