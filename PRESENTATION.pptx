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We will cover four shifts that change how we build platforms on AKS this year:</a:t>
            </a:r>
          </a:p>
          <a:p>
            <a:r>
              <a:rPr sz="1100"/>
              <a:t>1. Istio: sidecar → ambient mode (now generally available in the AKS-managed Istio add-on).</a:t>
            </a:r>
          </a:p>
          <a:p>
            <a:r>
              <a:rPr sz="1100"/>
              <a:t>2. Ingress → Gateway API (the new standard, role-oriented, vendor-neutral).</a:t>
            </a:r>
          </a:p>
          <a:p>
            <a:r>
              <a:rPr sz="1100"/>
              <a:t>3. Application Gateway for Containers (AGC) — the Azure-native Gateway API implementation, successor to AGIC.</a:t>
            </a:r>
          </a:p>
          <a:p>
            <a:r>
              <a:rPr sz="1100"/>
              <a:t>4. Managed Argo CD on AKS — a first-class GitOps option next to managed Flux.</a:t>
            </a:r>
          </a:p>
          <a:p>
            <a:r>
              <a:rPr sz="1100"/>
              <a:t>Audience is expected to know AKS basics, kubectl, Helm and CRDs.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honest answer: most teams discover they want *parts* of a mesh (mTLS, retries, observability) before they want all of it. Ambient mode finally lets you adopt those parts incrementally without committing every pod to a sidecar. Use this slide to set expectations: a mesh is a platform investment, not a free feature.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Sidecars worked, but the cost model scales linearly with pod count, not with the actual traffic you want governed. Every Java pod paid the Envoy tax even if it only talked to one other service. Upgrading Istio meant restarting every app pod. That is what ambient mode fixes.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big idea: separate the security plane (always-on, cheap, L4 + mTLS) from the policy plane (L7, on-demand). Most pods only ever needed mTLS and identity. They now get that from ztunnel without an injected container. Only pods that actually need L7 features route through a waypoint Envoy, and that waypoint is shared per namespace/identity instead of one-per-pod.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Walk through the seven steps live. Emphasize that the app sends *plain* TCP — no client library, no port change. The node's CNI/redirect (eBPF on AKS with Cilium dataplane, iptables otherwise) hands the packet to ztunnel. HBONE is the tunnel protocol: HTTP/2 CONNECT carrying the original TCP, secured by mTLS using SPIFFE identities. The waypoint is *optional and per-namespace*, which is why ambient is cheaper than sidecars.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On AKS, ambient is delivered through the managed Istio add-on. You don't run istiod yourself; AKS does. You opt namespaces in with a label. Waypoints are deployed as standard Gateway API `Gateway` objects — that is a nice preview of part 2 of the talk.</a:t>
            </a:r>
          </a:p>
          <a:p>
            <a:r>
              <a:rPr sz="1100"/>
              <a:t/>
            </a:r>
          </a:p>
          <a:p>
            <a:r>
              <a:rPr sz="1100"/>
              <a:t>--- Azure CLI script ---</a:t>
            </a:r>
          </a:p>
          <a:p>
            <a:r>
              <a:rPr sz="1100"/>
              <a:t># Variables</a:t>
            </a:r>
          </a:p>
          <a:p>
            <a:r>
              <a:rPr sz="1100"/>
              <a:t>RG=rg-mesh-demo</a:t>
            </a:r>
          </a:p>
          <a:p>
            <a:r>
              <a:rPr sz="1100"/>
              <a:t>LOC=swedencentral</a:t>
            </a:r>
          </a:p>
          <a:p>
            <a:r>
              <a:rPr sz="1100"/>
              <a:t>AKS=aks-mesh-demo</a:t>
            </a:r>
          </a:p>
          <a:p>
            <a:r>
              <a:rPr sz="1100"/>
              <a:t/>
            </a:r>
          </a:p>
          <a:p>
            <a:r>
              <a:rPr sz="1100"/>
              <a:t># 1. Create resource group + AKS (Free tier, K8s 1.34.7, Sweden Central)</a:t>
            </a:r>
          </a:p>
          <a:p>
            <a:r>
              <a:rPr sz="1100"/>
              <a:t>az group create -n $RG -l $LOC</a:t>
            </a:r>
          </a:p>
          <a:p>
            <a:r>
              <a:rPr sz="1100"/>
              <a:t/>
            </a:r>
          </a:p>
          <a:p>
            <a:r>
              <a:rPr sz="1100"/>
              <a:t>az aks create \</a:t>
            </a:r>
          </a:p>
          <a:p>
            <a:r>
              <a:rPr sz="1100"/>
              <a:t>  -g $RG -n $AKS \</a:t>
            </a:r>
          </a:p>
          <a:p>
            <a:r>
              <a:rPr sz="1100"/>
              <a:t>  --location $LOC \</a:t>
            </a:r>
          </a:p>
          <a:p>
            <a:r>
              <a:rPr sz="1100"/>
              <a:t>  --kubernetes-version 1.34.7 \</a:t>
            </a:r>
          </a:p>
          <a:p>
            <a:r>
              <a:rPr sz="1100"/>
              <a:t>  --tier free \</a:t>
            </a:r>
          </a:p>
          <a:p>
            <a:r>
              <a:rPr sz="1100"/>
              <a:t>  --node-vm-size Standard_B4as_v2 \</a:t>
            </a:r>
          </a:p>
          <a:p>
            <a:r>
              <a:rPr sz="1100"/>
              <a:t>  --node-count 3 \</a:t>
            </a:r>
          </a:p>
          <a:p>
            <a:r>
              <a:rPr sz="1100"/>
              <a:t>  --network-plugin azure \</a:t>
            </a:r>
          </a:p>
          <a:p>
            <a:r>
              <a:rPr sz="1100"/>
              <a:t>  --network-dataplane cilium \</a:t>
            </a:r>
          </a:p>
          <a:p>
            <a:r>
              <a:rPr sz="1100"/>
              <a:t>  --network-policy cilium \</a:t>
            </a:r>
          </a:p>
          <a:p>
            <a:r>
              <a:rPr sz="1100"/>
              <a:t>  --enable-oidc-issuer \</a:t>
            </a:r>
          </a:p>
          <a:p>
            <a:r>
              <a:rPr sz="1100"/>
              <a:t>  --enable-workload-identity \</a:t>
            </a:r>
          </a:p>
          <a:p>
            <a:r>
              <a:rPr sz="1100"/>
              <a:t>  --generate-ssh-keys</a:t>
            </a:r>
          </a:p>
          <a:p>
            <a:r>
              <a:rPr sz="1100"/>
              <a:t/>
            </a:r>
          </a:p>
          <a:p>
            <a:r>
              <a:rPr sz="1100"/>
              <a:t>az aks get-credentials -g $RG -n $AKS</a:t>
            </a:r>
          </a:p>
          <a:p>
            <a:r>
              <a:rPr sz="1100"/>
              <a:t/>
            </a:r>
          </a:p>
          <a:p>
            <a:r>
              <a:rPr sz="1100"/>
              <a:t># 2. Enable the AKS-managed Istio add-on (ambient profile)</a:t>
            </a:r>
          </a:p>
          <a:p>
            <a:r>
              <a:rPr sz="1100"/>
              <a:t>az aks mesh enable \</a:t>
            </a:r>
          </a:p>
          <a:p>
            <a:r>
              <a:rPr sz="1100"/>
              <a:t>  -g $RG -n $AKS \</a:t>
            </a:r>
          </a:p>
          <a:p>
            <a:r>
              <a:rPr sz="1100"/>
              <a:t>  --revision asm-1-24</a:t>
            </a:r>
          </a:p>
          <a:p>
            <a:r>
              <a:rPr sz="1100"/>
              <a:t/>
            </a:r>
          </a:p>
          <a:p>
            <a:r>
              <a:rPr sz="1100"/>
              <a:t># 3. Switch the add-on to ambient profile (AKS exposes via mesh profile)</a:t>
            </a:r>
          </a:p>
          <a:p>
            <a:r>
              <a:rPr sz="1100"/>
              <a:t>az aks mesh upgrade complete -g $RG -n $AKS</a:t>
            </a:r>
          </a:p>
          <a:p>
            <a:r>
              <a:rPr sz="1100"/>
              <a:t/>
            </a:r>
          </a:p>
          <a:p>
            <a:r>
              <a:rPr sz="1100"/>
              <a:t># 4. Opt a namespace into ambient (no sidecar injection!)</a:t>
            </a:r>
          </a:p>
          <a:p>
            <a:r>
              <a:rPr sz="1100"/>
              <a:t>kubectl label namespace demo istio.io/dataplane-mode=ambient</a:t>
            </a:r>
          </a:p>
          <a:p>
            <a:r>
              <a:rPr sz="1100"/>
              <a:t/>
            </a:r>
          </a:p>
          <a:p>
            <a:r>
              <a:rPr sz="1100"/>
              <a:t># 5. (Optional) Add a Waypoint for L7 policy on a namespace</a:t>
            </a:r>
          </a:p>
          <a:p>
            <a:r>
              <a:rPr sz="1100"/>
              <a:t>kubectl apply -n demo -f - &lt;&lt;'YAML'</a:t>
            </a:r>
          </a:p>
          <a:p>
            <a:r>
              <a:rPr sz="1100"/>
              <a:t>apiVersion: gateway.networking.k8s.io/v1</a:t>
            </a:r>
          </a:p>
          <a:p>
            <a:r>
              <a:rPr sz="1100"/>
              <a:t>kind: Gateway</a:t>
            </a:r>
          </a:p>
          <a:p>
            <a:r>
              <a:rPr sz="1100"/>
              <a:t>metadata:</a:t>
            </a:r>
          </a:p>
          <a:p>
            <a:r>
              <a:rPr sz="1100"/>
              <a:t>  name: waypoint</a:t>
            </a:r>
          </a:p>
          <a:p>
            <a:r>
              <a:rPr sz="1100"/>
              <a:t>  labels:</a:t>
            </a:r>
          </a:p>
          <a:p>
            <a:r>
              <a:rPr sz="1100"/>
              <a:t>    istio.io/waypoint-for: service</a:t>
            </a:r>
          </a:p>
          <a:p>
            <a:r>
              <a:rPr sz="1100"/>
              <a:t>spec:</a:t>
            </a:r>
          </a:p>
          <a:p>
            <a:r>
              <a:rPr sz="1100"/>
              <a:t>  gatewayClassName: istio-waypoint</a:t>
            </a:r>
          </a:p>
          <a:p>
            <a:r>
              <a:rPr sz="1100"/>
              <a:t>  listeners:</a:t>
            </a:r>
          </a:p>
          <a:p>
            <a:r>
              <a:rPr sz="1100"/>
              <a:t>  - name: mesh</a:t>
            </a:r>
          </a:p>
          <a:p>
            <a:r>
              <a:rPr sz="1100"/>
              <a:t>    port: 15008</a:t>
            </a:r>
          </a:p>
          <a:p>
            <a:r>
              <a:rPr sz="1100"/>
              <a:t>    protocol: HBONE</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Before we talk about *why* Ingress isn't enough anymore, let's make sure everyone has the same mental model. An `Ingress` object is just YAML — it does nothing on its own. The Ingress Controller is what brings it to life: it watches the API server and programs a reverse proxy (NGINX, Envoy, …) that actually handles the requests. Externally, a cloud load balancer fronts the controller's pods. Some implementations (like Application Gateway for Containers) push the data plane *outside* the cluster, but the conceptual model is the same: a controller reconciles intent, a proxy carries traffic.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Gateway API is to Ingress what `Deployment` was to `ReplicationController`: same intent, much better data model and extension points. The key word is *role-oriented*: a platform team owns the `Gateway`, dev teams own `HTTPRoute`s and attach to it via `parentRefs`. That alone removes 80% of the annotation collisions we used to have.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Show the contrast. With Ingress, the app developer files a PR that touches a cluster-scoped resource with annotations the platform team has to review. With Gateway API, the platform team publishes one `Gateway` with hostnames/cert/IP; dev teams ship `HTTPRoute` objects in their own namespace and attach to that Gateway. The `ReferenceGrant` resource controls cross-namespace attachment. RBAC finally lines up with how teams actually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Envoy Gateway is the upstream-reference implementation. The controller watches GatewayClass/Gateway/HTTPRoute and renders an Envoy Deployment + Service per Gateway. On AKS, the Service of type LoadBalancer triggers an Azure SLB and a public IP — same model you already use, but the routing is now portable Gateway API YAML rather than NGINX annotations.</a:t>
            </a:r>
          </a:p>
          <a:p>
            <a:r>
              <a:rPr sz="1100"/>
              <a:t/>
            </a:r>
          </a:p>
          <a:p>
            <a:r>
              <a:rPr sz="1100"/>
              <a:t>--- Azure CLI script ---</a:t>
            </a:r>
          </a:p>
          <a:p>
            <a:r>
              <a:rPr sz="1100"/>
              <a:t># Install Envoy Gateway (CRDs + controller)</a:t>
            </a:r>
          </a:p>
          <a:p>
            <a:r>
              <a:rPr sz="1100"/>
              <a:t>helm install eg oci://docker.io/envoyproxy/gateway-helm \</a:t>
            </a:r>
          </a:p>
          <a:p>
            <a:r>
              <a:rPr sz="1100"/>
              <a:t>  --version v1.3.0 \</a:t>
            </a:r>
          </a:p>
          <a:p>
            <a:r>
              <a:rPr sz="1100"/>
              <a:t>  -n envoy-gateway-system --create-namespace</a:t>
            </a:r>
          </a:p>
          <a:p>
            <a:r>
              <a:rPr sz="1100"/>
              <a:t/>
            </a:r>
          </a:p>
          <a:p>
            <a:r>
              <a:rPr sz="1100"/>
              <a:t>kubectl apply -f - &lt;&lt;'YAML'</a:t>
            </a:r>
          </a:p>
          <a:p>
            <a:r>
              <a:rPr sz="1100"/>
              <a:t>---</a:t>
            </a:r>
          </a:p>
          <a:p>
            <a:r>
              <a:rPr sz="1100"/>
              <a:t>apiVersion: gateway.networking.k8s.io/v1</a:t>
            </a:r>
          </a:p>
          <a:p>
            <a:r>
              <a:rPr sz="1100"/>
              <a:t>kind: GatewayClass</a:t>
            </a:r>
          </a:p>
          <a:p>
            <a:r>
              <a:rPr sz="1100"/>
              <a:t>metadata: { name: envoy }</a:t>
            </a:r>
          </a:p>
          <a:p>
            <a:r>
              <a:rPr sz="1100"/>
              <a:t>spec:   { controllerName: gateway.envoyproxy.io/gatewayclass-controller }</a:t>
            </a:r>
          </a:p>
          <a:p>
            <a:r>
              <a:rPr sz="1100"/>
              <a:t>---</a:t>
            </a:r>
          </a:p>
          <a:p>
            <a:r>
              <a:rPr sz="1100"/>
              <a:t>apiVersion: gateway.networking.k8s.io/v1</a:t>
            </a:r>
          </a:p>
          <a:p>
            <a:r>
              <a:rPr sz="1100"/>
              <a:t>kind: Gateway</a:t>
            </a:r>
          </a:p>
          <a:p>
            <a:r>
              <a:rPr sz="1100"/>
              <a:t>metadata: { name: public, namespace: edge }</a:t>
            </a:r>
          </a:p>
          <a:p>
            <a:r>
              <a:rPr sz="1100"/>
              <a:t>spec:</a:t>
            </a:r>
          </a:p>
          <a:p>
            <a:r>
              <a:rPr sz="1100"/>
              <a:t>  gatewayClassName: envoy</a:t>
            </a:r>
          </a:p>
          <a:p>
            <a:r>
              <a:rPr sz="1100"/>
              <a:t>  listeners:</a:t>
            </a:r>
          </a:p>
          <a:p>
            <a:r>
              <a:rPr sz="1100"/>
              <a:t>  - name: http</a:t>
            </a:r>
          </a:p>
          <a:p>
            <a:r>
              <a:rPr sz="1100"/>
              <a:t>    port: 80</a:t>
            </a:r>
          </a:p>
          <a:p>
            <a:r>
              <a:rPr sz="1100"/>
              <a:t>    protocol: HTTP</a:t>
            </a:r>
          </a:p>
          <a:p>
            <a:r>
              <a:rPr sz="1100"/>
              <a:t>    allowedRoutes:</a:t>
            </a:r>
          </a:p>
          <a:p>
            <a:r>
              <a:rPr sz="1100"/>
              <a:t>      namespaces: { from: All }</a:t>
            </a:r>
          </a:p>
          <a:p>
            <a:r>
              <a:rPr sz="1100"/>
              <a:t>---</a:t>
            </a:r>
          </a:p>
          <a:p>
            <a:r>
              <a:rPr sz="1100"/>
              <a:t>apiVersion: gateway.networking.k8s.io/v1</a:t>
            </a:r>
          </a:p>
          <a:p>
            <a:r>
              <a:rPr sz="1100"/>
              <a:t>kind: HTTPRoute</a:t>
            </a:r>
          </a:p>
          <a:p>
            <a:r>
              <a:rPr sz="1100"/>
              <a:t>metadata: { name: app, namespace: demo }</a:t>
            </a:r>
          </a:p>
          <a:p>
            <a:r>
              <a:rPr sz="1100"/>
              <a:t>spec:</a:t>
            </a:r>
          </a:p>
          <a:p>
            <a:r>
              <a:rPr sz="1100"/>
              <a:t>  parentRefs:</a:t>
            </a:r>
          </a:p>
          <a:p>
            <a:r>
              <a:rPr sz="1100"/>
              <a:t>  - { name: public, namespace: edge }</a:t>
            </a:r>
          </a:p>
          <a:p>
            <a:r>
              <a:rPr sz="1100"/>
              <a:t>  hostnames: [ "app.contoso.com" ]</a:t>
            </a:r>
          </a:p>
          <a:p>
            <a:r>
              <a:rPr sz="1100"/>
              <a:t>  rules:</a:t>
            </a:r>
          </a:p>
          <a:p>
            <a:r>
              <a:rPr sz="1100"/>
              <a:t>  - matches: [ { path: { type: PathPrefix, value: / } } ]</a:t>
            </a:r>
          </a:p>
          <a:p>
            <a:r>
              <a:rPr sz="1100"/>
              <a:t>    backendRefs:</a:t>
            </a:r>
          </a:p>
          <a:p>
            <a:r>
              <a:rPr sz="1100"/>
              <a:t>    - { name: sample-app, port: 80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shape to remember: AGC is a *PaaS L7 LB* that lives in your VNet via a delegated subnet, and it talks to pod IPs directly because AKS uses Azure CNI. The in-cluster ALB Controller is just the bridge that translates Gateway API objects into ARM calls. There's no in-cluster proxy hop, which is the latency win over Envoy/NGINX-in-cluster designs.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Pay attention to two things: (1) the `Association` resource ties AGC to the delegated subnet — that's how the PaaS LB gets a foothold inside *your* VNet; (2) the ALB Controller uses Workload Identity (federated credential on its ServiceAccount) — no secrets, no service principals. This is the AKS-recommended pattern across the board.</a:t>
            </a:r>
          </a:p>
          <a:p>
            <a:r>
              <a:rPr sz="1100"/>
              <a:t/>
            </a:r>
          </a:p>
          <a:p>
            <a:r>
              <a:rPr sz="1100"/>
              <a:t>--- Azure CLI script ---</a:t>
            </a:r>
          </a:p>
          <a:p>
            <a:r>
              <a:rPr sz="1100"/>
              <a:t>RG=rg-agc-demo</a:t>
            </a:r>
          </a:p>
          <a:p>
            <a:r>
              <a:rPr sz="1100"/>
              <a:t>LOC=swedencentral</a:t>
            </a:r>
          </a:p>
          <a:p>
            <a:r>
              <a:rPr sz="1100"/>
              <a:t>AKS=aks-agc-demo</a:t>
            </a:r>
          </a:p>
          <a:p>
            <a:r>
              <a:rPr sz="1100"/>
              <a:t>VNET=vnet-agc</a:t>
            </a:r>
          </a:p>
          <a:p>
            <a:r>
              <a:rPr sz="1100"/>
              <a:t>SUBNET_NODE=snet-nodes</a:t>
            </a:r>
          </a:p>
          <a:p>
            <a:r>
              <a:rPr sz="1100"/>
              <a:t>SUBNET_ALB=snet-alb</a:t>
            </a:r>
          </a:p>
          <a:p>
            <a:r>
              <a:rPr sz="1100"/>
              <a:t/>
            </a:r>
          </a:p>
          <a:p>
            <a:r>
              <a:rPr sz="1100"/>
              <a:t># 1. Networking</a:t>
            </a:r>
          </a:p>
          <a:p>
            <a:r>
              <a:rPr sz="1100"/>
              <a:t>az group create -n $RG -l $LOC</a:t>
            </a:r>
          </a:p>
          <a:p>
            <a:r>
              <a:rPr sz="1100"/>
              <a:t>az network vnet create -g $RG -n $VNET --address-prefixes 10.20.0.0/16 \</a:t>
            </a:r>
          </a:p>
          <a:p>
            <a:r>
              <a:rPr sz="1100"/>
              <a:t>  --subnet-name $SUBNET_NODE --subnet-prefixes 10.20.0.0/22</a:t>
            </a:r>
          </a:p>
          <a:p>
            <a:r>
              <a:rPr sz="1100"/>
              <a:t>az network vnet subnet create -g $RG --vnet-name $VNET -n $SUBNET_ALB \</a:t>
            </a:r>
          </a:p>
          <a:p>
            <a:r>
              <a:rPr sz="1100"/>
              <a:t>  --address-prefixes 10.20.4.0/24 \</a:t>
            </a:r>
          </a:p>
          <a:p>
            <a:r>
              <a:rPr sz="1100"/>
              <a:t>  --delegations Microsoft.ServiceNetworking/trafficControllers</a:t>
            </a:r>
          </a:p>
          <a:p>
            <a:r>
              <a:rPr sz="1100"/>
              <a:t/>
            </a:r>
          </a:p>
          <a:p>
            <a:r>
              <a:rPr sz="1100"/>
              <a:t>SUBNET_NODE_ID=$(az network vnet subnet show -g $RG --vnet-name $VNET -n $SUBNET_NODE --query id -o tsv)</a:t>
            </a:r>
          </a:p>
          <a:p>
            <a:r>
              <a:rPr sz="1100"/>
              <a:t>SUBNET_ALB_ID=$(az network vnet subnet show  -g $RG --vnet-name $VNET -n $SUBNET_ALB  --query id -o tsv)</a:t>
            </a:r>
          </a:p>
          <a:p>
            <a:r>
              <a:rPr sz="1100"/>
              <a:t/>
            </a:r>
          </a:p>
          <a:p>
            <a:r>
              <a:rPr sz="1100"/>
              <a:t># 2. AKS with workload identity + Azure CNI</a:t>
            </a:r>
          </a:p>
          <a:p>
            <a:r>
              <a:rPr sz="1100"/>
              <a:t>az aks create -g $RG -n $AKS -l $LOC \</a:t>
            </a:r>
          </a:p>
          <a:p>
            <a:r>
              <a:rPr sz="1100"/>
              <a:t>  --kubernetes-version 1.34.7 \</a:t>
            </a:r>
          </a:p>
          <a:p>
            <a:r>
              <a:rPr sz="1100"/>
              <a:t>  --tier free \</a:t>
            </a:r>
          </a:p>
          <a:p>
            <a:r>
              <a:rPr sz="1100"/>
              <a:t>  --node-vm-size Standard_B4as_v2 \</a:t>
            </a:r>
          </a:p>
          <a:p>
            <a:r>
              <a:rPr sz="1100"/>
              <a:t>  --node-count 3 \</a:t>
            </a:r>
          </a:p>
          <a:p>
            <a:r>
              <a:rPr sz="1100"/>
              <a:t>  --network-plugin azure --network-dataplane cilium \</a:t>
            </a:r>
          </a:p>
          <a:p>
            <a:r>
              <a:rPr sz="1100"/>
              <a:t>  --vnet-subnet-id $SUBNET_NODE_ID \</a:t>
            </a:r>
          </a:p>
          <a:p>
            <a:r>
              <a:rPr sz="1100"/>
              <a:t>  --enable-oidc-issuer --enable-workload-identity \</a:t>
            </a:r>
          </a:p>
          <a:p>
            <a:r>
              <a:rPr sz="1100"/>
              <a:t>  --generate-ssh-keys</a:t>
            </a:r>
          </a:p>
          <a:p>
            <a:r>
              <a:rPr sz="1100"/>
              <a:t>az aks get-credentials -g $RG -n $AKS</a:t>
            </a:r>
          </a:p>
          <a:p>
            <a:r>
              <a:rPr sz="1100"/>
              <a:t/>
            </a:r>
          </a:p>
          <a:p>
            <a:r>
              <a:rPr sz="1100"/>
              <a:t># 3. Managed identity + federated credential for the ALB Controller</a:t>
            </a:r>
          </a:p>
          <a:p>
            <a:r>
              <a:rPr sz="1100"/>
              <a:t>IDENTITY=mi-alb</a:t>
            </a:r>
          </a:p>
          <a:p>
            <a:r>
              <a:rPr sz="1100"/>
              <a:t>az identity create -g $RG -n $IDENTITY -l $LOC</a:t>
            </a:r>
          </a:p>
          <a:p>
            <a:r>
              <a:rPr sz="1100"/>
              <a:t>PRINCIPAL=$(az identity show -g $RG -n $IDENTITY --query principalId -o tsv)</a:t>
            </a:r>
          </a:p>
          <a:p>
            <a:r>
              <a:rPr sz="1100"/>
              <a:t>CLIENT=$(az identity show   -g $RG -n $IDENTITY --query clientId    -o tsv)</a:t>
            </a:r>
          </a:p>
          <a:p>
            <a:r>
              <a:rPr sz="1100"/>
              <a:t/>
            </a:r>
          </a:p>
          <a:p>
            <a:r>
              <a:rPr sz="1100"/>
              <a:t># Allow ALB Controller to manage AGC</a:t>
            </a:r>
          </a:p>
          <a:p>
            <a:r>
              <a:rPr sz="1100"/>
              <a:t>az role assignment create --assignee-object-id $PRINCIPAL --assignee-principal-type ServicePrincipal \</a:t>
            </a:r>
          </a:p>
          <a:p>
            <a:r>
              <a:rPr sz="1100"/>
              <a:t>  --role "AppGw for Containers Configuration Manager" \</a:t>
            </a:r>
          </a:p>
          <a:p>
            <a:r>
              <a:rPr sz="1100"/>
              <a:t>  --scope $(az group show -g $RG --query id -o tsv)</a:t>
            </a:r>
          </a:p>
          <a:p>
            <a:r>
              <a:rPr sz="1100"/>
              <a:t>az role assignment create --assignee-object-id $PRINCIPAL --assignee-principal-type ServicePrincipal \</a:t>
            </a:r>
          </a:p>
          <a:p>
            <a:r>
              <a:rPr sz="1100"/>
              <a:t>  --role "Network Contributor" --scope $SUBNET_ALB_ID</a:t>
            </a:r>
          </a:p>
          <a:p>
            <a:r>
              <a:rPr sz="1100"/>
              <a:t/>
            </a:r>
          </a:p>
          <a:p>
            <a:r>
              <a:rPr sz="1100"/>
              <a:t>ISSUER=$(az aks show -g $RG -n $AKS --query oidcIssuerProfile.issuerUrl -o tsv)</a:t>
            </a:r>
          </a:p>
          <a:p>
            <a:r>
              <a:rPr sz="1100"/>
              <a:t>az identity federated-credential create -g $RG --identity-name $IDENTITY \</a:t>
            </a:r>
          </a:p>
          <a:p>
            <a:r>
              <a:rPr sz="1100"/>
              <a:t>  --name fedcred --issuer "$ISSUER" \</a:t>
            </a:r>
          </a:p>
          <a:p>
            <a:r>
              <a:rPr sz="1100"/>
              <a:t>  --subject "system:serviceaccount:azure-alb-system:alb-controller-sa" \</a:t>
            </a:r>
          </a:p>
          <a:p>
            <a:r>
              <a:rPr sz="1100"/>
              <a:t>  --audiences api://AzureADTokenExchange</a:t>
            </a:r>
          </a:p>
          <a:p>
            <a:r>
              <a:rPr sz="1100"/>
              <a:t/>
            </a:r>
          </a:p>
          <a:p>
            <a:r>
              <a:rPr sz="1100"/>
              <a:t># 4. Install the ALB Controller</a:t>
            </a:r>
          </a:p>
          <a:p>
            <a:r>
              <a:rPr sz="1100"/>
              <a:t>helm install alb-controller oci://mcr.microsoft.com/application-lb/charts/alb-controller \</a:t>
            </a:r>
          </a:p>
          <a:p>
            <a:r>
              <a:rPr sz="1100"/>
              <a:t>  --version 1.0.0 \</a:t>
            </a:r>
          </a:p>
          <a:p>
            <a:r>
              <a:rPr sz="1100"/>
              <a:t>  -n azure-alb-system --create-namespace \</a:t>
            </a:r>
          </a:p>
          <a:p>
            <a:r>
              <a:rPr sz="1100"/>
              <a:t>  --set albController.podIdentity.clientID=$CLIENT</a:t>
            </a:r>
          </a:p>
          <a:p>
            <a:r>
              <a:rPr sz="1100"/>
              <a:t/>
            </a:r>
          </a:p>
          <a:p>
            <a:r>
              <a:rPr sz="1100"/>
              <a:t># 5. Create the AGC resource and Association (delegated subnet)</a:t>
            </a:r>
          </a:p>
          <a:p>
            <a:r>
              <a:rPr sz="1100"/>
              <a:t>az network alb create -g $RG -n agc-demo</a:t>
            </a:r>
          </a:p>
          <a:p>
            <a:r>
              <a:rPr sz="1100"/>
              <a:t>az network alb frontend create -g $RG --alb-name agc-demo -n fe-public</a:t>
            </a:r>
          </a:p>
          <a:p>
            <a:r>
              <a:rPr sz="1100"/>
              <a:t>az network alb association create -g $RG --alb-name agc-demo -n assoc \</a:t>
            </a:r>
          </a:p>
          <a:p>
            <a:r>
              <a:rPr sz="1100"/>
              <a:t>  --subnet $SUBNET_ALB_ID</a:t>
            </a:r>
          </a:p>
          <a:p>
            <a:r>
              <a:rPr sz="1100"/>
              <a:t/>
            </a:r>
          </a:p>
          <a:p>
            <a:r>
              <a:rPr sz="1100"/>
              <a:t># 6. Gateway + HTTPRoute (managed by ALB Controller)</a:t>
            </a:r>
          </a:p>
          <a:p>
            <a:r>
              <a:rPr sz="1100"/>
              <a:t>kubectl apply -f - &lt;&lt;'YAML'</a:t>
            </a:r>
          </a:p>
          <a:p>
            <a:r>
              <a:rPr sz="1100"/>
              <a:t>---</a:t>
            </a:r>
          </a:p>
          <a:p>
            <a:r>
              <a:rPr sz="1100"/>
              <a:t>apiVersion: gateway.networking.k8s.io/v1</a:t>
            </a:r>
          </a:p>
          <a:p>
            <a:r>
              <a:rPr sz="1100"/>
              <a:t>kind: Gateway</a:t>
            </a:r>
          </a:p>
          <a:p>
            <a:r>
              <a:rPr sz="1100"/>
              <a:t>metadata:</a:t>
            </a:r>
          </a:p>
          <a:p>
            <a:r>
              <a:rPr sz="1100"/>
              <a:t>  name: agc-gw</a:t>
            </a:r>
          </a:p>
          <a:p>
            <a:r>
              <a:rPr sz="1100"/>
              <a:t>  namespace: edge</a:t>
            </a:r>
          </a:p>
          <a:p>
            <a:r>
              <a:rPr sz="1100"/>
              <a:t>  annotations:</a:t>
            </a:r>
          </a:p>
          <a:p>
            <a:r>
              <a:rPr sz="1100"/>
              <a:t>    alb.networking.azure.io/alb-namespace: azure-alb-system</a:t>
            </a:r>
          </a:p>
          <a:p>
            <a:r>
              <a:rPr sz="1100"/>
              <a:t>    alb.networking.azure.io/alb-name: agc-demo</a:t>
            </a:r>
          </a:p>
          <a:p>
            <a:r>
              <a:rPr sz="1100"/>
              <a:t>spec:</a:t>
            </a:r>
          </a:p>
          <a:p>
            <a:r>
              <a:rPr sz="1100"/>
              <a:t>  gatewayClassName: azure-alb-external</a:t>
            </a:r>
          </a:p>
          <a:p>
            <a:r>
              <a:rPr sz="1100"/>
              <a:t>  listeners:</a:t>
            </a:r>
          </a:p>
          <a:p>
            <a:r>
              <a:rPr sz="1100"/>
              <a:t>  - { name: http, port: 80, protocol: HTTP, allowedRoutes: { namespaces: { from: All } } }</a:t>
            </a:r>
          </a:p>
          <a:p>
            <a:r>
              <a:rPr sz="1100"/>
              <a:t>---</a:t>
            </a:r>
          </a:p>
          <a:p>
            <a:r>
              <a:rPr sz="1100"/>
              <a:t>apiVersion: gateway.networking.k8s.io/v1</a:t>
            </a:r>
          </a:p>
          <a:p>
            <a:r>
              <a:rPr sz="1100"/>
              <a:t>kind: HTTPRoute</a:t>
            </a:r>
          </a:p>
          <a:p>
            <a:r>
              <a:rPr sz="1100"/>
              <a:t>metadata: { name: app, namespace: demo }</a:t>
            </a:r>
          </a:p>
          <a:p>
            <a:r>
              <a:rPr sz="1100"/>
              <a:t>spec:</a:t>
            </a:r>
          </a:p>
          <a:p>
            <a:r>
              <a:rPr sz="1100"/>
              <a:t>  parentRefs: [ { name: agc-gw, namespace: edge } ]</a:t>
            </a:r>
          </a:p>
          <a:p>
            <a:r>
              <a:rPr sz="1100"/>
              <a:t>  hostnames: [ "app.contoso.com" ]</a:t>
            </a:r>
          </a:p>
          <a:p>
            <a:r>
              <a:rPr sz="1100"/>
              <a:t>  rules:</a:t>
            </a:r>
          </a:p>
          <a:p>
            <a:r>
              <a:rPr sz="1100"/>
              <a:t>  - matches: [ { path: { type: PathPrefix, value: / } } ]</a:t>
            </a:r>
          </a:p>
          <a:p>
            <a:r>
              <a:rPr sz="1100"/>
              <a:t>    backendRefs: [ { name: sample-app, port: 80 }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Show this last in the ingress part of the talk. It is what many teams have had in production for years, and it remains a valid pattern. The point is not that Ingress is broken; it is that Gateway API better matches modern platform requirements: clearer ownership, fewer controller-specific annotations, and more portable routing semantics.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is the slide to land the point of part 2 + part 3: Gateway API is the *contract*, AGC is the *Azure-native implementation*. Teams write the same YAML for any environment; the platform team picks the implementation per environment (Envoy in dev, AGC in production). That is what "vendor-neutral with managed-service benefits" actually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Two micro-points worth calling out: (a) AGC's "backend pool" is dynamic — the ALB Controller updates it from `EndpointSlice` events, so pod churn is reflected within seconds; (b) because pods have real VNet IPs (Azure CNI), there's no kube-proxy/iptables hop. That's the architectural reason AGC is faster than in-cluster ingress controllers for north-south traffic.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is *not* "Argo CD replaces Flux" — both are first-class Azure-managed extensions. Flux has been the AKS default for fleet-style GitOps (lots of clusters, one config repo). Argo CD has historically been preferred by app teams that want a UI and per-app views. Until now, you ran Argo CD yourself. Managed Argo CD removes that operational burden.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"why it matters" is operational, not functional. Argo CD itself is unchanged. What changes is that you stop running it. For an enterprise platform team that means: no Argo CD upgrades, no Redis HA, no Dex/SSO plumbing, no cert rotation, no backup of the application controller. You declare the extension on the AKS cluster and you get a hardened, identity-integrated Argo CD.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flow is identical to managed Flux from an operations standpoint: an AKS extension. The config knobs you care about are `sso.entraID.enabled` (turn on Entra-backed login) and `controller.workloadIdentity.enabled` (target other AKS clusters without kubeconfig secrets). Everything else is upstream Argo CD.</a:t>
            </a:r>
          </a:p>
          <a:p>
            <a:r>
              <a:rPr sz="1100"/>
              <a:t/>
            </a:r>
          </a:p>
          <a:p>
            <a:r>
              <a:rPr sz="1100"/>
              <a:t>--- Azure CLI script ---</a:t>
            </a:r>
          </a:p>
          <a:p>
            <a:r>
              <a:rPr sz="1100"/>
              <a:t>RG=rg-gitops-demo</a:t>
            </a:r>
          </a:p>
          <a:p>
            <a:r>
              <a:rPr sz="1100"/>
              <a:t>LOC=swedencentral</a:t>
            </a:r>
          </a:p>
          <a:p>
            <a:r>
              <a:rPr sz="1100"/>
              <a:t>AKS=aks-gitops-demo</a:t>
            </a:r>
          </a:p>
          <a:p>
            <a:r>
              <a:rPr sz="1100"/>
              <a:t/>
            </a:r>
          </a:p>
          <a:p>
            <a:r>
              <a:rPr sz="1100"/>
              <a:t>az group create -n $RG -l $LOC</a:t>
            </a:r>
          </a:p>
          <a:p>
            <a:r>
              <a:rPr sz="1100"/>
              <a:t>az aks create -g $RG -n $AKS -l $LOC \</a:t>
            </a:r>
          </a:p>
          <a:p>
            <a:r>
              <a:rPr sz="1100"/>
              <a:t>  --kubernetes-version 1.34.7 \</a:t>
            </a:r>
          </a:p>
          <a:p>
            <a:r>
              <a:rPr sz="1100"/>
              <a:t>  --tier free \</a:t>
            </a:r>
          </a:p>
          <a:p>
            <a:r>
              <a:rPr sz="1100"/>
              <a:t>  --node-vm-size Standard_B4as_v2 \</a:t>
            </a:r>
          </a:p>
          <a:p>
            <a:r>
              <a:rPr sz="1100"/>
              <a:t>  --node-count 3 \</a:t>
            </a:r>
          </a:p>
          <a:p>
            <a:r>
              <a:rPr sz="1100"/>
              <a:t>  --enable-oidc-issuer --enable-workload-identity \</a:t>
            </a:r>
          </a:p>
          <a:p>
            <a:r>
              <a:rPr sz="1100"/>
              <a:t>  --generate-ssh-keys</a:t>
            </a:r>
          </a:p>
          <a:p>
            <a:r>
              <a:rPr sz="1100"/>
              <a:t>az aks get-credentials -g $RG -n $AKS</a:t>
            </a:r>
          </a:p>
          <a:p>
            <a:r>
              <a:rPr sz="1100"/>
              <a:t/>
            </a:r>
          </a:p>
          <a:p>
            <a:r>
              <a:rPr sz="1100"/>
              <a:t># Ensure the K8s-configuration provider + extension CLI are available</a:t>
            </a:r>
          </a:p>
          <a:p>
            <a:r>
              <a:rPr sz="1100"/>
              <a:t>az extension add --name k8s-extension --upgrade</a:t>
            </a:r>
          </a:p>
          <a:p>
            <a:r>
              <a:rPr sz="1100"/>
              <a:t>az provider register --namespace Microsoft.KubernetesConfiguration</a:t>
            </a:r>
          </a:p>
          <a:p>
            <a:r>
              <a:rPr sz="1100"/>
              <a:t/>
            </a:r>
          </a:p>
          <a:p>
            <a:r>
              <a:rPr sz="1100"/>
              <a:t># Install the managed Argo CD extension on the cluster</a:t>
            </a:r>
          </a:p>
          <a:p>
            <a:r>
              <a:rPr sz="1100"/>
              <a:t>az k8s-extension create \</a:t>
            </a:r>
          </a:p>
          <a:p>
            <a:r>
              <a:rPr sz="1100"/>
              <a:t>  -g $RG \</a:t>
            </a:r>
          </a:p>
          <a:p>
            <a:r>
              <a:rPr sz="1100"/>
              <a:t>  --cluster-name $AKS --cluster-type managedClusters \</a:t>
            </a:r>
          </a:p>
          <a:p>
            <a:r>
              <a:rPr sz="1100"/>
              <a:t>  --name argocd \</a:t>
            </a:r>
          </a:p>
          <a:p>
            <a:r>
              <a:rPr sz="1100"/>
              <a:t>  --extension-type Microsoft.ArgoCD \</a:t>
            </a:r>
          </a:p>
          <a:p>
            <a:r>
              <a:rPr sz="1100"/>
              <a:t>  --auto-upgrade-minor-version true \</a:t>
            </a:r>
          </a:p>
          <a:p>
            <a:r>
              <a:rPr sz="1100"/>
              <a:t>  --release-namespace argocd \</a:t>
            </a:r>
          </a:p>
          <a:p>
            <a:r>
              <a:rPr sz="1100"/>
              <a:t>  --configuration-settings \</a:t>
            </a:r>
          </a:p>
          <a:p>
            <a:r>
              <a:rPr sz="1100"/>
              <a:t>      sso.entraID.enabled=true \</a:t>
            </a:r>
          </a:p>
          <a:p>
            <a:r>
              <a:rPr sz="1100"/>
              <a:t>      sso.entraID.tenantId=$(az account show --query tenantId -o tsv) \</a:t>
            </a:r>
          </a:p>
          <a:p>
            <a:r>
              <a:rPr sz="1100"/>
              <a:t>      controller.workloadIdentity.enabled=true</a:t>
            </a:r>
          </a:p>
          <a:p>
            <a:r>
              <a:rPr sz="1100"/>
              <a:t/>
            </a:r>
          </a:p>
          <a:p>
            <a:r>
              <a:rPr sz="1100"/>
              <a:t># Bootstrap an Application from Git</a:t>
            </a:r>
          </a:p>
          <a:p>
            <a:r>
              <a:rPr sz="1100"/>
              <a:t>kubectl apply -n argocd -f - &lt;&lt;'YAML'</a:t>
            </a:r>
          </a:p>
          <a:p>
            <a:r>
              <a:rPr sz="1100"/>
              <a:t>apiVersion: argoproj.io/v1alpha1</a:t>
            </a:r>
          </a:p>
          <a:p>
            <a:r>
              <a:rPr sz="1100"/>
              <a:t>kind: Application</a:t>
            </a:r>
          </a:p>
          <a:p>
            <a:r>
              <a:rPr sz="1100"/>
              <a:t>metadata: { name: sample-app, namespace: argocd }</a:t>
            </a:r>
          </a:p>
          <a:p>
            <a:r>
              <a:rPr sz="1100"/>
              <a:t>spec:</a:t>
            </a:r>
          </a:p>
          <a:p>
            <a:r>
              <a:rPr sz="1100"/>
              <a:t>  project: default</a:t>
            </a:r>
          </a:p>
          <a:p>
            <a:r>
              <a:rPr sz="1100"/>
              <a:t>  source:</a:t>
            </a:r>
          </a:p>
          <a:p>
            <a:r>
              <a:rPr sz="1100"/>
              <a:t>    repoURL: https://github.com/contoso/platform-gitops</a:t>
            </a:r>
          </a:p>
          <a:p>
            <a:r>
              <a:rPr sz="1100"/>
              <a:t>    targetRevision: main</a:t>
            </a:r>
          </a:p>
          <a:p>
            <a:r>
              <a:rPr sz="1100"/>
              <a:t>    path: apps/sample-app</a:t>
            </a:r>
          </a:p>
          <a:p>
            <a:r>
              <a:rPr sz="1100"/>
              <a:t>  destination:</a:t>
            </a:r>
          </a:p>
          <a:p>
            <a:r>
              <a:rPr sz="1100"/>
              <a:t>    server: https://kubernetes.default.svc</a:t>
            </a:r>
          </a:p>
          <a:p>
            <a:r>
              <a:rPr sz="1100"/>
              <a:t>    namespace: demo</a:t>
            </a:r>
          </a:p>
          <a:p>
            <a:r>
              <a:rPr sz="1100"/>
              <a:t>  syncPolicy:</a:t>
            </a:r>
          </a:p>
          <a:p>
            <a:r>
              <a:rPr sz="1100"/>
              <a:t>    automated: { prune: true, selfHeal: true }</a:t>
            </a:r>
          </a:p>
          <a:p>
            <a:r>
              <a:rPr sz="1100"/>
              <a:t>    syncOptions: [ CreateNamespace=true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 Istio ambient architecture &amp; HBONE: istio.io/latest/docs/ambient</a:t>
            </a:r>
          </a:p>
          <a:p>
            <a:r>
              <a:rPr sz="1100"/>
              <a:t>- Gateway API spec: gateway-api.sigs.k8s.io</a:t>
            </a:r>
          </a:p>
          <a:p>
            <a:r>
              <a:rPr sz="1100"/>
              <a:t>- Application Gateway for Containers + ALB Controller: aka.ms/agc</a:t>
            </a:r>
          </a:p>
          <a:p>
            <a:r>
              <a:rPr sz="1100"/>
              <a:t>- Managed Argo CD on AKS: aka.ms/aks/argocd</a:t>
            </a:r>
          </a:p>
          <a:p>
            <a:r>
              <a:rPr sz="1100"/>
              <a:t>- AKS managed Istio add-on: learn.microsoft.com/azure/aks/istio-about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ight Triangle 2"/>
          <p:cNvSpPr/>
          <p:nvPr/>
        </p:nvSpPr>
        <p:spPr>
          <a:xfrm rot="5400000">
            <a:off x="8076895" y="2743200"/>
            <a:ext cx="4114800" cy="4114800"/>
          </a:xfrm>
          <a:prstGeom prst="rtTriangl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905695" y="548640"/>
            <a:ext cx="1645920" cy="164592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0"/>
            <a:ext cx="2926080" cy="320040"/>
          </a:xfrm>
          <a:prstGeom prst="rect">
            <a:avLst/>
          </a:prstGeom>
          <a:noFill/>
        </p:spPr>
        <p:txBody>
          <a:bodyPr wrap="square" lIns="45720" rIns="45720" tIns="18288" bIns="18288">
            <a:spAutoFit/>
          </a:bodyPr>
          <a:lstStyle/>
          <a:p>
            <a:pPr algn="l"/>
            <a:r>
              <a:rPr sz="1100" b="1" i="0">
                <a:solidFill>
                  <a:srgbClr val="9CC8FF"/>
                </a:solidFill>
                <a:latin typeface="Calibri"/>
              </a:rPr>
              <a:t>AZURE  •  KUBERNETES  •  2026</a:t>
            </a:r>
          </a:p>
        </p:txBody>
      </p:sp>
      <p:sp>
        <p:nvSpPr>
          <p:cNvPr id="6" name="TextBox 5"/>
          <p:cNvSpPr txBox="1"/>
          <p:nvPr/>
        </p:nvSpPr>
        <p:spPr>
          <a:xfrm>
            <a:off x="640080" y="1554480"/>
            <a:ext cx="10911535" cy="1645920"/>
          </a:xfrm>
          <a:prstGeom prst="rect">
            <a:avLst/>
          </a:prstGeom>
          <a:noFill/>
        </p:spPr>
        <p:txBody>
          <a:bodyPr wrap="square" lIns="45720" rIns="45720" tIns="18288" bIns="18288">
            <a:spAutoFit/>
          </a:bodyPr>
          <a:lstStyle/>
          <a:p>
            <a:pPr algn="l"/>
            <a:r>
              <a:rPr sz="5800" b="1" i="0">
                <a:solidFill>
                  <a:srgbClr val="FFFFFF"/>
                </a:solidFill>
                <a:latin typeface="Calibri"/>
              </a:rPr>
              <a:t>Major Changes</a:t>
            </a:r>
          </a:p>
          <a:p>
            <a:pPr algn="l"/>
            <a:r>
              <a:rPr sz="5800" b="1" i="0">
                <a:solidFill>
                  <a:srgbClr val="FFFFFF"/>
                </a:solidFill>
                <a:latin typeface="Calibri"/>
              </a:rPr>
              <a:t>in AKS</a:t>
            </a:r>
          </a:p>
        </p:txBody>
      </p:sp>
      <p:sp>
        <p:nvSpPr>
          <p:cNvPr id="7" name="Rectangle 6"/>
          <p:cNvSpPr/>
          <p:nvPr/>
        </p:nvSpPr>
        <p:spPr>
          <a:xfrm>
            <a:off x="640080" y="4023360"/>
            <a:ext cx="64008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160520"/>
            <a:ext cx="10911535" cy="640080"/>
          </a:xfrm>
          <a:prstGeom prst="rect">
            <a:avLst/>
          </a:prstGeom>
          <a:noFill/>
        </p:spPr>
        <p:txBody>
          <a:bodyPr wrap="square" lIns="45720" rIns="45720" tIns="18288" bIns="18288">
            <a:spAutoFit/>
          </a:bodyPr>
          <a:lstStyle/>
          <a:p>
            <a:pPr algn="l"/>
            <a:r>
              <a:rPr sz="2200" b="0" i="0">
                <a:solidFill>
                  <a:srgbClr val="BED8FC"/>
                </a:solidFill>
                <a:latin typeface="Calibri"/>
              </a:rPr>
              <a:t>Service Mesh • Ingress • Gateway API • GitOps</a:t>
            </a:r>
          </a:p>
        </p:txBody>
      </p:sp>
      <p:sp>
        <p:nvSpPr>
          <p:cNvPr id="9" name="TextBox 8"/>
          <p:cNvSpPr txBox="1"/>
          <p:nvPr/>
        </p:nvSpPr>
        <p:spPr>
          <a:xfrm>
            <a:off x="640080" y="4937760"/>
            <a:ext cx="10911535" cy="457200"/>
          </a:xfrm>
          <a:prstGeom prst="rect">
            <a:avLst/>
          </a:prstGeom>
          <a:noFill/>
        </p:spPr>
        <p:txBody>
          <a:bodyPr wrap="square" lIns="45720" rIns="45720" tIns="18288" bIns="18288">
            <a:spAutoFit/>
          </a:bodyPr>
          <a:lstStyle/>
          <a:p>
            <a:pPr algn="l"/>
            <a:r>
              <a:rPr sz="1600" b="0" i="1">
                <a:solidFill>
                  <a:srgbClr val="9CC8FF"/>
                </a:solidFill>
                <a:latin typeface="Calibri"/>
              </a:rPr>
              <a:t>Level 400  —  deep dive</a:t>
            </a:r>
          </a:p>
        </p:txBody>
      </p:sp>
      <p:sp>
        <p:nvSpPr>
          <p:cNvPr id="10" name="Rectangle 9"/>
          <p:cNvSpPr/>
          <p:nvPr/>
        </p:nvSpPr>
        <p:spPr>
          <a:xfrm>
            <a:off x="0" y="6446520"/>
            <a:ext cx="12191695" cy="41148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46520"/>
            <a:ext cx="10911535" cy="411480"/>
          </a:xfrm>
          <a:prstGeom prst="rect">
            <a:avLst/>
          </a:prstGeom>
          <a:noFill/>
        </p:spPr>
        <p:txBody>
          <a:bodyPr wrap="square" lIns="45720" rIns="45720" tIns="18288" bIns="18288" anchor="ctr">
            <a:spAutoFit/>
          </a:bodyPr>
          <a:lstStyle/>
          <a:p>
            <a:pPr algn="l"/>
            <a:r>
              <a:rPr sz="1100" b="0" i="0">
                <a:solidFill>
                  <a:srgbClr val="BED8FC"/>
                </a:solidFill>
                <a:latin typeface="Calibri"/>
              </a:rPr>
              <a:t>github.com/johankardell/aksingress2026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68735" cy="640080"/>
          </a:xfrm>
          <a:prstGeom prst="rect">
            <a:avLst/>
          </a:prstGeom>
          <a:noFill/>
        </p:spPr>
        <p:txBody>
          <a:bodyPr wrap="square" lIns="45720" rIns="45720" tIns="18288" bIns="18288" anchor="ctr">
            <a:spAutoFit/>
          </a:bodyPr>
          <a:lstStyle/>
          <a:p>
            <a:pPr algn="l"/>
            <a:r>
              <a:rPr sz="2600" b="1" i="0">
                <a:solidFill>
                  <a:srgbClr val="FFFFFF"/>
                </a:solidFill>
                <a:latin typeface="Calibri"/>
              </a:rPr>
              <a:t>Agenda</a:t>
            </a:r>
          </a:p>
        </p:txBody>
      </p:sp>
      <p:sp>
        <p:nvSpPr>
          <p:cNvPr id="6" name="TextBox 5"/>
          <p:cNvSpPr txBox="1"/>
          <p:nvPr/>
        </p:nvSpPr>
        <p:spPr>
          <a:xfrm>
            <a:off x="457200" y="1051560"/>
            <a:ext cx="11277295" cy="365760"/>
          </a:xfrm>
          <a:prstGeom prst="rect">
            <a:avLst/>
          </a:prstGeom>
          <a:noFill/>
        </p:spPr>
        <p:txBody>
          <a:bodyPr wrap="square" lIns="45720" rIns="45720" tIns="18288" bIns="18288">
            <a:spAutoFit/>
          </a:bodyPr>
          <a:lstStyle/>
          <a:p>
            <a:pPr algn="l"/>
            <a:r>
              <a:rPr sz="1500" b="0" i="1">
                <a:solidFill>
                  <a:srgbClr val="103A6E"/>
                </a:solidFill>
                <a:latin typeface="Calibri"/>
              </a:rPr>
              <a:t>Four shifts changing how we build platforms on AKS in 2026</a:t>
            </a:r>
          </a:p>
        </p:txBody>
      </p:sp>
      <p:sp>
        <p:nvSpPr>
          <p:cNvPr id="7" name="Oval 6"/>
          <p:cNvSpPr/>
          <p:nvPr/>
        </p:nvSpPr>
        <p:spPr>
          <a:xfrm>
            <a:off x="457200" y="1691640"/>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691640"/>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1</a:t>
            </a:r>
          </a:p>
        </p:txBody>
      </p:sp>
      <p:sp>
        <p:nvSpPr>
          <p:cNvPr id="9" name="Rounded Rectangle 8"/>
          <p:cNvSpPr/>
          <p:nvPr/>
        </p:nvSpPr>
        <p:spPr>
          <a:xfrm>
            <a:off x="1143000" y="1737360"/>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1737360"/>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Istio: from sidecar to ambient</a:t>
            </a:r>
          </a:p>
        </p:txBody>
      </p:sp>
      <p:sp>
        <p:nvSpPr>
          <p:cNvPr id="11" name="Oval 10"/>
          <p:cNvSpPr/>
          <p:nvPr/>
        </p:nvSpPr>
        <p:spPr>
          <a:xfrm>
            <a:off x="457200" y="2404872"/>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404872"/>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2</a:t>
            </a:r>
          </a:p>
        </p:txBody>
      </p:sp>
      <p:sp>
        <p:nvSpPr>
          <p:cNvPr id="13" name="Rounded Rectangle 12"/>
          <p:cNvSpPr/>
          <p:nvPr/>
        </p:nvSpPr>
        <p:spPr>
          <a:xfrm>
            <a:off x="1143000" y="2450592"/>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2450592"/>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Where (and where not) to use a service mesh</a:t>
            </a:r>
          </a:p>
        </p:txBody>
      </p:sp>
      <p:sp>
        <p:nvSpPr>
          <p:cNvPr id="15" name="Oval 14"/>
          <p:cNvSpPr/>
          <p:nvPr/>
        </p:nvSpPr>
        <p:spPr>
          <a:xfrm>
            <a:off x="457200" y="3118104"/>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118104"/>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3</a:t>
            </a:r>
          </a:p>
        </p:txBody>
      </p:sp>
      <p:sp>
        <p:nvSpPr>
          <p:cNvPr id="17" name="Rounded Rectangle 16"/>
          <p:cNvSpPr/>
          <p:nvPr/>
        </p:nvSpPr>
        <p:spPr>
          <a:xfrm>
            <a:off x="1143000" y="3163824"/>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3163824"/>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Pod-to-pod traffic across nodes in ambient mode</a:t>
            </a:r>
          </a:p>
        </p:txBody>
      </p:sp>
      <p:sp>
        <p:nvSpPr>
          <p:cNvPr id="19" name="Oval 18"/>
          <p:cNvSpPr/>
          <p:nvPr/>
        </p:nvSpPr>
        <p:spPr>
          <a:xfrm>
            <a:off x="457200" y="3831336"/>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831336"/>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4</a:t>
            </a:r>
          </a:p>
        </p:txBody>
      </p:sp>
      <p:sp>
        <p:nvSpPr>
          <p:cNvPr id="21" name="Rounded Rectangle 20"/>
          <p:cNvSpPr/>
          <p:nvPr/>
        </p:nvSpPr>
        <p:spPr>
          <a:xfrm>
            <a:off x="1143000" y="3877056"/>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80160" y="3877056"/>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Ingress → Gateway API</a:t>
            </a:r>
          </a:p>
        </p:txBody>
      </p:sp>
      <p:sp>
        <p:nvSpPr>
          <p:cNvPr id="23" name="Oval 22"/>
          <p:cNvSpPr/>
          <p:nvPr/>
        </p:nvSpPr>
        <p:spPr>
          <a:xfrm>
            <a:off x="457200" y="4544568"/>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544568"/>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5</a:t>
            </a:r>
          </a:p>
        </p:txBody>
      </p:sp>
      <p:sp>
        <p:nvSpPr>
          <p:cNvPr id="25" name="Rounded Rectangle 24"/>
          <p:cNvSpPr/>
          <p:nvPr/>
        </p:nvSpPr>
        <p:spPr>
          <a:xfrm>
            <a:off x="1143000" y="4590288"/>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80160" y="4590288"/>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Gateway API on AKS with Envoy Gateway</a:t>
            </a:r>
          </a:p>
        </p:txBody>
      </p:sp>
      <p:sp>
        <p:nvSpPr>
          <p:cNvPr id="27" name="Oval 26"/>
          <p:cNvSpPr/>
          <p:nvPr/>
        </p:nvSpPr>
        <p:spPr>
          <a:xfrm>
            <a:off x="5912967" y="1691640"/>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12967" y="1691640"/>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6</a:t>
            </a:r>
          </a:p>
        </p:txBody>
      </p:sp>
      <p:sp>
        <p:nvSpPr>
          <p:cNvPr id="29" name="Rounded Rectangle 28"/>
          <p:cNvSpPr/>
          <p:nvPr/>
        </p:nvSpPr>
        <p:spPr>
          <a:xfrm>
            <a:off x="6598767" y="1737360"/>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35927" y="1737360"/>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Application Gateway for Containers (AGC) + Gateway API</a:t>
            </a:r>
          </a:p>
        </p:txBody>
      </p:sp>
      <p:sp>
        <p:nvSpPr>
          <p:cNvPr id="31" name="Oval 30"/>
          <p:cNvSpPr/>
          <p:nvPr/>
        </p:nvSpPr>
        <p:spPr>
          <a:xfrm>
            <a:off x="5912967" y="2404872"/>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12967" y="2404872"/>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7</a:t>
            </a:r>
          </a:p>
        </p:txBody>
      </p:sp>
      <p:sp>
        <p:nvSpPr>
          <p:cNvPr id="33" name="Rounded Rectangle 32"/>
          <p:cNvSpPr/>
          <p:nvPr/>
        </p:nvSpPr>
        <p:spPr>
          <a:xfrm>
            <a:off x="6598767" y="2450592"/>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35927" y="2450592"/>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Legacy: NGINX Ingress on AKS (traditional reference)</a:t>
            </a:r>
          </a:p>
        </p:txBody>
      </p:sp>
      <p:sp>
        <p:nvSpPr>
          <p:cNvPr id="35" name="Oval 34"/>
          <p:cNvSpPr/>
          <p:nvPr/>
        </p:nvSpPr>
        <p:spPr>
          <a:xfrm>
            <a:off x="5912967" y="3118104"/>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12967" y="3118104"/>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8</a:t>
            </a:r>
          </a:p>
        </p:txBody>
      </p:sp>
      <p:sp>
        <p:nvSpPr>
          <p:cNvPr id="37" name="Rounded Rectangle 36"/>
          <p:cNvSpPr/>
          <p:nvPr/>
        </p:nvSpPr>
        <p:spPr>
          <a:xfrm>
            <a:off x="6598767" y="3163824"/>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35927" y="3163824"/>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Managed Argo CD on AKS (vs Flux)</a:t>
            </a:r>
          </a:p>
        </p:txBody>
      </p:sp>
      <p:sp>
        <p:nvSpPr>
          <p:cNvPr id="39" name="Oval 38"/>
          <p:cNvSpPr/>
          <p:nvPr/>
        </p:nvSpPr>
        <p:spPr>
          <a:xfrm>
            <a:off x="5912967" y="3831336"/>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12967" y="3831336"/>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9</a:t>
            </a:r>
          </a:p>
        </p:txBody>
      </p:sp>
      <p:sp>
        <p:nvSpPr>
          <p:cNvPr id="41" name="Rounded Rectangle 40"/>
          <p:cNvSpPr/>
          <p:nvPr/>
        </p:nvSpPr>
        <p:spPr>
          <a:xfrm>
            <a:off x="6598767" y="3877056"/>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35927" y="3877056"/>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Q&amp;A</a:t>
            </a:r>
          </a:p>
        </p:txBody>
      </p:sp>
      <p:sp>
        <p:nvSpPr>
          <p:cNvPr id="43" name="TextBox 42"/>
          <p:cNvSpPr txBox="1"/>
          <p:nvPr/>
        </p:nvSpPr>
        <p:spPr>
          <a:xfrm>
            <a:off x="457200" y="5943600"/>
            <a:ext cx="11277295" cy="365760"/>
          </a:xfrm>
          <a:prstGeom prst="rect">
            <a:avLst/>
          </a:prstGeom>
          <a:noFill/>
        </p:spPr>
        <p:txBody>
          <a:bodyPr wrap="square" lIns="45720" rIns="45720" tIns="18288" bIns="18288">
            <a:spAutoFit/>
          </a:bodyPr>
          <a:lstStyle/>
          <a:p>
            <a:pPr algn="l"/>
            <a:r>
              <a:rPr sz="1200" b="0" i="1">
                <a:solidFill>
                  <a:srgbClr val="606E85"/>
                </a:solidFill>
                <a:latin typeface="Calibri"/>
              </a:rPr>
              <a:t>→  Q&amp;A throughout; deeper code samples in the speaker notes.</a:t>
            </a:r>
          </a:p>
        </p:txBody>
      </p:sp>
      <p:sp>
        <p:nvSpPr>
          <p:cNvPr id="44" name="Rectangle 43"/>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46" name="TextBox 4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 / 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1</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Service Mesh: Sidecar → Ambient</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a service mesh at all?</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Sidecar mode (the old way)</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Ambient mode (the new way)</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Pod-to-pod traffic across nodes (ambient)</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Enabling ambient Istio on AKS</a:t>
            </a:r>
          </a:p>
        </p:txBody>
      </p:sp>
      <p:sp>
        <p:nvSpPr>
          <p:cNvPr id="19" name="TextBox 18"/>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3 /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a service mesh at all?</a:t>
            </a:r>
          </a:p>
        </p:txBody>
      </p:sp>
      <p:sp>
        <p:nvSpPr>
          <p:cNvPr id="7" name="TextBox 6"/>
          <p:cNvSpPr txBox="1"/>
          <p:nvPr/>
        </p:nvSpPr>
        <p:spPr>
          <a:xfrm>
            <a:off x="457200" y="1097280"/>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What a mesh actually gives you</a:t>
            </a:r>
          </a:p>
          <a:p>
            <a:pPr>
              <a:spcAft>
                <a:spcPts val="200"/>
              </a:spcAft>
            </a:pPr>
            <a:r>
              <a:rPr sz="1400" b="1">
                <a:solidFill>
                  <a:srgbClr val="0078D4"/>
                </a:solidFill>
                <a:latin typeface="Calibri"/>
              </a:rPr>
              <a:t>▸ </a:t>
            </a:r>
            <a:r>
              <a:rPr sz="1400" b="0" i="0">
                <a:solidFill>
                  <a:srgbClr val="1F2A44"/>
                </a:solidFill>
                <a:latin typeface="Calibri"/>
              </a:rPr>
              <a:t>mTLS everywhere, identity-based (SPIFFE) — zero-trust between workloads</a:t>
            </a:r>
          </a:p>
          <a:p>
            <a:pPr>
              <a:spcAft>
                <a:spcPts val="200"/>
              </a:spcAft>
            </a:pPr>
            <a:r>
              <a:rPr sz="1400" b="1">
                <a:solidFill>
                  <a:srgbClr val="0078D4"/>
                </a:solidFill>
                <a:latin typeface="Calibri"/>
              </a:rPr>
              <a:t>▸ </a:t>
            </a:r>
            <a:r>
              <a:rPr sz="1400" b="0" i="0">
                <a:solidFill>
                  <a:srgbClr val="1F2A44"/>
                </a:solidFill>
                <a:latin typeface="Calibri"/>
              </a:rPr>
              <a:t>L7 traffic control: retries, timeouts, circuit breaking, traffic splitting</a:t>
            </a:r>
          </a:p>
          <a:p>
            <a:pPr>
              <a:spcAft>
                <a:spcPts val="200"/>
              </a:spcAft>
            </a:pPr>
            <a:r>
              <a:rPr sz="1400" b="1">
                <a:solidFill>
                  <a:srgbClr val="0078D4"/>
                </a:solidFill>
                <a:latin typeface="Calibri"/>
              </a:rPr>
              <a:t>▸ </a:t>
            </a:r>
            <a:r>
              <a:rPr sz="1400" b="0" i="0">
                <a:solidFill>
                  <a:srgbClr val="1F2A44"/>
                </a:solidFill>
                <a:latin typeface="Calibri"/>
              </a:rPr>
              <a:t>Uniform telemetry: golden signals per service without app code</a:t>
            </a:r>
          </a:p>
          <a:p>
            <a:pPr>
              <a:spcAft>
                <a:spcPts val="200"/>
              </a:spcAft>
            </a:pPr>
            <a:r>
              <a:rPr sz="1400" b="1">
                <a:solidFill>
                  <a:srgbClr val="0078D4"/>
                </a:solidFill>
                <a:latin typeface="Calibri"/>
              </a:rPr>
              <a:t>▸ </a:t>
            </a:r>
            <a:r>
              <a:rPr sz="1400" b="0" i="0">
                <a:solidFill>
                  <a:srgbClr val="1F2A44"/>
                </a:solidFill>
                <a:latin typeface="Calibri"/>
              </a:rPr>
              <a:t>Policy: authZ between services, rate limiting, header rewrites</a:t>
            </a:r>
          </a:p>
        </p:txBody>
      </p:sp>
      <p:sp>
        <p:nvSpPr>
          <p:cNvPr id="8" name="TextBox 7"/>
          <p:cNvSpPr txBox="1"/>
          <p:nvPr/>
        </p:nvSpPr>
        <p:spPr>
          <a:xfrm>
            <a:off x="457200" y="2451603"/>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When it makes sense</a:t>
            </a:r>
          </a:p>
          <a:p>
            <a:pPr>
              <a:spcAft>
                <a:spcPts val="200"/>
              </a:spcAft>
            </a:pPr>
            <a:r>
              <a:rPr sz="1400" b="1">
                <a:solidFill>
                  <a:srgbClr val="0078D4"/>
                </a:solidFill>
                <a:latin typeface="Calibri"/>
              </a:rPr>
              <a:t>▸ </a:t>
            </a:r>
            <a:r>
              <a:rPr sz="1400" b="0" i="0">
                <a:solidFill>
                  <a:srgbClr val="1F2A44"/>
                </a:solidFill>
                <a:latin typeface="Calibri"/>
              </a:rPr>
              <a:t>&gt; ~10 services or multiple teams sharing a cluster</a:t>
            </a:r>
          </a:p>
          <a:p>
            <a:pPr>
              <a:spcAft>
                <a:spcPts val="200"/>
              </a:spcAft>
            </a:pPr>
            <a:r>
              <a:rPr sz="1400" b="1">
                <a:solidFill>
                  <a:srgbClr val="0078D4"/>
                </a:solidFill>
                <a:latin typeface="Calibri"/>
              </a:rPr>
              <a:t>▸ </a:t>
            </a:r>
            <a:r>
              <a:rPr sz="1400" b="0" i="0">
                <a:solidFill>
                  <a:srgbClr val="1F2A44"/>
                </a:solidFill>
                <a:latin typeface="Calibri"/>
              </a:rPr>
              <a:t>Regulated workloads (PCI/HIPAA) needing encryption-in-transit &amp; audit</a:t>
            </a:r>
          </a:p>
          <a:p>
            <a:pPr>
              <a:spcAft>
                <a:spcPts val="200"/>
              </a:spcAft>
            </a:pPr>
            <a:r>
              <a:rPr sz="1400" b="1">
                <a:solidFill>
                  <a:srgbClr val="0078D4"/>
                </a:solidFill>
                <a:latin typeface="Calibri"/>
              </a:rPr>
              <a:t>▸ </a:t>
            </a:r>
            <a:r>
              <a:rPr sz="1400" b="0" i="0">
                <a:solidFill>
                  <a:srgbClr val="1F2A44"/>
                </a:solidFill>
                <a:latin typeface="Calibri"/>
              </a:rPr>
              <a:t>Progressive delivery: canary, blue/green, A/B by header</a:t>
            </a:r>
          </a:p>
          <a:p>
            <a:pPr>
              <a:spcAft>
                <a:spcPts val="200"/>
              </a:spcAft>
            </a:pPr>
            <a:r>
              <a:rPr sz="1400" b="1">
                <a:solidFill>
                  <a:srgbClr val="0078D4"/>
                </a:solidFill>
                <a:latin typeface="Calibri"/>
              </a:rPr>
              <a:t>▸ </a:t>
            </a:r>
            <a:r>
              <a:rPr sz="1400" b="0" i="0">
                <a:solidFill>
                  <a:srgbClr val="1F2A44"/>
                </a:solidFill>
                <a:latin typeface="Calibri"/>
              </a:rPr>
              <a:t>Multi-cluster / multi-tenant platforms</a:t>
            </a:r>
          </a:p>
        </p:txBody>
      </p:sp>
      <p:sp>
        <p:nvSpPr>
          <p:cNvPr id="9" name="TextBox 8"/>
          <p:cNvSpPr txBox="1"/>
          <p:nvPr/>
        </p:nvSpPr>
        <p:spPr>
          <a:xfrm>
            <a:off x="457200" y="3805926"/>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When it does NOT make sense</a:t>
            </a:r>
          </a:p>
          <a:p>
            <a:pPr>
              <a:spcAft>
                <a:spcPts val="200"/>
              </a:spcAft>
            </a:pPr>
            <a:r>
              <a:rPr sz="1400" b="1">
                <a:solidFill>
                  <a:srgbClr val="0078D4"/>
                </a:solidFill>
                <a:latin typeface="Calibri"/>
              </a:rPr>
              <a:t>▸ </a:t>
            </a:r>
            <a:r>
              <a:rPr sz="1400" b="0" i="0">
                <a:solidFill>
                  <a:srgbClr val="1F2A44"/>
                </a:solidFill>
                <a:latin typeface="Calibri"/>
              </a:rPr>
              <a:t>2–3 microservices behind a single ingress — overkill</a:t>
            </a:r>
          </a:p>
          <a:p>
            <a:pPr>
              <a:spcAft>
                <a:spcPts val="200"/>
              </a:spcAft>
            </a:pPr>
            <a:r>
              <a:rPr sz="1400" b="1">
                <a:solidFill>
                  <a:srgbClr val="0078D4"/>
                </a:solidFill>
                <a:latin typeface="Calibri"/>
              </a:rPr>
              <a:t>▸ </a:t>
            </a:r>
            <a:r>
              <a:rPr sz="1400" b="0" i="0">
                <a:solidFill>
                  <a:srgbClr val="1F2A44"/>
                </a:solidFill>
                <a:latin typeface="Calibri"/>
              </a:rPr>
              <a:t>Hard real-time / ultra-low-latency hot paths (extra hop matters)</a:t>
            </a:r>
          </a:p>
          <a:p>
            <a:pPr>
              <a:spcAft>
                <a:spcPts val="200"/>
              </a:spcAft>
            </a:pPr>
            <a:r>
              <a:rPr sz="1400" b="1">
                <a:solidFill>
                  <a:srgbClr val="0078D4"/>
                </a:solidFill>
                <a:latin typeface="Calibri"/>
              </a:rPr>
              <a:t>▸ </a:t>
            </a:r>
            <a:r>
              <a:rPr sz="1400" b="0" i="0">
                <a:solidFill>
                  <a:srgbClr val="1F2A44"/>
                </a:solidFill>
                <a:latin typeface="Calibri"/>
              </a:rPr>
              <a:t>Small team without platform capacity to operate it</a:t>
            </a:r>
          </a:p>
          <a:p>
            <a:pPr>
              <a:spcAft>
                <a:spcPts val="200"/>
              </a:spcAft>
            </a:pPr>
            <a:r>
              <a:rPr sz="1400" b="1">
                <a:solidFill>
                  <a:srgbClr val="0078D4"/>
                </a:solidFill>
                <a:latin typeface="Calibri"/>
              </a:rPr>
              <a:t>▸ </a:t>
            </a:r>
            <a:r>
              <a:rPr sz="1400" b="0" i="0">
                <a:solidFill>
                  <a:srgbClr val="1F2A44"/>
                </a:solidFill>
                <a:latin typeface="Calibri"/>
              </a:rPr>
              <a:t>If you only need mTLS at the edge → a Gateway can be enough</a:t>
            </a:r>
          </a:p>
        </p:txBody>
      </p:sp>
      <p:sp>
        <p:nvSpPr>
          <p:cNvPr id="10" name="Rectangle 9"/>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2" name="TextBox 11"/>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4 / 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Sidecar mode (the old way)</a:t>
            </a:r>
          </a:p>
        </p:txBody>
      </p:sp>
      <p:sp>
        <p:nvSpPr>
          <p:cNvPr id="7" name="Rectangle 6"/>
          <p:cNvSpPr/>
          <p:nvPr/>
        </p:nvSpPr>
        <p:spPr>
          <a:xfrm>
            <a:off x="457200" y="1097280"/>
            <a:ext cx="6858000"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73152" cy="475488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43000"/>
            <a:ext cx="6492240" cy="320040"/>
          </a:xfrm>
          <a:prstGeom prst="rect">
            <a:avLst/>
          </a:prstGeom>
          <a:noFill/>
        </p:spPr>
        <p:txBody>
          <a:bodyPr wrap="square" lIns="45720" rIns="45720" tIns="18288" bIns="18288">
            <a:spAutoFit/>
          </a:bodyPr>
          <a:lstStyle/>
          <a:p>
            <a:pPr algn="l"/>
            <a:r>
              <a:rPr sz="1200" b="1" i="0">
                <a:solidFill>
                  <a:srgbClr val="103A6E"/>
                </a:solidFill>
                <a:latin typeface="Calibri"/>
              </a:rPr>
              <a:t>Sidecar mode — every pod gets its own Envoy</a:t>
            </a:r>
          </a:p>
        </p:txBody>
      </p:sp>
      <p:sp>
        <p:nvSpPr>
          <p:cNvPr id="10" name="Rounded Rectangle 9"/>
          <p:cNvSpPr/>
          <p:nvPr/>
        </p:nvSpPr>
        <p:spPr>
          <a:xfrm>
            <a:off x="731520" y="1600200"/>
            <a:ext cx="2971800" cy="3749040"/>
          </a:xfrm>
          <a:prstGeom prst="roundRect">
            <a:avLst>
              <a:gd name="adj" fmla="val 8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45920"/>
            <a:ext cx="2788920" cy="274320"/>
          </a:xfrm>
          <a:prstGeom prst="rect">
            <a:avLst/>
          </a:prstGeom>
          <a:noFill/>
        </p:spPr>
        <p:txBody>
          <a:bodyPr wrap="square" lIns="45720" rIns="45720" tIns="18288" bIns="18288">
            <a:spAutoFit/>
          </a:bodyPr>
          <a:lstStyle/>
          <a:p>
            <a:pPr algn="l"/>
            <a:r>
              <a:rPr sz="1100" b="1" i="0">
                <a:solidFill>
                  <a:srgbClr val="103A6E"/>
                </a:solidFill>
                <a:latin typeface="Calibri"/>
              </a:rPr>
              <a:t>Pod A</a:t>
            </a:r>
          </a:p>
        </p:txBody>
      </p:sp>
      <p:sp>
        <p:nvSpPr>
          <p:cNvPr id="12" name="Rounded Rectangle 11"/>
          <p:cNvSpPr/>
          <p:nvPr/>
        </p:nvSpPr>
        <p:spPr>
          <a:xfrm>
            <a:off x="868680" y="2011680"/>
            <a:ext cx="1280160" cy="3154680"/>
          </a:xfrm>
          <a:prstGeom prst="roundRect">
            <a:avLst>
              <a:gd name="adj" fmla="val 10000"/>
            </a:avLst>
          </a:prstGeom>
          <a:solidFill>
            <a:srgbClr val="E69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envoy</a:t>
            </a:r>
          </a:p>
          <a:p>
            <a:pPr algn="ctr"/>
            <a:r>
              <a:rPr sz="1100" b="1" i="0">
                <a:solidFill>
                  <a:srgbClr val="FFFFFF"/>
                </a:solidFill>
                <a:latin typeface="Calibri"/>
              </a:rPr>
              <a:t>sidecar</a:t>
            </a:r>
          </a:p>
        </p:txBody>
      </p:sp>
      <p:sp>
        <p:nvSpPr>
          <p:cNvPr id="14" name="Rounded Rectangle 13"/>
          <p:cNvSpPr/>
          <p:nvPr/>
        </p:nvSpPr>
        <p:spPr>
          <a:xfrm>
            <a:off x="2286000" y="2011680"/>
            <a:ext cx="1280160" cy="315468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8600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app</a:t>
            </a:r>
          </a:p>
          <a:p>
            <a:pPr algn="ctr"/>
            <a:r>
              <a:rPr sz="1100" b="1" i="0">
                <a:solidFill>
                  <a:srgbClr val="FFFFFF"/>
                </a:solidFill>
                <a:latin typeface="Calibri"/>
              </a:rPr>
              <a:t>container</a:t>
            </a:r>
          </a:p>
        </p:txBody>
      </p:sp>
      <p:sp>
        <p:nvSpPr>
          <p:cNvPr id="16" name="Rounded Rectangle 15"/>
          <p:cNvSpPr/>
          <p:nvPr/>
        </p:nvSpPr>
        <p:spPr>
          <a:xfrm>
            <a:off x="4069080" y="1600200"/>
            <a:ext cx="2971800" cy="3749040"/>
          </a:xfrm>
          <a:prstGeom prst="roundRect">
            <a:avLst>
              <a:gd name="adj" fmla="val 8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60520" y="1645920"/>
            <a:ext cx="2788920" cy="274320"/>
          </a:xfrm>
          <a:prstGeom prst="rect">
            <a:avLst/>
          </a:prstGeom>
          <a:noFill/>
        </p:spPr>
        <p:txBody>
          <a:bodyPr wrap="square" lIns="45720" rIns="45720" tIns="18288" bIns="18288">
            <a:spAutoFit/>
          </a:bodyPr>
          <a:lstStyle/>
          <a:p>
            <a:pPr algn="l"/>
            <a:r>
              <a:rPr sz="1100" b="1" i="0">
                <a:solidFill>
                  <a:srgbClr val="103A6E"/>
                </a:solidFill>
                <a:latin typeface="Calibri"/>
              </a:rPr>
              <a:t>Pod B</a:t>
            </a:r>
          </a:p>
        </p:txBody>
      </p:sp>
      <p:sp>
        <p:nvSpPr>
          <p:cNvPr id="18" name="Rounded Rectangle 17"/>
          <p:cNvSpPr/>
          <p:nvPr/>
        </p:nvSpPr>
        <p:spPr>
          <a:xfrm>
            <a:off x="4206240" y="2011680"/>
            <a:ext cx="1280160" cy="3154680"/>
          </a:xfrm>
          <a:prstGeom prst="roundRect">
            <a:avLst>
              <a:gd name="adj" fmla="val 10000"/>
            </a:avLst>
          </a:prstGeom>
          <a:solidFill>
            <a:srgbClr val="E69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624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envoy</a:t>
            </a:r>
          </a:p>
          <a:p>
            <a:pPr algn="ctr"/>
            <a:r>
              <a:rPr sz="1100" b="1" i="0">
                <a:solidFill>
                  <a:srgbClr val="FFFFFF"/>
                </a:solidFill>
                <a:latin typeface="Calibri"/>
              </a:rPr>
              <a:t>sidecar</a:t>
            </a:r>
          </a:p>
        </p:txBody>
      </p:sp>
      <p:sp>
        <p:nvSpPr>
          <p:cNvPr id="20" name="Rounded Rectangle 19"/>
          <p:cNvSpPr/>
          <p:nvPr/>
        </p:nvSpPr>
        <p:spPr>
          <a:xfrm>
            <a:off x="5623560" y="2011680"/>
            <a:ext cx="1280160" cy="315468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app</a:t>
            </a:r>
          </a:p>
          <a:p>
            <a:pPr algn="ctr"/>
            <a:r>
              <a:rPr sz="1100" b="1" i="0">
                <a:solidFill>
                  <a:srgbClr val="FFFFFF"/>
                </a:solidFill>
                <a:latin typeface="Calibri"/>
              </a:rPr>
              <a:t>container</a:t>
            </a:r>
          </a:p>
        </p:txBody>
      </p:sp>
      <p:cxnSp>
        <p:nvCxnSpPr>
          <p:cNvPr id="22" name="Connector 21"/>
          <p:cNvCxnSpPr/>
          <p:nvPr/>
        </p:nvCxnSpPr>
        <p:spPr>
          <a:xfrm>
            <a:off x="1920240" y="3474720"/>
            <a:ext cx="2880360" cy="0"/>
          </a:xfrm>
          <a:prstGeom prst="line">
            <a:avLst/>
          </a:prstGeom>
          <a:ln w="27940">
            <a:solidFill>
              <a:srgbClr val="E81E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628900" y="3182112"/>
            <a:ext cx="1097280" cy="228600"/>
          </a:xfrm>
          <a:prstGeom prst="rect">
            <a:avLst/>
          </a:prstGeom>
          <a:noFill/>
        </p:spPr>
        <p:txBody>
          <a:bodyPr wrap="square" lIns="45720" rIns="45720" tIns="18288" bIns="18288">
            <a:spAutoFit/>
          </a:bodyPr>
          <a:lstStyle/>
          <a:p>
            <a:pPr algn="ctr"/>
            <a:r>
              <a:rPr sz="1000" b="1" i="0">
                <a:solidFill>
                  <a:srgbClr val="E81E4F"/>
                </a:solidFill>
                <a:latin typeface="Calibri"/>
              </a:rPr>
              <a:t>mTLS</a:t>
            </a:r>
          </a:p>
        </p:txBody>
      </p:sp>
      <p:sp>
        <p:nvSpPr>
          <p:cNvPr id="24" name="TextBox 23"/>
          <p:cNvSpPr txBox="1"/>
          <p:nvPr/>
        </p:nvSpPr>
        <p:spPr>
          <a:xfrm>
            <a:off x="7589520" y="1280160"/>
            <a:ext cx="4206240" cy="1050540"/>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Every pod gets an Envoy injected</a:t>
            </a:r>
          </a:p>
          <a:p>
            <a:pPr>
              <a:spcAft>
                <a:spcPts val="200"/>
              </a:spcAft>
            </a:pPr>
            <a:r>
              <a:rPr sz="1400" b="1">
                <a:solidFill>
                  <a:srgbClr val="0078D4"/>
                </a:solidFill>
                <a:latin typeface="Calibri"/>
              </a:rPr>
              <a:t>▸ </a:t>
            </a:r>
            <a:r>
              <a:rPr sz="1400" b="0" i="0">
                <a:solidFill>
                  <a:srgbClr val="1F2A44"/>
                </a:solidFill>
                <a:latin typeface="Calibri"/>
              </a:rPr>
              <a:t>Pros: full L7 features per pod, mature</a:t>
            </a:r>
          </a:p>
          <a:p>
            <a:pPr>
              <a:spcAft>
                <a:spcPts val="200"/>
              </a:spcAft>
            </a:pPr>
            <a:r>
              <a:rPr sz="1400" b="1">
                <a:solidFill>
                  <a:srgbClr val="0078D4"/>
                </a:solidFill>
                <a:latin typeface="Calibri"/>
              </a:rPr>
              <a:t>▸ </a:t>
            </a:r>
            <a:r>
              <a:rPr sz="1400" b="0" i="0">
                <a:solidFill>
                  <a:srgbClr val="1F2A44"/>
                </a:solidFill>
                <a:latin typeface="Calibri"/>
              </a:rPr>
              <a:t>Cons: 2× container count, +100–200 MB RAM per pod, restart on Istio upgrade, lifecycle coupling with the app</a:t>
            </a:r>
          </a:p>
        </p:txBody>
      </p:sp>
      <p:sp>
        <p:nvSpPr>
          <p:cNvPr id="25" name="Rectangle 24"/>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27" name="TextBox 26"/>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5 / 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Ambient mode (the new way)</a:t>
            </a:r>
          </a:p>
        </p:txBody>
      </p:sp>
      <p:sp>
        <p:nvSpPr>
          <p:cNvPr id="7" name="Rectangle 6"/>
          <p:cNvSpPr/>
          <p:nvPr/>
        </p:nvSpPr>
        <p:spPr>
          <a:xfrm>
            <a:off x="457200" y="1097280"/>
            <a:ext cx="7589520"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73152" cy="475488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43000"/>
            <a:ext cx="7223760" cy="320040"/>
          </a:xfrm>
          <a:prstGeom prst="rect">
            <a:avLst/>
          </a:prstGeom>
          <a:noFill/>
        </p:spPr>
        <p:txBody>
          <a:bodyPr wrap="square" lIns="45720" rIns="45720" tIns="18288" bIns="18288">
            <a:spAutoFit/>
          </a:bodyPr>
          <a:lstStyle/>
          <a:p>
            <a:pPr algn="l"/>
            <a:r>
              <a:rPr sz="1200" b="1" i="0">
                <a:solidFill>
                  <a:srgbClr val="103A6E"/>
                </a:solidFill>
                <a:latin typeface="Calibri"/>
              </a:rPr>
              <a:t>Ambient mode — shared ztunnel, optional waypoint</a:t>
            </a:r>
          </a:p>
        </p:txBody>
      </p:sp>
      <p:sp>
        <p:nvSpPr>
          <p:cNvPr id="10" name="Rounded Rectangle 9"/>
          <p:cNvSpPr/>
          <p:nvPr/>
        </p:nvSpPr>
        <p:spPr>
          <a:xfrm>
            <a:off x="731520" y="1554480"/>
            <a:ext cx="3383280" cy="4114800"/>
          </a:xfrm>
          <a:prstGeom prst="roundRect">
            <a:avLst>
              <a:gd name="adj" fmla="val 5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00200"/>
            <a:ext cx="3200400" cy="274320"/>
          </a:xfrm>
          <a:prstGeom prst="rect">
            <a:avLst/>
          </a:prstGeom>
          <a:noFill/>
        </p:spPr>
        <p:txBody>
          <a:bodyPr wrap="square" lIns="45720" rIns="45720" tIns="18288" bIns="18288">
            <a:spAutoFit/>
          </a:bodyPr>
          <a:lstStyle/>
          <a:p>
            <a:pPr algn="l"/>
            <a:r>
              <a:rPr sz="1100" b="1" i="0">
                <a:solidFill>
                  <a:srgbClr val="103A6E"/>
                </a:solidFill>
                <a:latin typeface="Calibri"/>
              </a:rPr>
              <a:t>Node 1</a:t>
            </a:r>
          </a:p>
        </p:txBody>
      </p:sp>
      <p:sp>
        <p:nvSpPr>
          <p:cNvPr id="12" name="Rounded Rectangle 11"/>
          <p:cNvSpPr/>
          <p:nvPr/>
        </p:nvSpPr>
        <p:spPr>
          <a:xfrm>
            <a:off x="9144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14" name="Rounded Rectangle 13"/>
          <p:cNvSpPr/>
          <p:nvPr/>
        </p:nvSpPr>
        <p:spPr>
          <a:xfrm>
            <a:off x="25146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46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16" name="Rounded Rectangle 15"/>
          <p:cNvSpPr/>
          <p:nvPr/>
        </p:nvSpPr>
        <p:spPr>
          <a:xfrm>
            <a:off x="914400" y="2971800"/>
            <a:ext cx="3017520" cy="502920"/>
          </a:xfrm>
          <a:prstGeom prst="roundRect">
            <a:avLst>
              <a:gd name="adj" fmla="val 10000"/>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2971800"/>
            <a:ext cx="3017520" cy="502920"/>
          </a:xfrm>
          <a:prstGeom prst="rect">
            <a:avLst/>
          </a:prstGeom>
          <a:noFill/>
        </p:spPr>
        <p:txBody>
          <a:bodyPr wrap="square" lIns="45720" rIns="45720" tIns="18288" bIns="18288" anchor="ctr">
            <a:spAutoFit/>
          </a:bodyPr>
          <a:lstStyle/>
          <a:p>
            <a:pPr algn="ctr"/>
            <a:r>
              <a:rPr sz="1000" b="1" i="0">
                <a:solidFill>
                  <a:srgbClr val="FFFFFF"/>
                </a:solidFill>
                <a:latin typeface="Calibri"/>
              </a:rPr>
              <a:t>ztunnel  (DaemonSet — mTLS, identity, L4)</a:t>
            </a:r>
          </a:p>
        </p:txBody>
      </p:sp>
      <p:sp>
        <p:nvSpPr>
          <p:cNvPr id="18" name="Rounded Rectangle 17"/>
          <p:cNvSpPr/>
          <p:nvPr/>
        </p:nvSpPr>
        <p:spPr>
          <a:xfrm>
            <a:off x="4389120" y="1554480"/>
            <a:ext cx="3383280" cy="4114800"/>
          </a:xfrm>
          <a:prstGeom prst="roundRect">
            <a:avLst>
              <a:gd name="adj" fmla="val 5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0" y="1600200"/>
            <a:ext cx="3200400" cy="274320"/>
          </a:xfrm>
          <a:prstGeom prst="rect">
            <a:avLst/>
          </a:prstGeom>
          <a:noFill/>
        </p:spPr>
        <p:txBody>
          <a:bodyPr wrap="square" lIns="45720" rIns="45720" tIns="18288" bIns="18288">
            <a:spAutoFit/>
          </a:bodyPr>
          <a:lstStyle/>
          <a:p>
            <a:pPr algn="l"/>
            <a:r>
              <a:rPr sz="1100" b="1" i="0">
                <a:solidFill>
                  <a:srgbClr val="103A6E"/>
                </a:solidFill>
                <a:latin typeface="Calibri"/>
              </a:rPr>
              <a:t>Node 2</a:t>
            </a:r>
          </a:p>
        </p:txBody>
      </p:sp>
      <p:sp>
        <p:nvSpPr>
          <p:cNvPr id="20" name="Rounded Rectangle 19"/>
          <p:cNvSpPr/>
          <p:nvPr/>
        </p:nvSpPr>
        <p:spPr>
          <a:xfrm>
            <a:off x="45720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22" name="Rounded Rectangle 21"/>
          <p:cNvSpPr/>
          <p:nvPr/>
        </p:nvSpPr>
        <p:spPr>
          <a:xfrm>
            <a:off x="61722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24" name="Rounded Rectangle 23"/>
          <p:cNvSpPr/>
          <p:nvPr/>
        </p:nvSpPr>
        <p:spPr>
          <a:xfrm>
            <a:off x="4572000" y="2971800"/>
            <a:ext cx="3017520" cy="502920"/>
          </a:xfrm>
          <a:prstGeom prst="roundRect">
            <a:avLst>
              <a:gd name="adj" fmla="val 10000"/>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0" y="2971800"/>
            <a:ext cx="3017520" cy="502920"/>
          </a:xfrm>
          <a:prstGeom prst="rect">
            <a:avLst/>
          </a:prstGeom>
          <a:noFill/>
        </p:spPr>
        <p:txBody>
          <a:bodyPr wrap="square" lIns="45720" rIns="45720" tIns="18288" bIns="18288" anchor="ctr">
            <a:spAutoFit/>
          </a:bodyPr>
          <a:lstStyle/>
          <a:p>
            <a:pPr algn="ctr"/>
            <a:r>
              <a:rPr sz="1000" b="1" i="0">
                <a:solidFill>
                  <a:srgbClr val="FFFFFF"/>
                </a:solidFill>
                <a:latin typeface="Calibri"/>
              </a:rPr>
              <a:t>ztunnel  (DaemonSet — mTLS, identity, L4)</a:t>
            </a:r>
          </a:p>
        </p:txBody>
      </p:sp>
      <p:sp>
        <p:nvSpPr>
          <p:cNvPr id="26" name="Rounded Rectangle 25"/>
          <p:cNvSpPr/>
          <p:nvPr/>
        </p:nvSpPr>
        <p:spPr>
          <a:xfrm>
            <a:off x="4937760" y="3611880"/>
            <a:ext cx="2286000" cy="365760"/>
          </a:xfrm>
          <a:prstGeom prst="roundRect">
            <a:avLst>
              <a:gd name="adj" fmla="val 10000"/>
            </a:avLst>
          </a:prstGeom>
          <a:solidFill>
            <a:srgbClr val="6E40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0" y="3611880"/>
            <a:ext cx="2286000" cy="365760"/>
          </a:xfrm>
          <a:prstGeom prst="rect">
            <a:avLst/>
          </a:prstGeom>
          <a:noFill/>
        </p:spPr>
        <p:txBody>
          <a:bodyPr wrap="square" lIns="45720" rIns="45720" tIns="18288" bIns="18288" anchor="ctr">
            <a:spAutoFit/>
          </a:bodyPr>
          <a:lstStyle/>
          <a:p>
            <a:pPr algn="ctr"/>
            <a:r>
              <a:rPr sz="900" b="1" i="0">
                <a:solidFill>
                  <a:srgbClr val="FFFFFF"/>
                </a:solidFill>
                <a:latin typeface="Calibri"/>
              </a:rPr>
              <a:t>Waypoint (Envoy, opt-in L7)</a:t>
            </a:r>
          </a:p>
        </p:txBody>
      </p:sp>
      <p:cxnSp>
        <p:nvCxnSpPr>
          <p:cNvPr id="28" name="Connector 27"/>
          <p:cNvCxnSpPr/>
          <p:nvPr/>
        </p:nvCxnSpPr>
        <p:spPr>
          <a:xfrm>
            <a:off x="3154680" y="3223260"/>
            <a:ext cx="2194560" cy="0"/>
          </a:xfrm>
          <a:prstGeom prst="line">
            <a:avLst/>
          </a:prstGeom>
          <a:ln w="31750">
            <a:solidFill>
              <a:srgbClr val="E81E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337560" y="2857500"/>
            <a:ext cx="1828800" cy="274320"/>
          </a:xfrm>
          <a:prstGeom prst="rect">
            <a:avLst/>
          </a:prstGeom>
          <a:noFill/>
        </p:spPr>
        <p:txBody>
          <a:bodyPr wrap="square" lIns="45720" rIns="45720" tIns="18288" bIns="18288">
            <a:spAutoFit/>
          </a:bodyPr>
          <a:lstStyle/>
          <a:p>
            <a:pPr algn="ctr"/>
            <a:r>
              <a:rPr sz="1000" b="1" i="0">
                <a:solidFill>
                  <a:srgbClr val="E81E4F"/>
                </a:solidFill>
                <a:latin typeface="Calibri"/>
              </a:rPr>
              <a:t>HBONE  •  mTLS  •  HTTP/2 CONNECT  •  :15008</a:t>
            </a:r>
          </a:p>
        </p:txBody>
      </p:sp>
      <p:sp>
        <p:nvSpPr>
          <p:cNvPr id="30" name="TextBox 29"/>
          <p:cNvSpPr txBox="1"/>
          <p:nvPr/>
        </p:nvSpPr>
        <p:spPr>
          <a:xfrm>
            <a:off x="8229600" y="1188720"/>
            <a:ext cx="3566160" cy="2828531"/>
          </a:xfrm>
          <a:prstGeom prst="rect">
            <a:avLst/>
          </a:prstGeom>
          <a:noFill/>
        </p:spPr>
        <p:txBody>
          <a:bodyPr wrap="square" lIns="45720" rIns="45720" tIns="18288" bIns="18288">
            <a:spAutoFit/>
          </a:bodyPr>
          <a:lstStyle/>
          <a:p>
            <a:pPr>
              <a:spcAft>
                <a:spcPts val="200"/>
              </a:spcAft>
            </a:pPr>
            <a:r>
              <a:rPr sz="1200" b="1" i="0">
                <a:solidFill>
                  <a:srgbClr val="1F2A44"/>
                </a:solidFill>
                <a:latin typeface="Calibri"/>
              </a:rPr>
              <a:t>Two layers, opt-in:</a:t>
            </a:r>
          </a:p>
          <a:p>
            <a:pPr>
              <a:spcAft>
                <a:spcPts val="200"/>
              </a:spcAft>
            </a:pPr>
            <a:r>
              <a:rPr sz="1200" b="1">
                <a:solidFill>
                  <a:srgbClr val="0078D4"/>
                </a:solidFill>
                <a:latin typeface="Calibri"/>
              </a:rPr>
              <a:t>▸ </a:t>
            </a:r>
            <a:r>
              <a:rPr sz="1200" b="1" i="0">
                <a:solidFill>
                  <a:srgbClr val="1F2A44"/>
                </a:solidFill>
                <a:latin typeface="Calibri"/>
              </a:rPr>
              <a:t>Secure overlay (L4):</a:t>
            </a:r>
            <a:r>
              <a:rPr sz="1200" b="0" i="0">
                <a:solidFill>
                  <a:srgbClr val="1F2A44"/>
                </a:solidFill>
                <a:latin typeface="Calibri"/>
              </a:rPr>
              <a:t> </a:t>
            </a:r>
            <a:r>
              <a:rPr sz="1200" b="0">
                <a:solidFill>
                  <a:srgbClr val="B01060"/>
                </a:solidFill>
                <a:latin typeface="Consolas"/>
              </a:rPr>
              <a:t>ztunnel</a:t>
            </a:r>
            <a:r>
              <a:rPr sz="1200" b="0" i="0">
                <a:solidFill>
                  <a:srgbClr val="1F2A44"/>
                </a:solidFill>
                <a:latin typeface="Calibri"/>
              </a:rPr>
              <a:t> DaemonSet — mTLS + identity + L4 authZ for </a:t>
            </a:r>
            <a:r>
              <a:rPr sz="1200" b="0" i="1">
                <a:solidFill>
                  <a:srgbClr val="1F2A44"/>
                </a:solidFill>
                <a:latin typeface="Calibri"/>
              </a:rPr>
              <a:t>every</a:t>
            </a:r>
            <a:r>
              <a:rPr sz="1200" b="0" i="0">
                <a:solidFill>
                  <a:srgbClr val="1F2A44"/>
                </a:solidFill>
                <a:latin typeface="Calibri"/>
              </a:rPr>
              <a:t> pod. Cheap.</a:t>
            </a:r>
          </a:p>
          <a:p>
            <a:pPr>
              <a:spcAft>
                <a:spcPts val="200"/>
              </a:spcAft>
            </a:pPr>
            <a:r>
              <a:rPr sz="1200" b="1">
                <a:solidFill>
                  <a:srgbClr val="0078D4"/>
                </a:solidFill>
                <a:latin typeface="Calibri"/>
              </a:rPr>
              <a:t>▸ </a:t>
            </a:r>
            <a:r>
              <a:rPr sz="1200" b="1" i="0">
                <a:solidFill>
                  <a:srgbClr val="1F2A44"/>
                </a:solidFill>
                <a:latin typeface="Calibri"/>
              </a:rPr>
              <a:t>L7 (optional):</a:t>
            </a:r>
            <a:r>
              <a:rPr sz="1200" b="0" i="0">
                <a:solidFill>
                  <a:srgbClr val="1F2A44"/>
                </a:solidFill>
                <a:latin typeface="Calibri"/>
              </a:rPr>
              <a:t> </a:t>
            </a:r>
            <a:r>
              <a:rPr sz="1200" b="0">
                <a:solidFill>
                  <a:srgbClr val="B01060"/>
                </a:solidFill>
                <a:latin typeface="Consolas"/>
              </a:rPr>
              <a:t>waypoint</a:t>
            </a:r>
            <a:r>
              <a:rPr sz="1200" b="0" i="0">
                <a:solidFill>
                  <a:srgbClr val="1F2A44"/>
                </a:solidFill>
                <a:latin typeface="Calibri"/>
              </a:rPr>
              <a:t> Envoy deployment per namespace/service-account — adds retries, traffic splitting, L7 authZ </a:t>
            </a:r>
            <a:r>
              <a:rPr sz="1200" b="0" i="1">
                <a:solidFill>
                  <a:srgbClr val="1F2A44"/>
                </a:solidFill>
                <a:latin typeface="Calibri"/>
              </a:rPr>
              <a:t>only where you ask</a:t>
            </a:r>
            <a:r>
              <a:rPr sz="1200" b="0" i="0">
                <a:solidFill>
                  <a:srgbClr val="1F2A44"/>
                </a:solidFill>
                <a:latin typeface="Calibri"/>
              </a:rPr>
              <a:t>.</a:t>
            </a:r>
          </a:p>
          <a:p>
            <a:pPr>
              <a:spcAft>
                <a:spcPts val="200"/>
              </a:spcAft>
            </a:pPr>
            <a:r>
              <a:rPr sz="1200" b="1" i="0">
                <a:solidFill>
                  <a:srgbClr val="1F2A44"/>
                </a:solidFill>
                <a:latin typeface="Calibri"/>
              </a:rPr>
              <a:t>Wins</a:t>
            </a:r>
          </a:p>
          <a:p>
            <a:pPr>
              <a:spcAft>
                <a:spcPts val="200"/>
              </a:spcAft>
            </a:pPr>
            <a:r>
              <a:rPr sz="1200" b="1">
                <a:solidFill>
                  <a:srgbClr val="0078D4"/>
                </a:solidFill>
                <a:latin typeface="Calibri"/>
              </a:rPr>
              <a:t>▸ </a:t>
            </a:r>
            <a:r>
              <a:rPr sz="1200" b="0" i="0">
                <a:solidFill>
                  <a:srgbClr val="1F2A44"/>
                </a:solidFill>
                <a:latin typeface="Calibri"/>
              </a:rPr>
              <a:t>No sidecar injection, no pod restarts on mesh upgrade</a:t>
            </a:r>
          </a:p>
          <a:p>
            <a:pPr>
              <a:spcAft>
                <a:spcPts val="200"/>
              </a:spcAft>
            </a:pPr>
            <a:r>
              <a:rPr sz="1200" b="1">
                <a:solidFill>
                  <a:srgbClr val="0078D4"/>
                </a:solidFill>
                <a:latin typeface="Calibri"/>
              </a:rPr>
              <a:t>▸ </a:t>
            </a:r>
            <a:r>
              <a:rPr sz="1200" b="0" i="0">
                <a:solidFill>
                  <a:srgbClr val="1F2A44"/>
                </a:solidFill>
                <a:latin typeface="Calibri"/>
              </a:rPr>
              <a:t>~ order-of-magnitude lower memory overhead in mostly-L4 fleets</a:t>
            </a:r>
          </a:p>
          <a:p>
            <a:pPr>
              <a:spcAft>
                <a:spcPts val="200"/>
              </a:spcAft>
            </a:pPr>
            <a:r>
              <a:rPr sz="1200" b="1">
                <a:solidFill>
                  <a:srgbClr val="0078D4"/>
                </a:solidFill>
                <a:latin typeface="Calibri"/>
              </a:rPr>
              <a:t>▸ </a:t>
            </a:r>
            <a:r>
              <a:rPr sz="1200" b="0" i="0">
                <a:solidFill>
                  <a:srgbClr val="1F2A44"/>
                </a:solidFill>
                <a:latin typeface="Calibri"/>
              </a:rPr>
              <a:t>Incremental adoption: label a namespace, done</a:t>
            </a:r>
          </a:p>
          <a:p>
            <a:pPr>
              <a:spcAft>
                <a:spcPts val="200"/>
              </a:spcAft>
            </a:pPr>
            <a:r>
              <a:rPr sz="1200" b="1" i="0">
                <a:solidFill>
                  <a:srgbClr val="1F2A44"/>
                </a:solidFill>
                <a:latin typeface="Calibri"/>
              </a:rPr>
              <a:t>Trade-offs</a:t>
            </a:r>
          </a:p>
          <a:p>
            <a:pPr>
              <a:spcAft>
                <a:spcPts val="200"/>
              </a:spcAft>
            </a:pPr>
            <a:r>
              <a:rPr sz="1200" b="1">
                <a:solidFill>
                  <a:srgbClr val="0078D4"/>
                </a:solidFill>
                <a:latin typeface="Calibri"/>
              </a:rPr>
              <a:t>▸ </a:t>
            </a:r>
            <a:r>
              <a:rPr sz="1200" b="0" i="0">
                <a:solidFill>
                  <a:srgbClr val="1F2A44"/>
                </a:solidFill>
                <a:latin typeface="Calibri"/>
              </a:rPr>
              <a:t>Newer code path; some advanced sidecar features still landing</a:t>
            </a:r>
          </a:p>
          <a:p>
            <a:pPr>
              <a:spcAft>
                <a:spcPts val="200"/>
              </a:spcAft>
            </a:pPr>
            <a:r>
              <a:rPr sz="1200" b="1">
                <a:solidFill>
                  <a:srgbClr val="0078D4"/>
                </a:solidFill>
                <a:latin typeface="Calibri"/>
              </a:rPr>
              <a:t>▸ </a:t>
            </a:r>
            <a:r>
              <a:rPr sz="1200" b="0" i="0">
                <a:solidFill>
                  <a:srgbClr val="1F2A44"/>
                </a:solidFill>
                <a:latin typeface="Calibri"/>
              </a:rPr>
              <a:t>Node-level component → node draining matters during ztunnel upgrade</a:t>
            </a:r>
          </a:p>
          <a:p>
            <a:pPr>
              <a:spcAft>
                <a:spcPts val="200"/>
              </a:spcAft>
            </a:pPr>
            <a:r>
              <a:rPr sz="1200" b="1">
                <a:solidFill>
                  <a:srgbClr val="0078D4"/>
                </a:solidFill>
                <a:latin typeface="Calibri"/>
              </a:rPr>
              <a:t>▸ </a:t>
            </a:r>
            <a:r>
              <a:rPr sz="1200" b="0" i="0">
                <a:solidFill>
                  <a:srgbClr val="1F2A44"/>
                </a:solidFill>
                <a:latin typeface="Calibri"/>
              </a:rPr>
              <a:t>Debugging spans an extra hop (ztunnel logs become important)</a:t>
            </a:r>
          </a:p>
        </p:txBody>
      </p:sp>
      <p:sp>
        <p:nvSpPr>
          <p:cNvPr id="31" name="Rectangle 3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3" name="TextBox 3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6 / 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Pod-to-pod traffic across nodes (ambient)</a:t>
            </a:r>
          </a:p>
        </p:txBody>
      </p:sp>
      <p:sp>
        <p:nvSpPr>
          <p:cNvPr id="7" name="Rectangle 6"/>
          <p:cNvSpPr/>
          <p:nvPr/>
        </p:nvSpPr>
        <p:spPr>
          <a:xfrm>
            <a:off x="457200" y="1097280"/>
            <a:ext cx="11277295" cy="33832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33832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323697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Pod A on Node 1 wants to call svc:Pod C on Node 2</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1. Pod A sends plain TCP to Pod C's ClusterIP</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2. Node 1 kernel: iptables/eBPF redirect ──► ztunnel (Node 1)</a:t>
            </a:r>
          </a:p>
          <a:p>
            <a:pPr>
              <a:lnSpc>
                <a:spcPct val="100000"/>
              </a:lnSpc>
            </a:pPr>
            <a:r>
              <a:rPr sz="900">
                <a:solidFill>
                  <a:srgbClr val="E6E6E6"/>
                </a:solidFill>
                <a:latin typeface="Consolas"/>
              </a:rPr>
              <a:t>        │            (transparent, no app change)</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3. ztunnel-1 looks up identity (SPIFFE) + policy</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4. ztunnel-1 wraps the TCP stream in HBONE</a:t>
            </a:r>
          </a:p>
          <a:p>
            <a:pPr>
              <a:lnSpc>
                <a:spcPct val="100000"/>
              </a:lnSpc>
            </a:pPr>
            <a:r>
              <a:rPr sz="900">
                <a:solidFill>
                  <a:srgbClr val="E6E6E6"/>
                </a:solidFill>
                <a:latin typeface="Consolas"/>
              </a:rPr>
              <a:t>        (HTTP/2 CONNECT over mTLS, port 15008)</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 encrypted, identity-tagged ──</a:t>
            </a:r>
          </a:p>
          <a:p>
            <a:pPr>
              <a:lnSpc>
                <a:spcPct val="100000"/>
              </a:lnSpc>
            </a:pPr>
            <a:r>
              <a:rPr sz="900">
                <a:solidFill>
                  <a:srgbClr val="E6E6E6"/>
                </a:solidFill>
                <a:latin typeface="Consolas"/>
              </a:rPr>
              <a:t>  5. ztunnel-2 on Node 2 terminates HBONE, verifies peer cert</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6. If namespace has a Waypoint → ztunnel-2 forwards to Waypoint Envoy</a:t>
            </a:r>
          </a:p>
          <a:p>
            <a:pPr>
              <a:lnSpc>
                <a:spcPct val="100000"/>
              </a:lnSpc>
            </a:pPr>
            <a:r>
              <a:rPr sz="900">
                <a:solidFill>
                  <a:srgbClr val="E6E6E6"/>
                </a:solidFill>
                <a:latin typeface="Consolas"/>
              </a:rPr>
              <a:t>     for L7 policy (retries, route, authZ on headers), else direct</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7. Plain TCP delivered to Pod C</a:t>
            </a:r>
          </a:p>
        </p:txBody>
      </p:sp>
      <p:sp>
        <p:nvSpPr>
          <p:cNvPr id="10" name="TextBox 9"/>
          <p:cNvSpPr txBox="1"/>
          <p:nvPr/>
        </p:nvSpPr>
        <p:spPr>
          <a:xfrm>
            <a:off x="457200" y="4572000"/>
            <a:ext cx="11277295" cy="1548378"/>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Key points</a:t>
            </a:r>
          </a:p>
          <a:p>
            <a:pPr>
              <a:spcAft>
                <a:spcPts val="200"/>
              </a:spcAft>
            </a:pPr>
            <a:r>
              <a:rPr sz="1400" b="1">
                <a:solidFill>
                  <a:srgbClr val="0078D4"/>
                </a:solidFill>
                <a:latin typeface="Calibri"/>
              </a:rPr>
              <a:t>▸ </a:t>
            </a:r>
            <a:r>
              <a:rPr sz="1400" b="0" i="0">
                <a:solidFill>
                  <a:srgbClr val="1F2A44"/>
                </a:solidFill>
                <a:latin typeface="Calibri"/>
              </a:rPr>
              <a:t>Encryption boundary: pod ↔ ztunnel is loopback on the node (kernel redirect); ztunnel ↔ ztunnel is mTLS over HBONE.</a:t>
            </a:r>
          </a:p>
          <a:p>
            <a:pPr>
              <a:spcAft>
                <a:spcPts val="200"/>
              </a:spcAft>
            </a:pPr>
            <a:r>
              <a:rPr sz="1400" b="1">
                <a:solidFill>
                  <a:srgbClr val="0078D4"/>
                </a:solidFill>
                <a:latin typeface="Calibri"/>
              </a:rPr>
              <a:t>▸ </a:t>
            </a:r>
            <a:r>
              <a:rPr sz="1400" b="0" i="0">
                <a:solidFill>
                  <a:srgbClr val="1F2A44"/>
                </a:solidFill>
                <a:latin typeface="Calibri"/>
              </a:rPr>
              <a:t>Identity is the pod's ServiceAccount, issued as a SPIFFE SVID by istiod.</a:t>
            </a:r>
          </a:p>
          <a:p>
            <a:pPr>
              <a:spcAft>
                <a:spcPts val="200"/>
              </a:spcAft>
            </a:pPr>
            <a:r>
              <a:rPr sz="1400" b="1">
                <a:solidFill>
                  <a:srgbClr val="0078D4"/>
                </a:solidFill>
                <a:latin typeface="Calibri"/>
              </a:rPr>
              <a:t>▸ </a:t>
            </a:r>
            <a:r>
              <a:rPr sz="1400" b="0" i="0">
                <a:solidFill>
                  <a:srgbClr val="1F2A44"/>
                </a:solidFill>
                <a:latin typeface="Calibri"/>
              </a:rPr>
              <a:t>Waypoints are only inserted when an </a:t>
            </a:r>
            <a:r>
              <a:rPr sz="1400" b="0">
                <a:solidFill>
                  <a:srgbClr val="B01060"/>
                </a:solidFill>
                <a:latin typeface="Consolas"/>
              </a:rPr>
              <a:t>istio.io/use-waypoint</a:t>
            </a:r>
            <a:r>
              <a:rPr sz="1400" b="0" i="0">
                <a:solidFill>
                  <a:srgbClr val="1F2A44"/>
                </a:solidFill>
                <a:latin typeface="Calibri"/>
              </a:rPr>
              <a:t> label / </a:t>
            </a:r>
            <a:r>
              <a:rPr sz="1400" b="0">
                <a:solidFill>
                  <a:srgbClr val="B01060"/>
                </a:solidFill>
                <a:latin typeface="Consolas"/>
              </a:rPr>
              <a:t>Gateway</a:t>
            </a:r>
            <a:r>
              <a:rPr sz="1400" b="0" i="0">
                <a:solidFill>
                  <a:srgbClr val="1F2A44"/>
                </a:solidFill>
                <a:latin typeface="Calibri"/>
              </a:rPr>
              <a:t> of class </a:t>
            </a:r>
            <a:r>
              <a:rPr sz="1400" b="0">
                <a:solidFill>
                  <a:srgbClr val="B01060"/>
                </a:solidFill>
                <a:latin typeface="Consolas"/>
              </a:rPr>
              <a:t>istio-waypoint</a:t>
            </a:r>
            <a:r>
              <a:rPr sz="1400" b="0" i="0">
                <a:solidFill>
                  <a:srgbClr val="1F2A44"/>
                </a:solidFill>
                <a:latin typeface="Calibri"/>
              </a:rPr>
              <a:t> exists.</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7 / 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Enabling ambient Istio on AKS</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Stand up an AKS cluster with the managed Istio add-on in ambient mode. Workloads get mTLS the moment a namespace is labeled — no sidecars to inject, no pod restarts on mesh upgrade.</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Create resource group + AKS (Free tier, K8s 1.34.7, Sweden Central)</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Enable the AKS-managed Istio add-on (ambient profile)</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Switch the add-on to ambient profile (AKS exposes via mesh profile)</a:t>
            </a:r>
          </a:p>
        </p:txBody>
      </p:sp>
      <p:sp>
        <p:nvSpPr>
          <p:cNvPr id="18" name="Oval 17"/>
          <p:cNvSpPr/>
          <p:nvPr/>
        </p:nvSpPr>
        <p:spPr>
          <a:xfrm>
            <a:off x="457200" y="35204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5204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4</a:t>
            </a:r>
          </a:p>
        </p:txBody>
      </p:sp>
      <p:sp>
        <p:nvSpPr>
          <p:cNvPr id="20" name="TextBox 19"/>
          <p:cNvSpPr txBox="1"/>
          <p:nvPr/>
        </p:nvSpPr>
        <p:spPr>
          <a:xfrm>
            <a:off x="960120" y="35387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Opt a namespace into ambient (no sidecar injection!)</a:t>
            </a:r>
          </a:p>
        </p:txBody>
      </p:sp>
      <p:sp>
        <p:nvSpPr>
          <p:cNvPr id="21" name="Oval 20"/>
          <p:cNvSpPr/>
          <p:nvPr/>
        </p:nvSpPr>
        <p:spPr>
          <a:xfrm>
            <a:off x="457200" y="39776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9776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5</a:t>
            </a:r>
          </a:p>
        </p:txBody>
      </p:sp>
      <p:sp>
        <p:nvSpPr>
          <p:cNvPr id="23" name="TextBox 22"/>
          <p:cNvSpPr txBox="1"/>
          <p:nvPr/>
        </p:nvSpPr>
        <p:spPr>
          <a:xfrm>
            <a:off x="960120" y="39959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(Optional) Add a Waypoint for L7 policy on a namespace</a:t>
            </a:r>
          </a:p>
        </p:txBody>
      </p:sp>
      <p:sp>
        <p:nvSpPr>
          <p:cNvPr id="24" name="Rounded Rectangle 23"/>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27" name="Oval 26"/>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AKS 1.34.7 with Cilium dataplane in Sweden Central</a:t>
            </a:r>
          </a:p>
        </p:txBody>
      </p:sp>
      <p:sp>
        <p:nvSpPr>
          <p:cNvPr id="29" name="Oval 28"/>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Managed Istio add-on running, ambient profile active</a:t>
            </a:r>
          </a:p>
        </p:txBody>
      </p:sp>
      <p:sp>
        <p:nvSpPr>
          <p:cNvPr id="31" name="Oval 30"/>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demo namespace opted in via label — zero pod restarts</a:t>
            </a:r>
          </a:p>
        </p:txBody>
      </p:sp>
      <p:sp>
        <p:nvSpPr>
          <p:cNvPr id="33" name="Oval 32"/>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Optional namespace-scoped Waypoint for L7 features</a:t>
            </a:r>
          </a:p>
        </p:txBody>
      </p:sp>
      <p:sp>
        <p:nvSpPr>
          <p:cNvPr id="35" name="Rounded Rectangle 34"/>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37" name="TextBox 36"/>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38" name="Rectangle 37"/>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40" name="Rounded Rectangle 39"/>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42" name="TextBox 41"/>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8 / 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2</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Ingress → Gateway API</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What is Ingress?</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Ingress is no longer enough</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Ingress vs Gateway API side-by-side</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Gateway API with Envoy Gateway on AKS</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Application Gateway for Containers (AGC)</a:t>
            </a:r>
          </a:p>
        </p:txBody>
      </p:sp>
      <p:sp>
        <p:nvSpPr>
          <p:cNvPr id="19" name="Oval 18"/>
          <p:cNvSpPr/>
          <p:nvPr/>
        </p:nvSpPr>
        <p:spPr>
          <a:xfrm>
            <a:off x="5029200" y="544068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0" y="534924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Deploying AGC with Gateway API</a:t>
            </a:r>
          </a:p>
        </p:txBody>
      </p:sp>
      <p:sp>
        <p:nvSpPr>
          <p:cNvPr id="21" name="Oval 20"/>
          <p:cNvSpPr/>
          <p:nvPr/>
        </p:nvSpPr>
        <p:spPr>
          <a:xfrm>
            <a:off x="5029200" y="582472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573328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Legacy reference: NGINX Ingress on AKS</a:t>
            </a:r>
          </a:p>
        </p:txBody>
      </p:sp>
      <p:sp>
        <p:nvSpPr>
          <p:cNvPr id="23" name="TextBox 22"/>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9 / 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What is Ingress?</a:t>
            </a:r>
          </a:p>
        </p:txBody>
      </p:sp>
      <p:sp>
        <p:nvSpPr>
          <p:cNvPr id="7" name="TextBox 6"/>
          <p:cNvSpPr txBox="1"/>
          <p:nvPr/>
        </p:nvSpPr>
        <p:spPr>
          <a:xfrm>
            <a:off x="457200" y="1097280"/>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Ingress is how external HTTP/HTTPS traffic gets into a Kubernetes cluster.</a:t>
            </a:r>
          </a:p>
        </p:txBody>
      </p:sp>
      <p:sp>
        <p:nvSpPr>
          <p:cNvPr id="8" name="TextBox 7"/>
          <p:cNvSpPr txBox="1"/>
          <p:nvPr/>
        </p:nvSpPr>
        <p:spPr>
          <a:xfrm>
            <a:off x="457200" y="1455927"/>
            <a:ext cx="11277295" cy="303783"/>
          </a:xfrm>
          <a:prstGeom prst="rect">
            <a:avLst/>
          </a:prstGeom>
          <a:noFill/>
        </p:spPr>
        <p:txBody>
          <a:bodyPr wrap="square" lIns="45720" rIns="45720" tIns="18288" bIns="18288">
            <a:spAutoFit/>
          </a:bodyPr>
          <a:lstStyle/>
          <a:p>
            <a:pPr>
              <a:spcAft>
                <a:spcPts val="200"/>
              </a:spcAft>
            </a:pPr>
            <a:r>
              <a:rPr sz="1400" b="0" i="0">
                <a:solidFill>
                  <a:srgbClr val="1F2A44"/>
                </a:solidFill>
                <a:latin typeface="Calibri"/>
              </a:rPr>
              <a:t>It's made up of a few cooperating pieces:</a:t>
            </a:r>
          </a:p>
        </p:txBody>
      </p:sp>
      <p:graphicFrame>
        <p:nvGraphicFramePr>
          <p:cNvPr id="9" name="Table 8"/>
          <p:cNvGraphicFramePr>
            <a:graphicFrameLocks noGrp="1"/>
          </p:cNvGraphicFramePr>
          <p:nvPr/>
        </p:nvGraphicFramePr>
        <p:xfrm>
          <a:off x="457200" y="1814574"/>
          <a:ext cx="11277294" cy="2350008"/>
        </p:xfrm>
        <a:graphic>
          <a:graphicData uri="http://schemas.openxmlformats.org/drawingml/2006/table">
            <a:tbl>
              <a:tblPr firstRow="1" bandRow="1">
                <a:tableStyleId>{5C22544A-7EE6-4342-B048-85BDC9FD1C3A}</a:tableStyleId>
              </a:tblPr>
              <a:tblGrid>
                <a:gridCol w="5638647"/>
                <a:gridCol w="5638647"/>
              </a:tblGrid>
              <a:tr h="391668">
                <a:tc>
                  <a:txBody>
                    <a:bodyPr lIns="73152" rIns="73152" tIns="27432" bIns="27432"/>
                    <a:lstStyle/>
                    <a:p>
                      <a:r>
                        <a:rPr sz="1200" b="1">
                          <a:solidFill>
                            <a:srgbClr val="FFFFFF"/>
                          </a:solidFill>
                          <a:latin typeface="Calibri"/>
                        </a:rPr>
                        <a:t>Term</a:t>
                      </a:r>
                    </a:p>
                  </a:txBody>
                  <a:tcPr>
                    <a:solidFill>
                      <a:srgbClr val="103A6E"/>
                    </a:solidFill>
                  </a:tcPr>
                </a:tc>
                <a:tc>
                  <a:txBody>
                    <a:bodyPr lIns="73152" rIns="73152" tIns="27432" bIns="27432"/>
                    <a:lstStyle/>
                    <a:p>
                      <a:r>
                        <a:rPr sz="1200" b="1">
                          <a:solidFill>
                            <a:srgbClr val="FFFFFF"/>
                          </a:solidFill>
                          <a:latin typeface="Calibri"/>
                        </a:rPr>
                        <a:t>What it is</a:t>
                      </a:r>
                    </a:p>
                  </a:txBody>
                  <a:tcPr>
                    <a:solidFill>
                      <a:srgbClr val="103A6E"/>
                    </a:solidFill>
                  </a:tcPr>
                </a:tc>
              </a:tr>
              <a:tr h="391668">
                <a:tc>
                  <a:txBody>
                    <a:bodyPr lIns="73152" rIns="73152" tIns="27432" bIns="27432"/>
                    <a:lstStyle/>
                    <a:p>
                      <a:r>
                        <a:rPr sz="1200" b="1" i="0">
                          <a:solidFill>
                            <a:srgbClr val="1F2A44"/>
                          </a:solidFill>
                          <a:latin typeface="Calibri"/>
                        </a:rPr>
                        <a:t>Ingress (resource)</a:t>
                      </a:r>
                    </a:p>
                  </a:txBody>
                  <a:tcPr>
                    <a:solidFill>
                      <a:srgbClr val="F3F5F9"/>
                    </a:solidFill>
                  </a:tcPr>
                </a:tc>
                <a:tc>
                  <a:txBody>
                    <a:bodyPr lIns="73152" rIns="73152" tIns="27432" bIns="27432"/>
                    <a:lstStyle/>
                    <a:p>
                      <a:r>
                        <a:rPr sz="1200" b="0" i="0">
                          <a:solidFill>
                            <a:srgbClr val="1F2A44"/>
                          </a:solidFill>
                          <a:latin typeface="Calibri"/>
                        </a:rPr>
                        <a:t>Kubernetes API object describing host/path routing rules — pure configuration</a:t>
                      </a:r>
                    </a:p>
                  </a:txBody>
                  <a:tcPr>
                    <a:solidFill>
                      <a:srgbClr val="F3F5F9"/>
                    </a:solidFill>
                  </a:tcPr>
                </a:tc>
              </a:tr>
              <a:tr h="391668">
                <a:tc>
                  <a:txBody>
                    <a:bodyPr lIns="73152" rIns="73152" tIns="27432" bIns="27432"/>
                    <a:lstStyle/>
                    <a:p>
                      <a:r>
                        <a:rPr sz="1200" b="1" i="0">
                          <a:solidFill>
                            <a:srgbClr val="1F2A44"/>
                          </a:solidFill>
                          <a:latin typeface="Calibri"/>
                        </a:rPr>
                        <a:t>Ingress Controller</a:t>
                      </a:r>
                    </a:p>
                  </a:txBody>
                  <a:tcPr>
                    <a:solidFill>
                      <a:srgbClr val="FFFFFF"/>
                    </a:solidFill>
                  </a:tcPr>
                </a:tc>
                <a:tc>
                  <a:txBody>
                    <a:bodyPr lIns="73152" rIns="73152" tIns="27432" bIns="27432"/>
                    <a:lstStyle/>
                    <a:p>
                      <a:r>
                        <a:rPr sz="1200" b="0" i="0">
                          <a:solidFill>
                            <a:srgbClr val="1F2A44"/>
                          </a:solidFill>
                          <a:latin typeface="Calibri"/>
                        </a:rPr>
                        <a:t>The software (pods) that watches Ingress resources and configures a proxy</a:t>
                      </a:r>
                    </a:p>
                  </a:txBody>
                  <a:tcPr>
                    <a:solidFill>
                      <a:srgbClr val="FFFFFF"/>
                    </a:solidFill>
                  </a:tcPr>
                </a:tc>
              </a:tr>
              <a:tr h="391668">
                <a:tc>
                  <a:txBody>
                    <a:bodyPr lIns="73152" rIns="73152" tIns="27432" bIns="27432"/>
                    <a:lstStyle/>
                    <a:p>
                      <a:r>
                        <a:rPr sz="1200" b="1" i="0">
                          <a:solidFill>
                            <a:srgbClr val="1F2A44"/>
                          </a:solidFill>
                          <a:latin typeface="Calibri"/>
                        </a:rPr>
                        <a:t>IngressClass</a:t>
                      </a:r>
                    </a:p>
                  </a:txBody>
                  <a:tcPr>
                    <a:solidFill>
                      <a:srgbClr val="F3F5F9"/>
                    </a:solidFill>
                  </a:tcPr>
                </a:tc>
                <a:tc>
                  <a:txBody>
                    <a:bodyPr lIns="73152" rIns="73152" tIns="27432" bIns="27432"/>
                    <a:lstStyle/>
                    <a:p>
                      <a:r>
                        <a:rPr sz="1200" b="0" i="0">
                          <a:solidFill>
                            <a:srgbClr val="1F2A44"/>
                          </a:solidFill>
                          <a:latin typeface="Calibri"/>
                        </a:rPr>
                        <a:t>Tells Kubernetes which controller should handle a given Ingress</a:t>
                      </a:r>
                    </a:p>
                  </a:txBody>
                  <a:tcPr>
                    <a:solidFill>
                      <a:srgbClr val="F3F5F9"/>
                    </a:solidFill>
                  </a:tcPr>
                </a:tc>
              </a:tr>
              <a:tr h="391668">
                <a:tc>
                  <a:txBody>
                    <a:bodyPr lIns="73152" rIns="73152" tIns="27432" bIns="27432"/>
                    <a:lstStyle/>
                    <a:p>
                      <a:r>
                        <a:rPr sz="1200" b="1" i="0">
                          <a:solidFill>
                            <a:srgbClr val="1F2A44"/>
                          </a:solidFill>
                          <a:latin typeface="Calibri"/>
                        </a:rPr>
                        <a:t>Backend Service</a:t>
                      </a:r>
                    </a:p>
                  </a:txBody>
                  <a:tcPr>
                    <a:solidFill>
                      <a:srgbClr val="FFFFFF"/>
                    </a:solidFill>
                  </a:tcPr>
                </a:tc>
                <a:tc>
                  <a:txBody>
                    <a:bodyPr lIns="73152" rIns="73152" tIns="27432" bIns="27432"/>
                    <a:lstStyle/>
                    <a:p>
                      <a:r>
                        <a:rPr sz="1200" b="0" i="0">
                          <a:solidFill>
                            <a:srgbClr val="1F2A44"/>
                          </a:solidFill>
                          <a:latin typeface="Calibri"/>
                        </a:rPr>
                        <a:t>The </a:t>
                      </a:r>
                      <a:r>
                        <a:rPr sz="1200" b="0">
                          <a:solidFill>
                            <a:srgbClr val="B01060"/>
                          </a:solidFill>
                          <a:latin typeface="Consolas"/>
                        </a:rPr>
                        <a:t>Service</a:t>
                      </a:r>
                      <a:r>
                        <a:rPr sz="1200" b="0" i="0">
                          <a:solidFill>
                            <a:srgbClr val="1F2A44"/>
                          </a:solidFill>
                          <a:latin typeface="Calibri"/>
                        </a:rPr>
                        <a:t> the Ingress routes traffic to</a:t>
                      </a:r>
                    </a:p>
                  </a:txBody>
                  <a:tcPr>
                    <a:solidFill>
                      <a:srgbClr val="FFFFFF"/>
                    </a:solidFill>
                  </a:tcPr>
                </a:tc>
              </a:tr>
              <a:tr h="391668">
                <a:tc>
                  <a:txBody>
                    <a:bodyPr lIns="73152" rIns="73152" tIns="27432" bIns="27432"/>
                    <a:lstStyle/>
                    <a:p>
                      <a:r>
                        <a:rPr sz="1200" b="1" i="0">
                          <a:solidFill>
                            <a:srgbClr val="1F2A44"/>
                          </a:solidFill>
                          <a:latin typeface="Calibri"/>
                        </a:rPr>
                        <a:t>TLS Secret</a:t>
                      </a:r>
                    </a:p>
                  </a:txBody>
                  <a:tcPr>
                    <a:solidFill>
                      <a:srgbClr val="F3F5F9"/>
                    </a:solidFill>
                  </a:tcPr>
                </a:tc>
                <a:tc>
                  <a:txBody>
                    <a:bodyPr lIns="73152" rIns="73152" tIns="27432" bIns="27432"/>
                    <a:lstStyle/>
                    <a:p>
                      <a:r>
                        <a:rPr sz="1200" b="0">
                          <a:solidFill>
                            <a:srgbClr val="B01060"/>
                          </a:solidFill>
                          <a:latin typeface="Consolas"/>
                        </a:rPr>
                        <a:t>kubernetes.io/tls</a:t>
                      </a:r>
                      <a:r>
                        <a:rPr sz="1200" b="0" i="0">
                          <a:solidFill>
                            <a:srgbClr val="1F2A44"/>
                          </a:solidFill>
                          <a:latin typeface="Calibri"/>
                        </a:rPr>
                        <a:t> secret used for HTTPS termination</a:t>
                      </a:r>
                    </a:p>
                  </a:txBody>
                  <a:tcPr>
                    <a:solidFill>
                      <a:srgbClr val="F3F5F9"/>
                    </a:solidFill>
                  </a:tcPr>
                </a:tc>
              </a:tr>
            </a:tbl>
          </a:graphicData>
        </a:graphic>
      </p:graphicFrame>
      <p:sp>
        <p:nvSpPr>
          <p:cNvPr id="10" name="TextBox 9"/>
          <p:cNvSpPr txBox="1"/>
          <p:nvPr/>
        </p:nvSpPr>
        <p:spPr>
          <a:xfrm>
            <a:off x="457200" y="4301742"/>
            <a:ext cx="11277295" cy="801621"/>
          </a:xfrm>
          <a:prstGeom prst="rect">
            <a:avLst/>
          </a:prstGeom>
          <a:noFill/>
        </p:spPr>
        <p:txBody>
          <a:bodyPr wrap="square" lIns="45720" rIns="45720" tIns="18288" bIns="18288">
            <a:spAutoFit/>
          </a:bodyPr>
          <a:lstStyle/>
          <a:p>
            <a:pPr>
              <a:spcAft>
                <a:spcPts val="200"/>
              </a:spcAft>
            </a:pPr>
            <a:r>
              <a:rPr sz="1400" b="0" i="0">
                <a:solidFill>
                  <a:srgbClr val="1F2A44"/>
                </a:solidFill>
                <a:latin typeface="Calibri"/>
              </a:rPr>
              <a:t>The controller has two roles: a </a:t>
            </a:r>
            <a:r>
              <a:rPr sz="1400" b="1" i="0">
                <a:solidFill>
                  <a:srgbClr val="1F2A44"/>
                </a:solidFill>
                <a:latin typeface="Calibri"/>
              </a:rPr>
              <a:t>control plane</a:t>
            </a:r>
            <a:r>
              <a:rPr sz="1400" b="0" i="0">
                <a:solidFill>
                  <a:srgbClr val="1F2A44"/>
                </a:solidFill>
                <a:latin typeface="Calibri"/>
              </a:rPr>
              <a:t> (reconciles K8s resources into proxy config) and a </a:t>
            </a:r>
            <a:r>
              <a:rPr sz="1400" b="1" i="0">
                <a:solidFill>
                  <a:srgbClr val="1F2A44"/>
                </a:solidFill>
                <a:latin typeface="Calibri"/>
              </a:rPr>
              <a:t>data plane</a:t>
            </a:r>
            <a:r>
              <a:rPr sz="1400" b="0" i="0">
                <a:solidFill>
                  <a:srgbClr val="1F2A44"/>
                </a:solidFill>
                <a:latin typeface="Calibri"/>
              </a:rPr>
              <a:t> (the actual proxy — NGINX, Envoy, HAProxy — that receives traffic). In most implementations both run in the same pod.</a:t>
            </a:r>
          </a:p>
        </p:txBody>
      </p:sp>
      <p:sp>
        <p:nvSpPr>
          <p:cNvPr id="11" name="TextBox 10"/>
          <p:cNvSpPr txBox="1"/>
          <p:nvPr/>
        </p:nvSpPr>
        <p:spPr>
          <a:xfrm>
            <a:off x="457200" y="5158227"/>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Full traffic path</a:t>
            </a:r>
          </a:p>
        </p:txBody>
      </p:sp>
      <p:sp>
        <p:nvSpPr>
          <p:cNvPr id="12" name="Rectangle 11"/>
          <p:cNvSpPr/>
          <p:nvPr/>
        </p:nvSpPr>
        <p:spPr>
          <a:xfrm>
            <a:off x="457200" y="5516874"/>
            <a:ext cx="11277295" cy="18592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5516874"/>
            <a:ext cx="64008" cy="18592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5590026"/>
            <a:ext cx="11048695" cy="1712976"/>
          </a:xfrm>
          <a:prstGeom prst="rect">
            <a:avLst/>
          </a:prstGeom>
          <a:noFill/>
        </p:spPr>
        <p:txBody>
          <a:bodyPr wrap="none" lIns="36576" rIns="36576" tIns="18288" bIns="18288">
            <a:spAutoFit/>
          </a:bodyPr>
          <a:lstStyle/>
          <a:p>
            <a:pPr>
              <a:lnSpc>
                <a:spcPct val="100000"/>
              </a:lnSpc>
            </a:pPr>
            <a:r>
              <a:rPr sz="1000">
                <a:solidFill>
                  <a:srgbClr val="E6E6E6"/>
                </a:solidFill>
                <a:latin typeface="Consolas"/>
              </a:rPr>
              <a:t>Client</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DNS → Public IP</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Cloud Load Balancer (from the controller's Service of type LoadBalancer)</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Ingress Controller pod (proxy / data plane)  ← traffic actually arrives here</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Backend Service (ClusterIP) → Pod Endpoints</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Application Pod</a:t>
            </a:r>
          </a:p>
        </p:txBody>
      </p:sp>
      <p:sp>
        <p:nvSpPr>
          <p:cNvPr id="15" name="Rectangle 14"/>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7" name="TextBox 16"/>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10 / 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Ingress is no longer enough</a:t>
            </a:r>
          </a:p>
        </p:txBody>
      </p:sp>
      <p:sp>
        <p:nvSpPr>
          <p:cNvPr id="7" name="TextBox 6"/>
          <p:cNvSpPr txBox="1"/>
          <p:nvPr/>
        </p:nvSpPr>
        <p:spPr>
          <a:xfrm>
            <a:off x="457200" y="1097280"/>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Limitations of `Ingress`</a:t>
            </a:r>
          </a:p>
          <a:p>
            <a:pPr>
              <a:spcAft>
                <a:spcPts val="200"/>
              </a:spcAft>
            </a:pPr>
            <a:r>
              <a:rPr sz="1400" b="1">
                <a:solidFill>
                  <a:srgbClr val="0078D4"/>
                </a:solidFill>
                <a:latin typeface="Calibri"/>
              </a:rPr>
              <a:t>▸ </a:t>
            </a:r>
            <a:r>
              <a:rPr sz="1400" b="0" i="0">
                <a:solidFill>
                  <a:srgbClr val="1F2A44"/>
                </a:solidFill>
                <a:latin typeface="Calibri"/>
              </a:rPr>
              <a:t>Annotation soup: every controller invented its own annotations → not portable</a:t>
            </a:r>
          </a:p>
          <a:p>
            <a:pPr>
              <a:spcAft>
                <a:spcPts val="200"/>
              </a:spcAft>
            </a:pPr>
            <a:r>
              <a:rPr sz="1400" b="1">
                <a:solidFill>
                  <a:srgbClr val="0078D4"/>
                </a:solidFill>
                <a:latin typeface="Calibri"/>
              </a:rPr>
              <a:t>▸ </a:t>
            </a:r>
            <a:r>
              <a:rPr sz="1400" b="0" i="0">
                <a:solidFill>
                  <a:srgbClr val="1F2A44"/>
                </a:solidFill>
                <a:latin typeface="Calibri"/>
              </a:rPr>
              <a:t>Single role: cluster admin and app dev edit the same object</a:t>
            </a:r>
          </a:p>
          <a:p>
            <a:pPr>
              <a:spcAft>
                <a:spcPts val="200"/>
              </a:spcAft>
            </a:pPr>
            <a:r>
              <a:rPr sz="1400" b="1">
                <a:solidFill>
                  <a:srgbClr val="0078D4"/>
                </a:solidFill>
                <a:latin typeface="Calibri"/>
              </a:rPr>
              <a:t>▸ </a:t>
            </a:r>
            <a:r>
              <a:rPr sz="1400" b="0" i="0">
                <a:solidFill>
                  <a:srgbClr val="1F2A44"/>
                </a:solidFill>
                <a:latin typeface="Calibri"/>
              </a:rPr>
              <a:t>No first-class TCP/UDP, gRPC, traffic splitting, header-based routing</a:t>
            </a:r>
          </a:p>
          <a:p>
            <a:pPr>
              <a:spcAft>
                <a:spcPts val="200"/>
              </a:spcAft>
            </a:pPr>
            <a:r>
              <a:rPr sz="1400" b="1">
                <a:solidFill>
                  <a:srgbClr val="0078D4"/>
                </a:solidFill>
                <a:latin typeface="Calibri"/>
              </a:rPr>
              <a:t>▸ </a:t>
            </a:r>
            <a:r>
              <a:rPr sz="1400" b="0" i="0">
                <a:solidFill>
                  <a:srgbClr val="1F2A44"/>
                </a:solidFill>
                <a:latin typeface="Calibri"/>
              </a:rPr>
              <a:t>Extension story = vendor lock-in</a:t>
            </a:r>
          </a:p>
        </p:txBody>
      </p:sp>
      <p:sp>
        <p:nvSpPr>
          <p:cNvPr id="8" name="TextBox 7"/>
          <p:cNvSpPr txBox="1"/>
          <p:nvPr/>
        </p:nvSpPr>
        <p:spPr>
          <a:xfrm>
            <a:off x="457200" y="2451603"/>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Gateway API fixes the model</a:t>
            </a:r>
          </a:p>
        </p:txBody>
      </p:sp>
      <p:graphicFrame>
        <p:nvGraphicFramePr>
          <p:cNvPr id="9" name="Table 8"/>
          <p:cNvGraphicFramePr>
            <a:graphicFrameLocks noGrp="1"/>
          </p:cNvGraphicFramePr>
          <p:nvPr/>
        </p:nvGraphicFramePr>
        <p:xfrm>
          <a:off x="457200" y="2810250"/>
          <a:ext cx="11277294" cy="1581912"/>
        </p:xfrm>
        <a:graphic>
          <a:graphicData uri="http://schemas.openxmlformats.org/drawingml/2006/table">
            <a:tbl>
              <a:tblPr firstRow="1" bandRow="1">
                <a:tableStyleId>{5C22544A-7EE6-4342-B048-85BDC9FD1C3A}</a:tableStyleId>
              </a:tblPr>
              <a:tblGrid>
                <a:gridCol w="3759098"/>
                <a:gridCol w="3759098"/>
                <a:gridCol w="3759098"/>
              </a:tblGrid>
              <a:tr h="395478">
                <a:tc>
                  <a:txBody>
                    <a:bodyPr lIns="73152" rIns="73152" tIns="27432" bIns="27432"/>
                    <a:lstStyle/>
                    <a:p>
                      <a:r>
                        <a:rPr sz="1200" b="1">
                          <a:solidFill>
                            <a:srgbClr val="FFFFFF"/>
                          </a:solidFill>
                          <a:latin typeface="Calibri"/>
                        </a:rPr>
                        <a:t>Concern</a:t>
                      </a:r>
                    </a:p>
                  </a:txBody>
                  <a:tcPr>
                    <a:solidFill>
                      <a:srgbClr val="103A6E"/>
                    </a:solidFill>
                  </a:tcPr>
                </a:tc>
                <a:tc>
                  <a:txBody>
                    <a:bodyPr lIns="73152" rIns="73152" tIns="27432" bIns="27432"/>
                    <a:lstStyle/>
                    <a:p>
                      <a:r>
                        <a:rPr sz="1200" b="1">
                          <a:solidFill>
                            <a:srgbClr val="FFFFFF"/>
                          </a:solidFill>
                          <a:latin typeface="Calibri"/>
                        </a:rPr>
                        <a:t>Resource</a:t>
                      </a:r>
                    </a:p>
                  </a:txBody>
                  <a:tcPr>
                    <a:solidFill>
                      <a:srgbClr val="103A6E"/>
                    </a:solidFill>
                  </a:tcPr>
                </a:tc>
                <a:tc>
                  <a:txBody>
                    <a:bodyPr lIns="73152" rIns="73152" tIns="27432" bIns="27432"/>
                    <a:lstStyle/>
                    <a:p>
                      <a:r>
                        <a:rPr sz="1200" b="1">
                          <a:solidFill>
                            <a:srgbClr val="FFFFFF"/>
                          </a:solidFill>
                          <a:latin typeface="Calibri"/>
                        </a:rPr>
                        <a:t>Persona</a:t>
                      </a:r>
                    </a:p>
                  </a:txBody>
                  <a:tcPr>
                    <a:solidFill>
                      <a:srgbClr val="103A6E"/>
                    </a:solidFill>
                  </a:tcPr>
                </a:tc>
              </a:tr>
              <a:tr h="395478">
                <a:tc>
                  <a:txBody>
                    <a:bodyPr lIns="73152" rIns="73152" tIns="27432" bIns="27432"/>
                    <a:lstStyle/>
                    <a:p>
                      <a:r>
                        <a:rPr sz="1200" b="0" i="0">
                          <a:solidFill>
                            <a:srgbClr val="1F2A44"/>
                          </a:solidFill>
                          <a:latin typeface="Calibri"/>
                        </a:rPr>
                        <a:t>What controller / data plane</a:t>
                      </a:r>
                    </a:p>
                  </a:txBody>
                  <a:tcPr>
                    <a:solidFill>
                      <a:srgbClr val="F3F5F9"/>
                    </a:solidFill>
                  </a:tcPr>
                </a:tc>
                <a:tc>
                  <a:txBody>
                    <a:bodyPr lIns="73152" rIns="73152" tIns="27432" bIns="27432"/>
                    <a:lstStyle/>
                    <a:p>
                      <a:r>
                        <a:rPr sz="1200" b="0">
                          <a:solidFill>
                            <a:srgbClr val="B01060"/>
                          </a:solidFill>
                          <a:latin typeface="Consolas"/>
                        </a:rPr>
                        <a:t>GatewayClass</a:t>
                      </a:r>
                    </a:p>
                  </a:txBody>
                  <a:tcPr>
                    <a:solidFill>
                      <a:srgbClr val="F3F5F9"/>
                    </a:solidFill>
                  </a:tcPr>
                </a:tc>
                <a:tc>
                  <a:txBody>
                    <a:bodyPr lIns="73152" rIns="73152" tIns="27432" bIns="27432"/>
                    <a:lstStyle/>
                    <a:p>
                      <a:r>
                        <a:rPr sz="1200" b="0" i="0">
                          <a:solidFill>
                            <a:srgbClr val="1F2A44"/>
                          </a:solidFill>
                          <a:latin typeface="Calibri"/>
                        </a:rPr>
                        <a:t>Infra provider</a:t>
                      </a:r>
                    </a:p>
                  </a:txBody>
                  <a:tcPr>
                    <a:solidFill>
                      <a:srgbClr val="F3F5F9"/>
                    </a:solidFill>
                  </a:tcPr>
                </a:tc>
              </a:tr>
              <a:tr h="395478">
                <a:tc>
                  <a:txBody>
                    <a:bodyPr lIns="73152" rIns="73152" tIns="27432" bIns="27432"/>
                    <a:lstStyle/>
                    <a:p>
                      <a:r>
                        <a:rPr sz="1200" b="0" i="0">
                          <a:solidFill>
                            <a:srgbClr val="1F2A44"/>
                          </a:solidFill>
                          <a:latin typeface="Calibri"/>
                        </a:rPr>
                        <a:t>Listeners, IP, TLS certs</a:t>
                      </a:r>
                    </a:p>
                  </a:txBody>
                  <a:tcPr>
                    <a:solidFill>
                      <a:srgbClr val="FFFFFF"/>
                    </a:solidFill>
                  </a:tcPr>
                </a:tc>
                <a:tc>
                  <a:txBody>
                    <a:bodyPr lIns="73152" rIns="73152" tIns="27432" bIns="27432"/>
                    <a:lstStyle/>
                    <a:p>
                      <a:r>
                        <a:rPr sz="1200" b="0">
                          <a:solidFill>
                            <a:srgbClr val="B01060"/>
                          </a:solidFill>
                          <a:latin typeface="Consolas"/>
                        </a:rPr>
                        <a:t>Gateway</a:t>
                      </a:r>
                    </a:p>
                  </a:txBody>
                  <a:tcPr>
                    <a:solidFill>
                      <a:srgbClr val="FFFFFF"/>
                    </a:solidFill>
                  </a:tcPr>
                </a:tc>
                <a:tc>
                  <a:txBody>
                    <a:bodyPr lIns="73152" rIns="73152" tIns="27432" bIns="27432"/>
                    <a:lstStyle/>
                    <a:p>
                      <a:r>
                        <a:rPr sz="1200" b="0" i="0">
                          <a:solidFill>
                            <a:srgbClr val="1F2A44"/>
                          </a:solidFill>
                          <a:latin typeface="Calibri"/>
                        </a:rPr>
                        <a:t>Cluster operator</a:t>
                      </a:r>
                    </a:p>
                  </a:txBody>
                  <a:tcPr>
                    <a:solidFill>
                      <a:srgbClr val="FFFFFF"/>
                    </a:solidFill>
                  </a:tcPr>
                </a:tc>
              </a:tr>
              <a:tr h="395478">
                <a:tc>
                  <a:txBody>
                    <a:bodyPr lIns="73152" rIns="73152" tIns="27432" bIns="27432"/>
                    <a:lstStyle/>
                    <a:p>
                      <a:r>
                        <a:rPr sz="1200" b="0" i="0">
                          <a:solidFill>
                            <a:srgbClr val="1F2A44"/>
                          </a:solidFill>
                          <a:latin typeface="Calibri"/>
                        </a:rPr>
                        <a:t>Routes, hosts, paths, splits</a:t>
                      </a:r>
                    </a:p>
                  </a:txBody>
                  <a:tcPr>
                    <a:solidFill>
                      <a:srgbClr val="F3F5F9"/>
                    </a:solidFill>
                  </a:tcPr>
                </a:tc>
                <a:tc>
                  <a:txBody>
                    <a:bodyPr lIns="73152" rIns="73152" tIns="27432" bIns="27432"/>
                    <a:lstStyle/>
                    <a:p>
                      <a:r>
                        <a:rPr sz="1200" b="0">
                          <a:solidFill>
                            <a:srgbClr val="B01060"/>
                          </a:solidFill>
                          <a:latin typeface="Consolas"/>
                        </a:rPr>
                        <a:t>HTTPRoute</a:t>
                      </a:r>
                      <a:r>
                        <a:rPr sz="1200" b="0" i="0">
                          <a:solidFill>
                            <a:srgbClr val="1F2A44"/>
                          </a:solidFill>
                          <a:latin typeface="Calibri"/>
                        </a:rPr>
                        <a:t> / </a:t>
                      </a:r>
                      <a:r>
                        <a:rPr sz="1200" b="0">
                          <a:solidFill>
                            <a:srgbClr val="B01060"/>
                          </a:solidFill>
                          <a:latin typeface="Consolas"/>
                        </a:rPr>
                        <a:t>GRPCRoute</a:t>
                      </a:r>
                      <a:r>
                        <a:rPr sz="1200" b="0" i="0">
                          <a:solidFill>
                            <a:srgbClr val="1F2A44"/>
                          </a:solidFill>
                          <a:latin typeface="Calibri"/>
                        </a:rPr>
                        <a:t> / </a:t>
                      </a:r>
                      <a:r>
                        <a:rPr sz="1200" b="0">
                          <a:solidFill>
                            <a:srgbClr val="B01060"/>
                          </a:solidFill>
                          <a:latin typeface="Consolas"/>
                        </a:rPr>
                        <a:t>TCPRoute</a:t>
                      </a:r>
                    </a:p>
                  </a:txBody>
                  <a:tcPr>
                    <a:solidFill>
                      <a:srgbClr val="F3F5F9"/>
                    </a:solidFill>
                  </a:tcPr>
                </a:tc>
                <a:tc>
                  <a:txBody>
                    <a:bodyPr lIns="73152" rIns="73152" tIns="27432" bIns="27432"/>
                    <a:lstStyle/>
                    <a:p>
                      <a:r>
                        <a:rPr sz="1200" b="0" i="0">
                          <a:solidFill>
                            <a:srgbClr val="1F2A44"/>
                          </a:solidFill>
                          <a:latin typeface="Calibri"/>
                        </a:rPr>
                        <a:t>App developer</a:t>
                      </a:r>
                    </a:p>
                  </a:txBody>
                  <a:tcPr>
                    <a:solidFill>
                      <a:srgbClr val="F3F5F9"/>
                    </a:solidFill>
                  </a:tcPr>
                </a:tc>
              </a:tr>
            </a:tbl>
          </a:graphicData>
        </a:graphic>
      </p:graphicFrame>
      <p:sp>
        <p:nvSpPr>
          <p:cNvPr id="10" name="TextBox 9"/>
          <p:cNvSpPr txBox="1"/>
          <p:nvPr/>
        </p:nvSpPr>
        <p:spPr>
          <a:xfrm>
            <a:off x="457200" y="4529322"/>
            <a:ext cx="11277295" cy="552702"/>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Status is structured (</a:t>
            </a:r>
            <a:r>
              <a:rPr sz="1400" b="0">
                <a:solidFill>
                  <a:srgbClr val="B01060"/>
                </a:solidFill>
                <a:latin typeface="Consolas"/>
              </a:rPr>
              <a:t>conditions</a:t>
            </a:r>
            <a:r>
              <a:rPr sz="1400" b="0" i="0">
                <a:solidFill>
                  <a:srgbClr val="1F2A44"/>
                </a:solidFill>
                <a:latin typeface="Calibri"/>
              </a:rPr>
              <a:t>) — observability built-in</a:t>
            </a:r>
          </a:p>
          <a:p>
            <a:pPr>
              <a:spcAft>
                <a:spcPts val="200"/>
              </a:spcAft>
            </a:pPr>
            <a:r>
              <a:rPr sz="1400" b="1">
                <a:solidFill>
                  <a:srgbClr val="0078D4"/>
                </a:solidFill>
                <a:latin typeface="Calibri"/>
              </a:rPr>
              <a:t>▸ </a:t>
            </a:r>
            <a:r>
              <a:rPr sz="1400" b="0" i="0">
                <a:solidFill>
                  <a:srgbClr val="1F2A44"/>
                </a:solidFill>
                <a:latin typeface="Calibri"/>
              </a:rPr>
              <a:t>Same spec across NGINX, Envoy, Cilium, Azure AGC, GKE, AWS — workload portability</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11 / 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Ingress vs Gateway API side-by-side</a:t>
            </a:r>
          </a:p>
        </p:txBody>
      </p:sp>
      <p:sp>
        <p:nvSpPr>
          <p:cNvPr id="7" name="Rectangle 6"/>
          <p:cNvSpPr/>
          <p:nvPr/>
        </p:nvSpPr>
        <p:spPr>
          <a:xfrm>
            <a:off x="457200" y="1097280"/>
            <a:ext cx="5455767"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5455767" cy="457200"/>
          </a:xfrm>
          <a:prstGeom prst="rect">
            <a:avLst/>
          </a:prstGeom>
          <a:solidFill>
            <a:srgbClr val="606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97280"/>
            <a:ext cx="5455767" cy="457200"/>
          </a:xfrm>
          <a:prstGeom prst="rect">
            <a:avLst/>
          </a:prstGeom>
          <a:noFill/>
        </p:spPr>
        <p:txBody>
          <a:bodyPr wrap="square" lIns="45720" rIns="45720" tIns="18288" bIns="18288" anchor="ctr">
            <a:spAutoFit/>
          </a:bodyPr>
          <a:lstStyle/>
          <a:p>
            <a:pPr algn="ctr"/>
            <a:r>
              <a:rPr sz="1400" b="1" i="0">
                <a:solidFill>
                  <a:srgbClr val="FFFFFF"/>
                </a:solidFill>
                <a:latin typeface="Calibri"/>
              </a:rPr>
              <a:t>Ingress (legacy)</a:t>
            </a:r>
          </a:p>
        </p:txBody>
      </p:sp>
      <p:sp>
        <p:nvSpPr>
          <p:cNvPr id="10" name="TextBox 9"/>
          <p:cNvSpPr txBox="1"/>
          <p:nvPr/>
        </p:nvSpPr>
        <p:spPr>
          <a:xfrm>
            <a:off x="640080" y="1691640"/>
            <a:ext cx="5090007" cy="320040"/>
          </a:xfrm>
          <a:prstGeom prst="rect">
            <a:avLst/>
          </a:prstGeom>
          <a:noFill/>
        </p:spPr>
        <p:txBody>
          <a:bodyPr wrap="square" lIns="45720" rIns="45720" tIns="18288" bIns="18288">
            <a:spAutoFit/>
          </a:bodyPr>
          <a:lstStyle/>
          <a:p>
            <a:pPr algn="l"/>
            <a:r>
              <a:rPr sz="1100" b="0" i="1">
                <a:solidFill>
                  <a:srgbClr val="606E85"/>
                </a:solidFill>
                <a:latin typeface="Calibri"/>
              </a:rPr>
              <a:t>One resource, one persona</a:t>
            </a:r>
          </a:p>
        </p:txBody>
      </p:sp>
      <p:sp>
        <p:nvSpPr>
          <p:cNvPr id="11" name="Rounded Rectangle 10"/>
          <p:cNvSpPr/>
          <p:nvPr/>
        </p:nvSpPr>
        <p:spPr>
          <a:xfrm>
            <a:off x="822960" y="2148840"/>
            <a:ext cx="4724247" cy="128016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148840"/>
            <a:ext cx="4724247" cy="1280160"/>
          </a:xfrm>
          <a:prstGeom prst="rect">
            <a:avLst/>
          </a:prstGeom>
          <a:noFill/>
        </p:spPr>
        <p:txBody>
          <a:bodyPr wrap="square" lIns="45720" rIns="45720" tIns="18288" bIns="18288" anchor="ctr">
            <a:spAutoFit/>
          </a:bodyPr>
          <a:lstStyle/>
          <a:p>
            <a:pPr algn="ctr"/>
            <a:r>
              <a:rPr sz="1300" b="1" i="0">
                <a:solidFill>
                  <a:srgbClr val="FFFFFF"/>
                </a:solidFill>
                <a:latin typeface="Calibri"/>
              </a:rPr>
              <a:t>Ingress</a:t>
            </a:r>
          </a:p>
          <a:p>
            <a:pPr algn="ctr"/>
            <a:r>
              <a:rPr sz="1300" b="1" i="0">
                <a:solidFill>
                  <a:srgbClr val="FFFFFF"/>
                </a:solidFill>
                <a:latin typeface="Calibri"/>
              </a:rPr>
              <a:t>(host, path, TLS, +</a:t>
            </a:r>
          </a:p>
          <a:p>
            <a:pPr algn="ctr"/>
            <a:r>
              <a:rPr sz="1300" b="1" i="0">
                <a:solidFill>
                  <a:srgbClr val="FFFFFF"/>
                </a:solidFill>
                <a:latin typeface="Calibri"/>
              </a:rPr>
              <a:t>vendor annotations)</a:t>
            </a:r>
          </a:p>
        </p:txBody>
      </p:sp>
      <p:cxnSp>
        <p:nvCxnSpPr>
          <p:cNvPr id="13" name="Connector 12"/>
          <p:cNvCxnSpPr/>
          <p:nvPr/>
        </p:nvCxnSpPr>
        <p:spPr>
          <a:xfrm>
            <a:off x="3185083" y="3474720"/>
            <a:ext cx="0" cy="365760"/>
          </a:xfrm>
          <a:prstGeom prst="line">
            <a:avLst/>
          </a:prstGeom>
          <a:ln w="19050">
            <a:solidFill>
              <a:srgbClr val="103A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22960" y="3886200"/>
            <a:ext cx="4724247" cy="73152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886200"/>
            <a:ext cx="4724247" cy="731520"/>
          </a:xfrm>
          <a:prstGeom prst="rect">
            <a:avLst/>
          </a:prstGeom>
          <a:noFill/>
        </p:spPr>
        <p:txBody>
          <a:bodyPr wrap="square" lIns="45720" rIns="45720" tIns="18288" bIns="18288" anchor="ctr">
            <a:spAutoFit/>
          </a:bodyPr>
          <a:lstStyle/>
          <a:p>
            <a:pPr algn="ctr"/>
            <a:r>
              <a:rPr sz="1200" b="1" i="0">
                <a:solidFill>
                  <a:srgbClr val="FFFFFF"/>
                </a:solidFill>
                <a:latin typeface="Calibri"/>
              </a:rPr>
              <a:t>IngressController</a:t>
            </a:r>
          </a:p>
          <a:p>
            <a:pPr algn="ctr"/>
            <a:r>
              <a:rPr sz="1200" b="1" i="0">
                <a:solidFill>
                  <a:srgbClr val="FFFFFF"/>
                </a:solidFill>
                <a:latin typeface="Calibri"/>
              </a:rPr>
              <a:t>(NGINX, Traefik, …)</a:t>
            </a:r>
          </a:p>
        </p:txBody>
      </p:sp>
      <p:sp>
        <p:nvSpPr>
          <p:cNvPr id="16" name="TextBox 15"/>
          <p:cNvSpPr txBox="1"/>
          <p:nvPr/>
        </p:nvSpPr>
        <p:spPr>
          <a:xfrm>
            <a:off x="731520" y="4937760"/>
            <a:ext cx="4907127" cy="822960"/>
          </a:xfrm>
          <a:prstGeom prst="rect">
            <a:avLst/>
          </a:prstGeom>
          <a:noFill/>
        </p:spPr>
        <p:txBody>
          <a:bodyPr wrap="square" lIns="45720" rIns="45720" tIns="18288" bIns="18288">
            <a:spAutoFit/>
          </a:bodyPr>
          <a:lstStyle/>
          <a:p>
            <a:pPr algn="l"/>
            <a:r>
              <a:rPr sz="1100" b="0" i="1">
                <a:solidFill>
                  <a:srgbClr val="606E85"/>
                </a:solidFill>
                <a:latin typeface="Calibri"/>
              </a:rPr>
              <a:t>Cluster-scoped object edited by both platform and app teams.</a:t>
            </a:r>
          </a:p>
          <a:p>
            <a:pPr algn="l"/>
            <a:r>
              <a:rPr sz="1100" b="0" i="1">
                <a:solidFill>
                  <a:srgbClr val="606E85"/>
                </a:solidFill>
                <a:latin typeface="Calibri"/>
              </a:rPr>
              <a:t>Portability via annotation soup.</a:t>
            </a:r>
          </a:p>
        </p:txBody>
      </p:sp>
      <p:sp>
        <p:nvSpPr>
          <p:cNvPr id="17" name="Rectangle 16"/>
          <p:cNvSpPr/>
          <p:nvPr/>
        </p:nvSpPr>
        <p:spPr>
          <a:xfrm>
            <a:off x="6278727" y="1097280"/>
            <a:ext cx="5455767" cy="47548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097280"/>
            <a:ext cx="5455767" cy="45720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8727" y="1097280"/>
            <a:ext cx="5455767" cy="457200"/>
          </a:xfrm>
          <a:prstGeom prst="rect">
            <a:avLst/>
          </a:prstGeom>
          <a:noFill/>
        </p:spPr>
        <p:txBody>
          <a:bodyPr wrap="square" lIns="45720" rIns="45720" tIns="18288" bIns="18288" anchor="ctr">
            <a:spAutoFit/>
          </a:bodyPr>
          <a:lstStyle/>
          <a:p>
            <a:pPr algn="ctr"/>
            <a:r>
              <a:rPr sz="1400" b="1" i="0">
                <a:solidFill>
                  <a:srgbClr val="FFFFFF"/>
                </a:solidFill>
                <a:latin typeface="Calibri"/>
              </a:rPr>
              <a:t>Gateway API (current)</a:t>
            </a:r>
          </a:p>
        </p:txBody>
      </p:sp>
      <p:sp>
        <p:nvSpPr>
          <p:cNvPr id="20" name="TextBox 19"/>
          <p:cNvSpPr txBox="1"/>
          <p:nvPr/>
        </p:nvSpPr>
        <p:spPr>
          <a:xfrm>
            <a:off x="6461607" y="1691640"/>
            <a:ext cx="5090007" cy="320040"/>
          </a:xfrm>
          <a:prstGeom prst="rect">
            <a:avLst/>
          </a:prstGeom>
          <a:noFill/>
        </p:spPr>
        <p:txBody>
          <a:bodyPr wrap="square" lIns="45720" rIns="45720" tIns="18288" bIns="18288">
            <a:spAutoFit/>
          </a:bodyPr>
          <a:lstStyle/>
          <a:p>
            <a:pPr algn="l"/>
            <a:r>
              <a:rPr sz="1100" b="0" i="1">
                <a:solidFill>
                  <a:srgbClr val="2EA44F"/>
                </a:solidFill>
                <a:latin typeface="Calibri"/>
              </a:rPr>
              <a:t>Three resources, three personas</a:t>
            </a:r>
          </a:p>
        </p:txBody>
      </p:sp>
      <p:sp>
        <p:nvSpPr>
          <p:cNvPr id="21" name="Rounded Rectangle 20"/>
          <p:cNvSpPr/>
          <p:nvPr/>
        </p:nvSpPr>
        <p:spPr>
          <a:xfrm>
            <a:off x="6553047" y="2148840"/>
            <a:ext cx="4907127" cy="68580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214884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GatewayClass</a:t>
            </a:r>
          </a:p>
        </p:txBody>
      </p:sp>
      <p:sp>
        <p:nvSpPr>
          <p:cNvPr id="23" name="TextBox 22"/>
          <p:cNvSpPr txBox="1"/>
          <p:nvPr/>
        </p:nvSpPr>
        <p:spPr>
          <a:xfrm>
            <a:off x="9631375" y="214884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Infra provider</a:t>
            </a:r>
          </a:p>
        </p:txBody>
      </p:sp>
      <p:cxnSp>
        <p:nvCxnSpPr>
          <p:cNvPr id="24" name="Connector 23"/>
          <p:cNvCxnSpPr/>
          <p:nvPr/>
        </p:nvCxnSpPr>
        <p:spPr>
          <a:xfrm>
            <a:off x="7284567" y="2834640"/>
            <a:ext cx="0" cy="274320"/>
          </a:xfrm>
          <a:prstGeom prst="line">
            <a:avLst/>
          </a:prstGeom>
          <a:ln w="19050">
            <a:solidFill>
              <a:srgbClr val="2EA4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21727" y="2816352"/>
            <a:ext cx="2743200" cy="274320"/>
          </a:xfrm>
          <a:prstGeom prst="rect">
            <a:avLst/>
          </a:prstGeom>
          <a:noFill/>
        </p:spPr>
        <p:txBody>
          <a:bodyPr wrap="square" lIns="45720" rIns="45720" tIns="18288" bIns="18288" anchor="ctr">
            <a:spAutoFit/>
          </a:bodyPr>
          <a:lstStyle/>
          <a:p>
            <a:pPr algn="l"/>
            <a:r>
              <a:rPr sz="900" b="0" i="1">
                <a:solidFill>
                  <a:srgbClr val="2EA44F"/>
                </a:solidFill>
                <a:latin typeface="Calibri"/>
              </a:rPr>
              <a:t>GatewayClassName ↑</a:t>
            </a:r>
          </a:p>
        </p:txBody>
      </p:sp>
      <p:sp>
        <p:nvSpPr>
          <p:cNvPr id="26" name="Rounded Rectangle 25"/>
          <p:cNvSpPr/>
          <p:nvPr/>
        </p:nvSpPr>
        <p:spPr>
          <a:xfrm>
            <a:off x="6553047" y="3108960"/>
            <a:ext cx="4907127" cy="685800"/>
          </a:xfrm>
          <a:prstGeom prst="roundRect">
            <a:avLst>
              <a:gd name="adj" fmla="val 10000"/>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53047" y="310896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Gateway</a:t>
            </a:r>
          </a:p>
        </p:txBody>
      </p:sp>
      <p:sp>
        <p:nvSpPr>
          <p:cNvPr id="28" name="TextBox 27"/>
          <p:cNvSpPr txBox="1"/>
          <p:nvPr/>
        </p:nvSpPr>
        <p:spPr>
          <a:xfrm>
            <a:off x="9631375" y="310896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Platform team</a:t>
            </a:r>
          </a:p>
        </p:txBody>
      </p:sp>
      <p:cxnSp>
        <p:nvCxnSpPr>
          <p:cNvPr id="29" name="Connector 28"/>
          <p:cNvCxnSpPr/>
          <p:nvPr/>
        </p:nvCxnSpPr>
        <p:spPr>
          <a:xfrm>
            <a:off x="7284567" y="3794760"/>
            <a:ext cx="0" cy="274320"/>
          </a:xfrm>
          <a:prstGeom prst="line">
            <a:avLst/>
          </a:prstGeom>
          <a:ln w="19050">
            <a:solidFill>
              <a:srgbClr val="2EA4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21727" y="3776472"/>
            <a:ext cx="2743200" cy="274320"/>
          </a:xfrm>
          <a:prstGeom prst="rect">
            <a:avLst/>
          </a:prstGeom>
          <a:noFill/>
        </p:spPr>
        <p:txBody>
          <a:bodyPr wrap="square" lIns="45720" rIns="45720" tIns="18288" bIns="18288" anchor="ctr">
            <a:spAutoFit/>
          </a:bodyPr>
          <a:lstStyle/>
          <a:p>
            <a:pPr algn="l"/>
            <a:r>
              <a:rPr sz="900" b="0" i="1">
                <a:solidFill>
                  <a:srgbClr val="2EA44F"/>
                </a:solidFill>
                <a:latin typeface="Calibri"/>
              </a:rPr>
              <a:t>parentRefs ↑</a:t>
            </a:r>
          </a:p>
        </p:txBody>
      </p:sp>
      <p:sp>
        <p:nvSpPr>
          <p:cNvPr id="31" name="Rounded Rectangle 30"/>
          <p:cNvSpPr/>
          <p:nvPr/>
        </p:nvSpPr>
        <p:spPr>
          <a:xfrm>
            <a:off x="6553047" y="4069080"/>
            <a:ext cx="4907127" cy="68580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53047" y="406908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HTTPRoute</a:t>
            </a:r>
          </a:p>
        </p:txBody>
      </p:sp>
      <p:sp>
        <p:nvSpPr>
          <p:cNvPr id="33" name="TextBox 32"/>
          <p:cNvSpPr txBox="1"/>
          <p:nvPr/>
        </p:nvSpPr>
        <p:spPr>
          <a:xfrm>
            <a:off x="9631375" y="406908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App developer</a:t>
            </a:r>
          </a:p>
        </p:txBody>
      </p:sp>
      <p:sp>
        <p:nvSpPr>
          <p:cNvPr id="34" name="Rectangle 33"/>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6" name="TextBox 3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12 / 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Gateway API with Envoy Gateway on AKS</a:t>
            </a:r>
          </a:p>
        </p:txBody>
      </p:sp>
      <p:sp>
        <p:nvSpPr>
          <p:cNvPr id="7" name="TextBox 6"/>
          <p:cNvSpPr txBox="1"/>
          <p:nvPr/>
        </p:nvSpPr>
        <p:spPr>
          <a:xfrm>
            <a:off x="457200" y="10972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8" name="Oval 7"/>
          <p:cNvSpPr/>
          <p:nvPr/>
        </p:nvSpPr>
        <p:spPr>
          <a:xfrm>
            <a:off x="457200" y="1463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463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0" name="TextBox 9"/>
          <p:cNvSpPr txBox="1"/>
          <p:nvPr/>
        </p:nvSpPr>
        <p:spPr>
          <a:xfrm>
            <a:off x="960120" y="1481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Install Envoy Gateway (CRDs + controller)</a:t>
            </a:r>
          </a:p>
        </p:txBody>
      </p:sp>
      <p:sp>
        <p:nvSpPr>
          <p:cNvPr id="11" name="Rounded Rectangle 10"/>
          <p:cNvSpPr/>
          <p:nvPr/>
        </p:nvSpPr>
        <p:spPr>
          <a:xfrm>
            <a:off x="7589520" y="10972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589520" y="10972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0" y="10972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14" name="Rounded Rectangle 13"/>
          <p:cNvSpPr/>
          <p:nvPr/>
        </p:nvSpPr>
        <p:spPr>
          <a:xfrm>
            <a:off x="7589520" y="37033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38862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16" name="TextBox 15"/>
          <p:cNvSpPr txBox="1"/>
          <p:nvPr/>
        </p:nvSpPr>
        <p:spPr>
          <a:xfrm>
            <a:off x="7818120" y="42062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17" name="Rectangle 16"/>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9" name="Rounded Rectangle 18"/>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21" name="TextBox 2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13 / 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Application Gateway for Containers (AGC)</a:t>
            </a:r>
          </a:p>
        </p:txBody>
      </p:sp>
      <p:sp>
        <p:nvSpPr>
          <p:cNvPr id="7" name="TextBox 6"/>
          <p:cNvSpPr txBox="1"/>
          <p:nvPr/>
        </p:nvSpPr>
        <p:spPr>
          <a:xfrm>
            <a:off x="457200" y="1097280"/>
            <a:ext cx="11277295" cy="1548378"/>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What it is</a:t>
            </a:r>
          </a:p>
          <a:p>
            <a:pPr>
              <a:spcAft>
                <a:spcPts val="200"/>
              </a:spcAft>
            </a:pPr>
            <a:r>
              <a:rPr sz="1400" b="1">
                <a:solidFill>
                  <a:srgbClr val="0078D4"/>
                </a:solidFill>
                <a:latin typeface="Calibri"/>
              </a:rPr>
              <a:t>▸ </a:t>
            </a:r>
            <a:r>
              <a:rPr sz="1400" b="0" i="0">
                <a:solidFill>
                  <a:srgbClr val="1F2A44"/>
                </a:solidFill>
                <a:latin typeface="Calibri"/>
              </a:rPr>
              <a:t>Azure-managed L7 load balancer, evolution of Application Gateway</a:t>
            </a:r>
          </a:p>
          <a:p>
            <a:pPr>
              <a:spcAft>
                <a:spcPts val="200"/>
              </a:spcAft>
            </a:pPr>
            <a:r>
              <a:rPr sz="1400" b="1">
                <a:solidFill>
                  <a:srgbClr val="0078D4"/>
                </a:solidFill>
                <a:latin typeface="Calibri"/>
              </a:rPr>
              <a:t>▸ </a:t>
            </a:r>
            <a:r>
              <a:rPr sz="1400" b="0" i="0">
                <a:solidFill>
                  <a:srgbClr val="1F2A44"/>
                </a:solidFill>
                <a:latin typeface="Calibri"/>
              </a:rPr>
              <a:t>Native Gateway API implementation (the ALB Controller installs </a:t>
            </a:r>
            <a:r>
              <a:rPr sz="1400" b="0">
                <a:solidFill>
                  <a:srgbClr val="B01060"/>
                </a:solidFill>
                <a:latin typeface="Consolas"/>
              </a:rPr>
              <a:t>GatewayClass: azure-alb-external</a:t>
            </a:r>
            <a:r>
              <a:rPr sz="1400" b="0" i="0">
                <a:solidFill>
                  <a:srgbClr val="1F2A44"/>
                </a:solidFill>
                <a:latin typeface="Calibri"/>
              </a:rPr>
              <a:t>)</a:t>
            </a:r>
          </a:p>
          <a:p>
            <a:pPr>
              <a:spcAft>
                <a:spcPts val="200"/>
              </a:spcAft>
            </a:pPr>
            <a:r>
              <a:rPr sz="1400" b="1">
                <a:solidFill>
                  <a:srgbClr val="0078D4"/>
                </a:solidFill>
                <a:latin typeface="Calibri"/>
              </a:rPr>
              <a:t>▸ </a:t>
            </a:r>
            <a:r>
              <a:rPr sz="1400" b="0" i="0">
                <a:solidFill>
                  <a:srgbClr val="1F2A44"/>
                </a:solidFill>
                <a:latin typeface="Calibri"/>
              </a:rPr>
              <a:t>Replaces AGIC (Ingress-based) for new workloads</a:t>
            </a:r>
          </a:p>
          <a:p>
            <a:pPr>
              <a:spcAft>
                <a:spcPts val="200"/>
              </a:spcAft>
            </a:pPr>
            <a:r>
              <a:rPr sz="1400" b="1">
                <a:solidFill>
                  <a:srgbClr val="0078D4"/>
                </a:solidFill>
                <a:latin typeface="Calibri"/>
              </a:rPr>
              <a:t>▸ </a:t>
            </a:r>
            <a:r>
              <a:rPr sz="1400" b="0" i="0">
                <a:solidFill>
                  <a:srgbClr val="1F2A44"/>
                </a:solidFill>
                <a:latin typeface="Calibri"/>
              </a:rPr>
              <a:t>WAF, mTLS to backends, HTTP/2 + gRPC, path/header routing, weighted splits</a:t>
            </a:r>
          </a:p>
        </p:txBody>
      </p:sp>
      <p:sp>
        <p:nvSpPr>
          <p:cNvPr id="8" name="TextBox 7"/>
          <p:cNvSpPr txBox="1"/>
          <p:nvPr/>
        </p:nvSpPr>
        <p:spPr>
          <a:xfrm>
            <a:off x="457200" y="2700522"/>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How it "jacks into" the cluster</a:t>
            </a:r>
          </a:p>
        </p:txBody>
      </p:sp>
      <p:sp>
        <p:nvSpPr>
          <p:cNvPr id="9" name="Rectangle 8"/>
          <p:cNvSpPr/>
          <p:nvPr/>
        </p:nvSpPr>
        <p:spPr>
          <a:xfrm>
            <a:off x="457200" y="3059169"/>
            <a:ext cx="11277295" cy="31165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3059169"/>
            <a:ext cx="64008" cy="31165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132321"/>
            <a:ext cx="11048695" cy="297027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a:t>
            </a:r>
          </a:p>
          <a:p>
            <a:pPr>
              <a:lnSpc>
                <a:spcPct val="100000"/>
              </a:lnSpc>
            </a:pPr>
            <a:r>
              <a:rPr sz="900">
                <a:solidFill>
                  <a:srgbClr val="E6E6E6"/>
                </a:solidFill>
                <a:latin typeface="Consolas"/>
              </a:rPr>
              <a:t>                │           Azure subscription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Client ─────▶│  Application Gateway for Containers (PaaS)  │</a:t>
            </a:r>
          </a:p>
          <a:p>
            <a:pPr>
              <a:lnSpc>
                <a:spcPct val="100000"/>
              </a:lnSpc>
            </a:pPr>
            <a:r>
              <a:rPr sz="900">
                <a:solidFill>
                  <a:srgbClr val="E6E6E6"/>
                </a:solidFill>
                <a:latin typeface="Consolas"/>
              </a:rPr>
              <a:t>                │   (frontend IP, listeners, WAF)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 associated via Association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Delegated subnet (AGC frontend)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data plane connects to pod IPs</a:t>
            </a:r>
          </a:p>
          <a:p>
            <a:pPr>
              <a:lnSpc>
                <a:spcPct val="100000"/>
              </a:lnSpc>
            </a:pPr>
            <a:r>
              <a:rPr sz="900">
                <a:solidFill>
                  <a:srgbClr val="E6E6E6"/>
                </a:solidFill>
                <a:latin typeface="Consolas"/>
              </a:rPr>
              <a:t>                             ▼   (Azure CNI pod IP, no kube-proxy hop)</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AKS cluster (VNet-integrated)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  alb-controller (Deployment) ──┐           │</a:t>
            </a:r>
          </a:p>
          <a:p>
            <a:pPr>
              <a:lnSpc>
                <a:spcPct val="100000"/>
              </a:lnSpc>
            </a:pPr>
            <a:r>
              <a:rPr sz="900">
                <a:solidFill>
                  <a:srgbClr val="E6E6E6"/>
                </a:solidFill>
                <a:latin typeface="Consolas"/>
              </a:rPr>
              <a:t>                │     ▲ watches Gateway/Route    │ uses      │</a:t>
            </a:r>
          </a:p>
          <a:p>
            <a:pPr>
              <a:lnSpc>
                <a:spcPct val="100000"/>
              </a:lnSpc>
            </a:pPr>
            <a:r>
              <a:rPr sz="900">
                <a:solidFill>
                  <a:srgbClr val="E6E6E6"/>
                </a:solidFill>
                <a:latin typeface="Consolas"/>
              </a:rPr>
              <a:t>                │     │                          ▼  workload │</a:t>
            </a:r>
          </a:p>
          <a:p>
            <a:pPr>
              <a:lnSpc>
                <a:spcPct val="100000"/>
              </a:lnSpc>
            </a:pPr>
            <a:r>
              <a:rPr sz="900">
                <a:solidFill>
                  <a:srgbClr val="E6E6E6"/>
                </a:solidFill>
                <a:latin typeface="Consolas"/>
              </a:rPr>
              <a:t>                │  Gateway (gatewayClassName:    │  identity │</a:t>
            </a:r>
          </a:p>
          <a:p>
            <a:pPr>
              <a:lnSpc>
                <a:spcPct val="100000"/>
              </a:lnSpc>
            </a:pPr>
            <a:r>
              <a:rPr sz="900">
                <a:solidFill>
                  <a:srgbClr val="E6E6E6"/>
                </a:solidFill>
                <a:latin typeface="Consolas"/>
              </a:rPr>
              <a:t>                │      azure-alb-external) ──────┘           │</a:t>
            </a:r>
          </a:p>
          <a:p>
            <a:pPr>
              <a:lnSpc>
                <a:spcPct val="100000"/>
              </a:lnSpc>
            </a:pPr>
            <a:r>
              <a:rPr sz="900">
                <a:solidFill>
                  <a:srgbClr val="E6E6E6"/>
                </a:solidFill>
                <a:latin typeface="Consolas"/>
              </a:rPr>
              <a:t>                │  HTTPRoute → Service → Pod                 │</a:t>
            </a:r>
          </a:p>
          <a:p>
            <a:pPr>
              <a:lnSpc>
                <a:spcPct val="100000"/>
              </a:lnSpc>
            </a:pPr>
            <a:r>
              <a:rPr sz="900">
                <a:solidFill>
                  <a:srgbClr val="E6E6E6"/>
                </a:solidFill>
                <a:latin typeface="Consolas"/>
              </a:rPr>
              <a:t>                └────────────────────────────────────────────┘</a:t>
            </a:r>
          </a:p>
        </p:txBody>
      </p:sp>
      <p:sp>
        <p:nvSpPr>
          <p:cNvPr id="12" name="Rectangle 1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4" name="TextBox 13"/>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14 / 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Deploying AGC with Gateway API</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Provision Application Gateway for Containers next to an AKS cluster, wire it in via a delegated subnet, and let the ALB Controller drive it from standard Gateway API objects using Workload Identity.</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Networking</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AKS with workload identity + Azure CNI</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Managed identity + federated credential for the ALB Controller</a:t>
            </a:r>
          </a:p>
        </p:txBody>
      </p:sp>
      <p:sp>
        <p:nvSpPr>
          <p:cNvPr id="18" name="Oval 17"/>
          <p:cNvSpPr/>
          <p:nvPr/>
        </p:nvSpPr>
        <p:spPr>
          <a:xfrm>
            <a:off x="457200" y="35204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5204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4</a:t>
            </a:r>
          </a:p>
        </p:txBody>
      </p:sp>
      <p:sp>
        <p:nvSpPr>
          <p:cNvPr id="20" name="TextBox 19"/>
          <p:cNvSpPr txBox="1"/>
          <p:nvPr/>
        </p:nvSpPr>
        <p:spPr>
          <a:xfrm>
            <a:off x="960120" y="35387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Install the ALB Controller</a:t>
            </a:r>
          </a:p>
        </p:txBody>
      </p:sp>
      <p:sp>
        <p:nvSpPr>
          <p:cNvPr id="21" name="Oval 20"/>
          <p:cNvSpPr/>
          <p:nvPr/>
        </p:nvSpPr>
        <p:spPr>
          <a:xfrm>
            <a:off x="457200" y="39776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9776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5</a:t>
            </a:r>
          </a:p>
        </p:txBody>
      </p:sp>
      <p:sp>
        <p:nvSpPr>
          <p:cNvPr id="23" name="TextBox 22"/>
          <p:cNvSpPr txBox="1"/>
          <p:nvPr/>
        </p:nvSpPr>
        <p:spPr>
          <a:xfrm>
            <a:off x="960120" y="39959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Create the AGC resource and Association (delegated subnet)</a:t>
            </a:r>
          </a:p>
        </p:txBody>
      </p:sp>
      <p:sp>
        <p:nvSpPr>
          <p:cNvPr id="24" name="Oval 23"/>
          <p:cNvSpPr/>
          <p:nvPr/>
        </p:nvSpPr>
        <p:spPr>
          <a:xfrm>
            <a:off x="457200" y="4434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34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6</a:t>
            </a:r>
          </a:p>
        </p:txBody>
      </p:sp>
      <p:sp>
        <p:nvSpPr>
          <p:cNvPr id="26" name="TextBox 25"/>
          <p:cNvSpPr txBox="1"/>
          <p:nvPr/>
        </p:nvSpPr>
        <p:spPr>
          <a:xfrm>
            <a:off x="960120" y="4453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Gateway + HTTPRoute (managed by ALB Controller)</a:t>
            </a:r>
          </a:p>
        </p:txBody>
      </p:sp>
      <p:sp>
        <p:nvSpPr>
          <p:cNvPr id="27" name="Rounded Rectangle 26"/>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30" name="Oval 29"/>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AKS cluster + VNet with a delegated subnet for AGC</a:t>
            </a:r>
          </a:p>
        </p:txBody>
      </p:sp>
      <p:sp>
        <p:nvSpPr>
          <p:cNvPr id="32" name="Oval 31"/>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User-assigned Managed Identity + federated credential</a:t>
            </a:r>
          </a:p>
        </p:txBody>
      </p:sp>
      <p:sp>
        <p:nvSpPr>
          <p:cNvPr id="34" name="Oval 33"/>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ALB Controller installed via Helm with Workload Identity</a:t>
            </a:r>
          </a:p>
        </p:txBody>
      </p:sp>
      <p:sp>
        <p:nvSpPr>
          <p:cNvPr id="36" name="Oval 35"/>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AGC resource + Association live, Gateway + HTTPRoute serving traffic</a:t>
            </a:r>
          </a:p>
        </p:txBody>
      </p:sp>
      <p:sp>
        <p:nvSpPr>
          <p:cNvPr id="38" name="Rounded Rectangle 37"/>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40" name="TextBox 39"/>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41" name="Rectangle 4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43" name="Rounded Rectangle 42"/>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45" name="TextBox 44"/>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15 / 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Legacy reference: NGINX Ingress on AKS</a:t>
            </a:r>
          </a:p>
        </p:txBody>
      </p:sp>
      <p:sp>
        <p:nvSpPr>
          <p:cNvPr id="7" name="Rectangle 6"/>
          <p:cNvSpPr/>
          <p:nvPr/>
        </p:nvSpPr>
        <p:spPr>
          <a:xfrm>
            <a:off x="457200" y="1097280"/>
            <a:ext cx="11277295" cy="18338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18338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1687576"/>
          </a:xfrm>
          <a:prstGeom prst="rect">
            <a:avLst/>
          </a:prstGeom>
          <a:noFill/>
        </p:spPr>
        <p:txBody>
          <a:bodyPr wrap="none" lIns="36576" rIns="36576" tIns="18288" bIns="18288">
            <a:spAutoFit/>
          </a:bodyPr>
          <a:lstStyle/>
          <a:p>
            <a:pPr>
              <a:lnSpc>
                <a:spcPct val="100000"/>
              </a:lnSpc>
            </a:pPr>
            <a:r>
              <a:rPr sz="1100">
                <a:solidFill>
                  <a:srgbClr val="E6E6E6"/>
                </a:solidFill>
                <a:latin typeface="Consolas"/>
              </a:rPr>
              <a:t>   Client</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Azure SLB ──▶ Service type=LoadBalancer</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ingress-nginx Pod  (Deployment, in-cluster)</a:t>
            </a:r>
          </a:p>
          <a:p>
            <a:pPr>
              <a:lnSpc>
                <a:spcPct val="100000"/>
              </a:lnSpc>
            </a:pPr>
            <a:r>
              <a:rPr sz="1100">
                <a:solidFill>
                  <a:srgbClr val="E6E6E6"/>
                </a:solidFill>
                <a:latin typeface="Consolas"/>
              </a:rPr>
              <a:t>                       │  reads Ingress + annotations</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Service ──► Pod (via kube-proxy)</a:t>
            </a:r>
          </a:p>
        </p:txBody>
      </p:sp>
      <p:sp>
        <p:nvSpPr>
          <p:cNvPr id="10" name="TextBox 9"/>
          <p:cNvSpPr txBox="1"/>
          <p:nvPr/>
        </p:nvSpPr>
        <p:spPr>
          <a:xfrm>
            <a:off x="457200" y="3022600"/>
            <a:ext cx="11277295" cy="1299459"/>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Single resource (</a:t>
            </a:r>
            <a:r>
              <a:rPr sz="1400" b="0">
                <a:solidFill>
                  <a:srgbClr val="B01060"/>
                </a:solidFill>
                <a:latin typeface="Consolas"/>
              </a:rPr>
              <a:t>Ingress</a:t>
            </a:r>
            <a:r>
              <a:rPr sz="1400" b="0" i="0">
                <a:solidFill>
                  <a:srgbClr val="1F2A44"/>
                </a:solidFill>
                <a:latin typeface="Calibri"/>
              </a:rPr>
              <a:t>) with vendor-specific annotations</a:t>
            </a:r>
          </a:p>
          <a:p>
            <a:pPr>
              <a:spcAft>
                <a:spcPts val="200"/>
              </a:spcAft>
            </a:pPr>
            <a:r>
              <a:rPr sz="1400" b="1">
                <a:solidFill>
                  <a:srgbClr val="0078D4"/>
                </a:solidFill>
                <a:latin typeface="Calibri"/>
              </a:rPr>
              <a:t>▸ </a:t>
            </a:r>
            <a:r>
              <a:rPr sz="1400" b="0" i="0">
                <a:solidFill>
                  <a:srgbClr val="1F2A44"/>
                </a:solidFill>
                <a:latin typeface="Calibri"/>
              </a:rPr>
              <a:t>Extra in-cluster hop (NGINX pod), and another via kube-proxy</a:t>
            </a:r>
          </a:p>
          <a:p>
            <a:pPr>
              <a:spcAft>
                <a:spcPts val="200"/>
              </a:spcAft>
            </a:pPr>
            <a:r>
              <a:rPr sz="1400" b="1">
                <a:solidFill>
                  <a:srgbClr val="0078D4"/>
                </a:solidFill>
                <a:latin typeface="Calibri"/>
              </a:rPr>
              <a:t>▸ </a:t>
            </a:r>
            <a:r>
              <a:rPr sz="1400" b="0" i="0">
                <a:solidFill>
                  <a:srgbClr val="1F2A44"/>
                </a:solidFill>
                <a:latin typeface="Calibri"/>
              </a:rPr>
              <a:t>Still works and Kubernetes Ingress is stable, but the model is limited</a:t>
            </a:r>
          </a:p>
          <a:p>
            <a:pPr>
              <a:spcAft>
                <a:spcPts val="200"/>
              </a:spcAft>
            </a:pPr>
            <a:r>
              <a:rPr sz="1400" b="1">
                <a:solidFill>
                  <a:srgbClr val="0078D4"/>
                </a:solidFill>
                <a:latin typeface="Calibri"/>
              </a:rPr>
              <a:t>▸ </a:t>
            </a:r>
            <a:r>
              <a:rPr sz="1400" b="0" i="0">
                <a:solidFill>
                  <a:srgbClr val="1F2A44"/>
                </a:solidFill>
                <a:latin typeface="Calibri"/>
              </a:rPr>
              <a:t>For new platform designs, Gateway API gives cleaner ownership, portability, and typed extension points</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16 / 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3</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How AGC integrates with Gateway API on AKS</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End-to-end: AGC + Gateway API + AKS</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Traffic flow: client → AGC → pod (request lifecycle)</a:t>
            </a:r>
          </a:p>
        </p:txBody>
      </p:sp>
      <p:sp>
        <p:nvSpPr>
          <p:cNvPr id="13" name="TextBox 12"/>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17 / 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AGC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End-to-end: AGC + Gateway API + AKS</a:t>
            </a:r>
          </a:p>
        </p:txBody>
      </p:sp>
      <p:sp>
        <p:nvSpPr>
          <p:cNvPr id="7" name="Rectangle 6"/>
          <p:cNvSpPr/>
          <p:nvPr/>
        </p:nvSpPr>
        <p:spPr>
          <a:xfrm>
            <a:off x="457200" y="1097280"/>
            <a:ext cx="11277295" cy="271653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271653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257022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 App team (namespace: demo) ─┐    ┌─ Platform team (namespace: edge) ─┐</a:t>
            </a:r>
          </a:p>
          <a:p>
            <a:pPr>
              <a:lnSpc>
                <a:spcPct val="100000"/>
              </a:lnSpc>
            </a:pPr>
            <a:r>
              <a:rPr sz="900">
                <a:solidFill>
                  <a:srgbClr val="E6E6E6"/>
                </a:solidFill>
                <a:latin typeface="Consolas"/>
              </a:rPr>
              <a:t>    │                              │    │                                   │</a:t>
            </a:r>
          </a:p>
          <a:p>
            <a:pPr>
              <a:lnSpc>
                <a:spcPct val="100000"/>
              </a:lnSpc>
            </a:pPr>
            <a:r>
              <a:rPr sz="900">
                <a:solidFill>
                  <a:srgbClr val="E6E6E6"/>
                </a:solidFill>
                <a:latin typeface="Consolas"/>
              </a:rPr>
              <a:t>    │  HTTPRoute  ────parentRefs──▶│────│▶  Gateway (azure-alb-external)    │</a:t>
            </a:r>
          </a:p>
          <a:p>
            <a:pPr>
              <a:lnSpc>
                <a:spcPct val="100000"/>
              </a:lnSpc>
            </a:pPr>
            <a:r>
              <a:rPr sz="900">
                <a:solidFill>
                  <a:srgbClr val="E6E6E6"/>
                </a:solidFill>
                <a:latin typeface="Consolas"/>
              </a:rPr>
              <a:t>    │   hostnames, paths,          │    │   listeners, TLS, hostnames       │</a:t>
            </a:r>
          </a:p>
          <a:p>
            <a:pPr>
              <a:lnSpc>
                <a:spcPct val="100000"/>
              </a:lnSpc>
            </a:pPr>
            <a:r>
              <a:rPr sz="900">
                <a:solidFill>
                  <a:srgbClr val="E6E6E6"/>
                </a:solidFill>
                <a:latin typeface="Consolas"/>
              </a:rPr>
              <a:t>    │   header rules, splits       │    │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 reconciled by</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alb-controller (in-cluster, WI)</a:t>
            </a:r>
          </a:p>
          <a:p>
            <a:pPr>
              <a:lnSpc>
                <a:spcPct val="100000"/>
              </a:lnSpc>
            </a:pPr>
            <a:r>
              <a:rPr sz="900">
                <a:solidFill>
                  <a:srgbClr val="E6E6E6"/>
                </a:solidFill>
                <a:latin typeface="Consolas"/>
              </a:rPr>
              <a:t>                                                        │ ARM API calls</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Application Gateway for Containers (PaaS)</a:t>
            </a:r>
          </a:p>
          <a:p>
            <a:pPr>
              <a:lnSpc>
                <a:spcPct val="100000"/>
              </a:lnSpc>
            </a:pPr>
            <a:r>
              <a:rPr sz="900">
                <a:solidFill>
                  <a:srgbClr val="E6E6E6"/>
                </a:solidFill>
                <a:latin typeface="Consolas"/>
              </a:rPr>
              <a:t>                                  ├─ frontend(s) (public/private IP)</a:t>
            </a:r>
          </a:p>
          <a:p>
            <a:pPr>
              <a:lnSpc>
                <a:spcPct val="100000"/>
              </a:lnSpc>
            </a:pPr>
            <a:r>
              <a:rPr sz="900">
                <a:solidFill>
                  <a:srgbClr val="E6E6E6"/>
                </a:solidFill>
                <a:latin typeface="Consolas"/>
              </a:rPr>
              <a:t>                                  ├─ listener rules from Gateway listeners</a:t>
            </a:r>
          </a:p>
          <a:p>
            <a:pPr>
              <a:lnSpc>
                <a:spcPct val="100000"/>
              </a:lnSpc>
            </a:pPr>
            <a:r>
              <a:rPr sz="900">
                <a:solidFill>
                  <a:srgbClr val="E6E6E6"/>
                </a:solidFill>
                <a:latin typeface="Consolas"/>
              </a:rPr>
              <a:t>                                  ├─ backend settings from HTTPRoute filters</a:t>
            </a:r>
          </a:p>
          <a:p>
            <a:pPr>
              <a:lnSpc>
                <a:spcPct val="100000"/>
              </a:lnSpc>
            </a:pPr>
            <a:r>
              <a:rPr sz="900">
                <a:solidFill>
                  <a:srgbClr val="E6E6E6"/>
                </a:solidFill>
                <a:latin typeface="Consolas"/>
              </a:rPr>
              <a:t>                                  └─ backend pool = pod IPs from EndpointSlice</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AKS pods (Azure CNI)</a:t>
            </a:r>
          </a:p>
        </p:txBody>
      </p:sp>
      <p:sp>
        <p:nvSpPr>
          <p:cNvPr id="10" name="TextBox 9"/>
          <p:cNvSpPr txBox="1"/>
          <p:nvPr/>
        </p:nvSpPr>
        <p:spPr>
          <a:xfrm>
            <a:off x="457200" y="3905250"/>
            <a:ext cx="11277295" cy="1797297"/>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Why this is great</a:t>
            </a:r>
          </a:p>
          <a:p>
            <a:pPr>
              <a:spcAft>
                <a:spcPts val="200"/>
              </a:spcAft>
            </a:pPr>
            <a:r>
              <a:rPr sz="1400" b="1">
                <a:solidFill>
                  <a:srgbClr val="0078D4"/>
                </a:solidFill>
                <a:latin typeface="Calibri"/>
              </a:rPr>
              <a:t>▸ </a:t>
            </a:r>
            <a:r>
              <a:rPr sz="1400" b="1" i="0">
                <a:solidFill>
                  <a:srgbClr val="1F2A44"/>
                </a:solidFill>
                <a:latin typeface="Calibri"/>
              </a:rPr>
              <a:t>Role separation</a:t>
            </a:r>
            <a:r>
              <a:rPr sz="1400" b="0" i="0">
                <a:solidFill>
                  <a:srgbClr val="1F2A44"/>
                </a:solidFill>
                <a:latin typeface="Calibri"/>
              </a:rPr>
              <a:t>: platform owns Gateway, app owns HTTPRoute</a:t>
            </a:r>
          </a:p>
          <a:p>
            <a:pPr>
              <a:spcAft>
                <a:spcPts val="200"/>
              </a:spcAft>
            </a:pPr>
            <a:r>
              <a:rPr sz="1400" b="1">
                <a:solidFill>
                  <a:srgbClr val="0078D4"/>
                </a:solidFill>
                <a:latin typeface="Calibri"/>
              </a:rPr>
              <a:t>▸ </a:t>
            </a:r>
            <a:r>
              <a:rPr sz="1400" b="1" i="0">
                <a:solidFill>
                  <a:srgbClr val="1F2A44"/>
                </a:solidFill>
                <a:latin typeface="Calibri"/>
              </a:rPr>
              <a:t>Direct pod targeting</a:t>
            </a:r>
            <a:r>
              <a:rPr sz="1400" b="0" i="0">
                <a:solidFill>
                  <a:srgbClr val="1F2A44"/>
                </a:solidFill>
                <a:latin typeface="Calibri"/>
              </a:rPr>
              <a:t>: AGC backend pool = real pod IPs, no extra hop</a:t>
            </a:r>
          </a:p>
          <a:p>
            <a:pPr>
              <a:spcAft>
                <a:spcPts val="200"/>
              </a:spcAft>
            </a:pPr>
            <a:r>
              <a:rPr sz="1400" b="1">
                <a:solidFill>
                  <a:srgbClr val="0078D4"/>
                </a:solidFill>
                <a:latin typeface="Calibri"/>
              </a:rPr>
              <a:t>▸ </a:t>
            </a:r>
            <a:r>
              <a:rPr sz="1400" b="1" i="0">
                <a:solidFill>
                  <a:srgbClr val="1F2A44"/>
                </a:solidFill>
                <a:latin typeface="Calibri"/>
              </a:rPr>
              <a:t>Identity, not secrets</a:t>
            </a:r>
            <a:r>
              <a:rPr sz="1400" b="0" i="0">
                <a:solidFill>
                  <a:srgbClr val="1F2A44"/>
                </a:solidFill>
                <a:latin typeface="Calibri"/>
              </a:rPr>
              <a:t>: ALB Controller uses Workload Identity + federated credential</a:t>
            </a:r>
          </a:p>
          <a:p>
            <a:pPr>
              <a:spcAft>
                <a:spcPts val="200"/>
              </a:spcAft>
            </a:pPr>
            <a:r>
              <a:rPr sz="1400" b="1">
                <a:solidFill>
                  <a:srgbClr val="0078D4"/>
                </a:solidFill>
                <a:latin typeface="Calibri"/>
              </a:rPr>
              <a:t>▸ </a:t>
            </a:r>
            <a:r>
              <a:rPr sz="1400" b="1" i="0">
                <a:solidFill>
                  <a:srgbClr val="1F2A44"/>
                </a:solidFill>
                <a:latin typeface="Calibri"/>
              </a:rPr>
              <a:t>Portable spec</a:t>
            </a:r>
            <a:r>
              <a:rPr sz="1400" b="0" i="0">
                <a:solidFill>
                  <a:srgbClr val="1F2A44"/>
                </a:solidFill>
                <a:latin typeface="Calibri"/>
              </a:rPr>
              <a:t>: same </a:t>
            </a:r>
            <a:r>
              <a:rPr sz="1400" b="0">
                <a:solidFill>
                  <a:srgbClr val="B01060"/>
                </a:solidFill>
                <a:latin typeface="Consolas"/>
              </a:rPr>
              <a:t>HTTPRoute</a:t>
            </a:r>
            <a:r>
              <a:rPr sz="1400" b="0" i="0">
                <a:solidFill>
                  <a:srgbClr val="1F2A44"/>
                </a:solidFill>
                <a:latin typeface="Calibri"/>
              </a:rPr>
              <a:t> yaml runs against Envoy Gateway in dev and AGC in prod</a:t>
            </a:r>
          </a:p>
          <a:p>
            <a:pPr>
              <a:spcAft>
                <a:spcPts val="200"/>
              </a:spcAft>
            </a:pPr>
            <a:r>
              <a:rPr sz="1400" b="1">
                <a:solidFill>
                  <a:srgbClr val="0078D4"/>
                </a:solidFill>
                <a:latin typeface="Calibri"/>
              </a:rPr>
              <a:t>▸ </a:t>
            </a:r>
            <a:r>
              <a:rPr sz="1400" b="1" i="0">
                <a:solidFill>
                  <a:srgbClr val="1F2A44"/>
                </a:solidFill>
                <a:latin typeface="Calibri"/>
              </a:rPr>
              <a:t>Enterprise edge features for free</a:t>
            </a:r>
            <a:r>
              <a:rPr sz="1400" b="0" i="0">
                <a:solidFill>
                  <a:srgbClr val="1F2A44"/>
                </a:solidFill>
                <a:latin typeface="Calibri"/>
              </a:rPr>
              <a:t>: WAF, mTLS to backend, autoscaled PaaS, Azure Monitor integration</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18 / 25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AGC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Traffic flow: client → AGC → pod (request lifecycle)</a:t>
            </a:r>
          </a:p>
        </p:txBody>
      </p:sp>
      <p:sp>
        <p:nvSpPr>
          <p:cNvPr id="7" name="Rectangle 6"/>
          <p:cNvSpPr/>
          <p:nvPr/>
        </p:nvSpPr>
        <p:spPr>
          <a:xfrm>
            <a:off x="457200" y="1097280"/>
            <a:ext cx="11277295" cy="18338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18338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1687576"/>
          </a:xfrm>
          <a:prstGeom prst="rect">
            <a:avLst/>
          </a:prstGeom>
          <a:noFill/>
        </p:spPr>
        <p:txBody>
          <a:bodyPr wrap="none" lIns="36576" rIns="36576" tIns="18288" bIns="18288">
            <a:spAutoFit/>
          </a:bodyPr>
          <a:lstStyle/>
          <a:p>
            <a:pPr>
              <a:lnSpc>
                <a:spcPct val="100000"/>
              </a:lnSpc>
            </a:pPr>
            <a:r>
              <a:rPr sz="1100">
                <a:solidFill>
                  <a:srgbClr val="E6E6E6"/>
                </a:solidFill>
                <a:latin typeface="Consolas"/>
              </a:rPr>
              <a:t>  1. DNS:  app.contoso.com  → AGC frontend IP</a:t>
            </a:r>
          </a:p>
          <a:p>
            <a:pPr>
              <a:lnSpc>
                <a:spcPct val="100000"/>
              </a:lnSpc>
            </a:pPr>
            <a:r>
              <a:rPr sz="1100">
                <a:solidFill>
                  <a:srgbClr val="E6E6E6"/>
                </a:solidFill>
                <a:latin typeface="Consolas"/>
              </a:rPr>
              <a:t>  2. Client TCP+TLS to AGC                         (TLS terminated at AGC)</a:t>
            </a:r>
          </a:p>
          <a:p>
            <a:pPr>
              <a:lnSpc>
                <a:spcPct val="100000"/>
              </a:lnSpc>
            </a:pPr>
            <a:r>
              <a:rPr sz="1100">
                <a:solidFill>
                  <a:srgbClr val="E6E6E6"/>
                </a:solidFill>
                <a:latin typeface="Consolas"/>
              </a:rPr>
              <a:t>  3. AGC listener matches host/path/headers        (from Gateway+HTTPRoute)</a:t>
            </a:r>
          </a:p>
          <a:p>
            <a:pPr>
              <a:lnSpc>
                <a:spcPct val="100000"/>
              </a:lnSpc>
            </a:pPr>
            <a:r>
              <a:rPr sz="1100">
                <a:solidFill>
                  <a:srgbClr val="E6E6E6"/>
                </a:solidFill>
                <a:latin typeface="Consolas"/>
              </a:rPr>
              <a:t>  4. WAF inspects request                          (if WAF policy attached)</a:t>
            </a:r>
          </a:p>
          <a:p>
            <a:pPr>
              <a:lnSpc>
                <a:spcPct val="100000"/>
              </a:lnSpc>
            </a:pPr>
            <a:r>
              <a:rPr sz="1100">
                <a:solidFill>
                  <a:srgbClr val="E6E6E6"/>
                </a:solidFill>
                <a:latin typeface="Consolas"/>
              </a:rPr>
              <a:t>  5. AGC picks healthy backend from pool           (pool = pod IPs)</a:t>
            </a:r>
          </a:p>
          <a:p>
            <a:pPr>
              <a:lnSpc>
                <a:spcPct val="100000"/>
              </a:lnSpc>
            </a:pPr>
            <a:r>
              <a:rPr sz="1100">
                <a:solidFill>
                  <a:srgbClr val="E6E6E6"/>
                </a:solidFill>
                <a:latin typeface="Consolas"/>
              </a:rPr>
              <a:t>  6. AGC opens connection to pod IP in delegated   (Azure CNI: pods have</a:t>
            </a:r>
          </a:p>
          <a:p>
            <a:pPr>
              <a:lnSpc>
                <a:spcPct val="100000"/>
              </a:lnSpc>
            </a:pPr>
            <a:r>
              <a:rPr sz="1100">
                <a:solidFill>
                  <a:srgbClr val="E6E6E6"/>
                </a:solidFill>
                <a:latin typeface="Consolas"/>
              </a:rPr>
              <a:t>     subnet's peer — directly to the pod            VNet IPs, routable)</a:t>
            </a:r>
          </a:p>
          <a:p>
            <a:pPr>
              <a:lnSpc>
                <a:spcPct val="100000"/>
              </a:lnSpc>
            </a:pPr>
            <a:r>
              <a:rPr sz="1100">
                <a:solidFill>
                  <a:srgbClr val="E6E6E6"/>
                </a:solidFill>
                <a:latin typeface="Consolas"/>
              </a:rPr>
              <a:t>  7. (Optional) mTLS to backend, HTTP/2 / gRPC</a:t>
            </a:r>
          </a:p>
          <a:p>
            <a:pPr>
              <a:lnSpc>
                <a:spcPct val="100000"/>
              </a:lnSpc>
            </a:pPr>
            <a:r>
              <a:rPr sz="1100">
                <a:solidFill>
                  <a:srgbClr val="E6E6E6"/>
                </a:solidFill>
                <a:latin typeface="Consolas"/>
              </a:rPr>
              <a:t>  8. Response returns through AGC to client</a:t>
            </a:r>
          </a:p>
          <a:p>
            <a:pPr>
              <a:lnSpc>
                <a:spcPct val="100000"/>
              </a:lnSpc>
            </a:pPr>
            <a:r>
              <a:rPr sz="1100">
                <a:solidFill>
                  <a:srgbClr val="E6E6E6"/>
                </a:solidFill>
                <a:latin typeface="Consolas"/>
              </a:rPr>
              <a:t>  9. Telemetry → Azure Monitor / Log Analytics</a:t>
            </a:r>
          </a:p>
        </p:txBody>
      </p:sp>
      <p:sp>
        <p:nvSpPr>
          <p:cNvPr id="10" name="Rectangle 9"/>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2" name="TextBox 11"/>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19 / 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4</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Managed Argo CD on AKS</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GitOps on AKS today</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managed Argo CD on AKS matters</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Enabling managed Argo CD</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Recap</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Q&amp;A</a:t>
            </a:r>
          </a:p>
        </p:txBody>
      </p:sp>
      <p:sp>
        <p:nvSpPr>
          <p:cNvPr id="19" name="TextBox 18"/>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20 / 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GitOps on AKS today</a:t>
            </a:r>
          </a:p>
        </p:txBody>
      </p:sp>
      <p:sp>
        <p:nvSpPr>
          <p:cNvPr id="7" name="TextBox 6"/>
          <p:cNvSpPr txBox="1"/>
          <p:nvPr/>
        </p:nvSpPr>
        <p:spPr>
          <a:xfrm>
            <a:off x="457200" y="1097280"/>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Two managed options, one model</a:t>
            </a:r>
          </a:p>
        </p:txBody>
      </p:sp>
      <p:graphicFrame>
        <p:nvGraphicFramePr>
          <p:cNvPr id="8" name="Table 7"/>
          <p:cNvGraphicFramePr>
            <a:graphicFrameLocks noGrp="1"/>
          </p:cNvGraphicFramePr>
          <p:nvPr/>
        </p:nvGraphicFramePr>
        <p:xfrm>
          <a:off x="457200" y="1455927"/>
          <a:ext cx="11277294" cy="2734056"/>
        </p:xfrm>
        <a:graphic>
          <a:graphicData uri="http://schemas.openxmlformats.org/drawingml/2006/table">
            <a:tbl>
              <a:tblPr firstRow="1" bandRow="1">
                <a:tableStyleId>{5C22544A-7EE6-4342-B048-85BDC9FD1C3A}</a:tableStyleId>
              </a:tblPr>
              <a:tblGrid>
                <a:gridCol w="3759098"/>
                <a:gridCol w="3759098"/>
                <a:gridCol w="3759098"/>
              </a:tblGrid>
              <a:tr h="390579">
                <a:tc>
                  <a:txBody>
                    <a:bodyPr lIns="73152" rIns="73152" tIns="27432" bIns="27432"/>
                    <a:lstStyle/>
                    <a:p>
                      <a:r>
                        <a:rPr sz="1200" b="1">
                          <a:solidFill>
                            <a:srgbClr val="FFFFFF"/>
                          </a:solidFill>
                          <a:latin typeface="Calibri"/>
                        </a:rPr>
                        <a:t/>
                      </a:r>
                    </a:p>
                  </a:txBody>
                  <a:tcPr>
                    <a:solidFill>
                      <a:srgbClr val="103A6E"/>
                    </a:solidFill>
                  </a:tcPr>
                </a:tc>
                <a:tc>
                  <a:txBody>
                    <a:bodyPr lIns="73152" rIns="73152" tIns="27432" bIns="27432"/>
                    <a:lstStyle/>
                    <a:p>
                      <a:r>
                        <a:rPr sz="1200" b="1">
                          <a:solidFill>
                            <a:srgbClr val="FFFFFF"/>
                          </a:solidFill>
                          <a:latin typeface="Calibri"/>
                        </a:rPr>
                        <a:t>Managed Flux (existing)</a:t>
                      </a:r>
                    </a:p>
                  </a:txBody>
                  <a:tcPr>
                    <a:solidFill>
                      <a:srgbClr val="103A6E"/>
                    </a:solidFill>
                  </a:tcPr>
                </a:tc>
                <a:tc>
                  <a:txBody>
                    <a:bodyPr lIns="73152" rIns="73152" tIns="27432" bIns="27432"/>
                    <a:lstStyle/>
                    <a:p>
                      <a:r>
                        <a:rPr sz="1200" b="1">
                          <a:solidFill>
                            <a:srgbClr val="FFFFFF"/>
                          </a:solidFill>
                          <a:latin typeface="Calibri"/>
                        </a:rPr>
                        <a:t>Managed Argo CD (new)</a:t>
                      </a:r>
                    </a:p>
                  </a:txBody>
                  <a:tcPr>
                    <a:solidFill>
                      <a:srgbClr val="103A6E"/>
                    </a:solidFill>
                  </a:tcPr>
                </a:tc>
              </a:tr>
              <a:tr h="390579">
                <a:tc>
                  <a:txBody>
                    <a:bodyPr lIns="73152" rIns="73152" tIns="27432" bIns="27432"/>
                    <a:lstStyle/>
                    <a:p>
                      <a:r>
                        <a:rPr sz="1200" b="0" i="0">
                          <a:solidFill>
                            <a:srgbClr val="1F2A44"/>
                          </a:solidFill>
                          <a:latin typeface="Calibri"/>
                        </a:rPr>
                        <a:t>Add-on</a:t>
                      </a:r>
                    </a:p>
                  </a:txBody>
                  <a:tcPr>
                    <a:solidFill>
                      <a:srgbClr val="F3F5F9"/>
                    </a:solidFill>
                  </a:tcPr>
                </a:tc>
                <a:tc>
                  <a:txBody>
                    <a:bodyPr lIns="73152" rIns="73152" tIns="27432" bIns="27432"/>
                    <a:lstStyle/>
                    <a:p>
                      <a:r>
                        <a:rPr sz="1200" b="0">
                          <a:solidFill>
                            <a:srgbClr val="B01060"/>
                          </a:solidFill>
                          <a:latin typeface="Consolas"/>
                        </a:rPr>
                        <a:t>microsoft.flux</a:t>
                      </a:r>
                      <a:r>
                        <a:rPr sz="1200" b="0" i="0">
                          <a:solidFill>
                            <a:srgbClr val="1F2A44"/>
                          </a:solidFill>
                          <a:latin typeface="Calibri"/>
                        </a:rPr>
                        <a:t> extension</a:t>
                      </a:r>
                    </a:p>
                  </a:txBody>
                  <a:tcPr>
                    <a:solidFill>
                      <a:srgbClr val="F3F5F9"/>
                    </a:solidFill>
                  </a:tcPr>
                </a:tc>
                <a:tc>
                  <a:txBody>
                    <a:bodyPr lIns="73152" rIns="73152" tIns="27432" bIns="27432"/>
                    <a:lstStyle/>
                    <a:p>
                      <a:r>
                        <a:rPr sz="1200" b="0">
                          <a:solidFill>
                            <a:srgbClr val="B01060"/>
                          </a:solidFill>
                          <a:latin typeface="Consolas"/>
                        </a:rPr>
                        <a:t>microsoft.argocd</a:t>
                      </a:r>
                      <a:r>
                        <a:rPr sz="1200" b="0" i="0">
                          <a:solidFill>
                            <a:srgbClr val="1F2A44"/>
                          </a:solidFill>
                          <a:latin typeface="Calibri"/>
                        </a:rPr>
                        <a:t> extension</a:t>
                      </a:r>
                    </a:p>
                  </a:txBody>
                  <a:tcPr>
                    <a:solidFill>
                      <a:srgbClr val="F3F5F9"/>
                    </a:solidFill>
                  </a:tcPr>
                </a:tc>
              </a:tr>
              <a:tr h="390579">
                <a:tc>
                  <a:txBody>
                    <a:bodyPr lIns="73152" rIns="73152" tIns="27432" bIns="27432"/>
                    <a:lstStyle/>
                    <a:p>
                      <a:r>
                        <a:rPr sz="1200" b="0" i="0">
                          <a:solidFill>
                            <a:srgbClr val="1F2A44"/>
                          </a:solidFill>
                          <a:latin typeface="Calibri"/>
                        </a:rPr>
                        <a:t>UI</a:t>
                      </a:r>
                    </a:p>
                  </a:txBody>
                  <a:tcPr>
                    <a:solidFill>
                      <a:srgbClr val="FFFFFF"/>
                    </a:solidFill>
                  </a:tcPr>
                </a:tc>
                <a:tc>
                  <a:txBody>
                    <a:bodyPr lIns="73152" rIns="73152" tIns="27432" bIns="27432"/>
                    <a:lstStyle/>
                    <a:p>
                      <a:r>
                        <a:rPr sz="1200" b="0" i="0">
                          <a:solidFill>
                            <a:srgbClr val="1F2A44"/>
                          </a:solidFill>
                          <a:latin typeface="Calibri"/>
                        </a:rPr>
                        <a:t>None (CLI / Git only)</a:t>
                      </a:r>
                    </a:p>
                  </a:txBody>
                  <a:tcPr>
                    <a:solidFill>
                      <a:srgbClr val="FFFFFF"/>
                    </a:solidFill>
                  </a:tcPr>
                </a:tc>
                <a:tc>
                  <a:txBody>
                    <a:bodyPr lIns="73152" rIns="73152" tIns="27432" bIns="27432"/>
                    <a:lstStyle/>
                    <a:p>
                      <a:r>
                        <a:rPr sz="1200" b="0" i="0">
                          <a:solidFill>
                            <a:srgbClr val="1F2A44"/>
                          </a:solidFill>
                          <a:latin typeface="Calibri"/>
                        </a:rPr>
                        <a:t>Argo CD Web UI + CLI</a:t>
                      </a:r>
                    </a:p>
                  </a:txBody>
                  <a:tcPr>
                    <a:solidFill>
                      <a:srgbClr val="FFFFFF"/>
                    </a:solidFill>
                  </a:tcPr>
                </a:tc>
              </a:tr>
              <a:tr h="390579">
                <a:tc>
                  <a:txBody>
                    <a:bodyPr lIns="73152" rIns="73152" tIns="27432" bIns="27432"/>
                    <a:lstStyle/>
                    <a:p>
                      <a:r>
                        <a:rPr sz="1200" b="0" i="0">
                          <a:solidFill>
                            <a:srgbClr val="1F2A44"/>
                          </a:solidFill>
                          <a:latin typeface="Calibri"/>
                        </a:rPr>
                        <a:t>Reconciler</a:t>
                      </a:r>
                    </a:p>
                  </a:txBody>
                  <a:tcPr>
                    <a:solidFill>
                      <a:srgbClr val="F3F5F9"/>
                    </a:solidFill>
                  </a:tcPr>
                </a:tc>
                <a:tc>
                  <a:txBody>
                    <a:bodyPr lIns="73152" rIns="73152" tIns="27432" bIns="27432"/>
                    <a:lstStyle/>
                    <a:p>
                      <a:r>
                        <a:rPr sz="1200" b="0" i="0">
                          <a:solidFill>
                            <a:srgbClr val="1F2A44"/>
                          </a:solidFill>
                          <a:latin typeface="Calibri"/>
                        </a:rPr>
                        <a:t>Flux controllers</a:t>
                      </a:r>
                    </a:p>
                  </a:txBody>
                  <a:tcPr>
                    <a:solidFill>
                      <a:srgbClr val="F3F5F9"/>
                    </a:solidFill>
                  </a:tcPr>
                </a:tc>
                <a:tc>
                  <a:txBody>
                    <a:bodyPr lIns="73152" rIns="73152" tIns="27432" bIns="27432"/>
                    <a:lstStyle/>
                    <a:p>
                      <a:r>
                        <a:rPr sz="1200" b="0" i="0">
                          <a:solidFill>
                            <a:srgbClr val="1F2A44"/>
                          </a:solidFill>
                          <a:latin typeface="Calibri"/>
                        </a:rPr>
                        <a:t>Argo CD controllers</a:t>
                      </a:r>
                    </a:p>
                  </a:txBody>
                  <a:tcPr>
                    <a:solidFill>
                      <a:srgbClr val="F3F5F9"/>
                    </a:solidFill>
                  </a:tcPr>
                </a:tc>
              </a:tr>
              <a:tr h="390579">
                <a:tc>
                  <a:txBody>
                    <a:bodyPr lIns="73152" rIns="73152" tIns="27432" bIns="27432"/>
                    <a:lstStyle/>
                    <a:p>
                      <a:r>
                        <a:rPr sz="1200" b="0" i="0">
                          <a:solidFill>
                            <a:srgbClr val="1F2A44"/>
                          </a:solidFill>
                          <a:latin typeface="Calibri"/>
                        </a:rPr>
                        <a:t>Multi-cluster</a:t>
                      </a:r>
                    </a:p>
                  </a:txBody>
                  <a:tcPr>
                    <a:solidFill>
                      <a:srgbClr val="FFFFFF"/>
                    </a:solidFill>
                  </a:tcPr>
                </a:tc>
                <a:tc>
                  <a:txBody>
                    <a:bodyPr lIns="73152" rIns="73152" tIns="27432" bIns="27432"/>
                    <a:lstStyle/>
                    <a:p>
                      <a:r>
                        <a:rPr sz="1200" b="0" i="0">
                          <a:solidFill>
                            <a:srgbClr val="1F2A44"/>
                          </a:solidFill>
                          <a:latin typeface="Calibri"/>
                        </a:rPr>
                        <a:t>Per-cluster</a:t>
                      </a:r>
                    </a:p>
                  </a:txBody>
                  <a:tcPr>
                    <a:solidFill>
                      <a:srgbClr val="FFFFFF"/>
                    </a:solidFill>
                  </a:tcPr>
                </a:tc>
                <a:tc>
                  <a:txBody>
                    <a:bodyPr lIns="73152" rIns="73152" tIns="27432" bIns="27432"/>
                    <a:lstStyle/>
                    <a:p>
                      <a:r>
                        <a:rPr sz="1200" b="0" i="0">
                          <a:solidFill>
                            <a:srgbClr val="1F2A44"/>
                          </a:solidFill>
                          <a:latin typeface="Calibri"/>
                        </a:rPr>
                        <a:t>Hub-and-spoke from one Argo CD</a:t>
                      </a:r>
                    </a:p>
                  </a:txBody>
                  <a:tcPr>
                    <a:solidFill>
                      <a:srgbClr val="FFFFFF"/>
                    </a:solidFill>
                  </a:tcPr>
                </a:tc>
              </a:tr>
              <a:tr h="390579">
                <a:tc>
                  <a:txBody>
                    <a:bodyPr lIns="73152" rIns="73152" tIns="27432" bIns="27432"/>
                    <a:lstStyle/>
                    <a:p>
                      <a:r>
                        <a:rPr sz="1200" b="0" i="0">
                          <a:solidFill>
                            <a:srgbClr val="1F2A44"/>
                          </a:solidFill>
                          <a:latin typeface="Calibri"/>
                        </a:rPr>
                        <a:t>Tenancy model</a:t>
                      </a:r>
                    </a:p>
                  </a:txBody>
                  <a:tcPr>
                    <a:solidFill>
                      <a:srgbClr val="F3F5F9"/>
                    </a:solidFill>
                  </a:tcPr>
                </a:tc>
                <a:tc>
                  <a:txBody>
                    <a:bodyPr lIns="73152" rIns="73152" tIns="27432" bIns="27432"/>
                    <a:lstStyle/>
                    <a:p>
                      <a:r>
                        <a:rPr sz="1200" b="0" i="0">
                          <a:solidFill>
                            <a:srgbClr val="1F2A44"/>
                          </a:solidFill>
                          <a:latin typeface="Calibri"/>
                        </a:rPr>
                        <a:t>Kustomization / HelmRelease</a:t>
                      </a:r>
                    </a:p>
                  </a:txBody>
                  <a:tcPr>
                    <a:solidFill>
                      <a:srgbClr val="F3F5F9"/>
                    </a:solidFill>
                  </a:tcPr>
                </a:tc>
                <a:tc>
                  <a:txBody>
                    <a:bodyPr lIns="73152" rIns="73152" tIns="27432" bIns="27432"/>
                    <a:lstStyle/>
                    <a:p>
                      <a:r>
                        <a:rPr sz="1200" b="0" i="0">
                          <a:solidFill>
                            <a:srgbClr val="1F2A44"/>
                          </a:solidFill>
                          <a:latin typeface="Calibri"/>
                        </a:rPr>
                        <a:t>Application / ApplicationSet / Project</a:t>
                      </a:r>
                    </a:p>
                  </a:txBody>
                  <a:tcPr>
                    <a:solidFill>
                      <a:srgbClr val="F3F5F9"/>
                    </a:solidFill>
                  </a:tcPr>
                </a:tc>
              </a:tr>
              <a:tr h="390582">
                <a:tc>
                  <a:txBody>
                    <a:bodyPr lIns="73152" rIns="73152" tIns="27432" bIns="27432"/>
                    <a:lstStyle/>
                    <a:p>
                      <a:r>
                        <a:rPr sz="1200" b="0" i="0">
                          <a:solidFill>
                            <a:srgbClr val="1F2A44"/>
                          </a:solidFill>
                          <a:latin typeface="Calibri"/>
                        </a:rPr>
                        <a:t>Strength</a:t>
                      </a:r>
                    </a:p>
                  </a:txBody>
                  <a:tcPr>
                    <a:solidFill>
                      <a:srgbClr val="FFFFFF"/>
                    </a:solidFill>
                  </a:tcPr>
                </a:tc>
                <a:tc>
                  <a:txBody>
                    <a:bodyPr lIns="73152" rIns="73152" tIns="27432" bIns="27432"/>
                    <a:lstStyle/>
                    <a:p>
                      <a:r>
                        <a:rPr sz="1200" b="0" i="0">
                          <a:solidFill>
                            <a:srgbClr val="1F2A44"/>
                          </a:solidFill>
                          <a:latin typeface="Calibri"/>
                        </a:rPr>
                        <a:t>Lightweight, pull-only, great for fleet</a:t>
                      </a:r>
                    </a:p>
                  </a:txBody>
                  <a:tcPr>
                    <a:solidFill>
                      <a:srgbClr val="FFFFFF"/>
                    </a:solidFill>
                  </a:tcPr>
                </a:tc>
                <a:tc>
                  <a:txBody>
                    <a:bodyPr lIns="73152" rIns="73152" tIns="27432" bIns="27432"/>
                    <a:lstStyle/>
                    <a:p>
                      <a:r>
                        <a:rPr sz="1200" b="0" i="0">
                          <a:solidFill>
                            <a:srgbClr val="1F2A44"/>
                          </a:solidFill>
                          <a:latin typeface="Calibri"/>
                        </a:rPr>
                        <a:t>Visual, app-centric, great for dev teams</a:t>
                      </a:r>
                    </a:p>
                  </a:txBody>
                  <a:tcPr>
                    <a:solidFill>
                      <a:srgbClr val="FFFFFF"/>
                    </a:solidFill>
                  </a:tcPr>
                </a:tc>
              </a:tr>
            </a:tbl>
          </a:graphicData>
        </a:graphic>
      </p:graphicFrame>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21 / 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managed Argo CD on AKS matters</a:t>
            </a:r>
          </a:p>
        </p:txBody>
      </p:sp>
      <p:sp>
        <p:nvSpPr>
          <p:cNvPr id="7" name="TextBox 6"/>
          <p:cNvSpPr txBox="1"/>
          <p:nvPr/>
        </p:nvSpPr>
        <p:spPr>
          <a:xfrm>
            <a:off x="457200" y="1097280"/>
            <a:ext cx="11277295" cy="2046216"/>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1" i="0">
                <a:solidFill>
                  <a:srgbClr val="1F2A44"/>
                </a:solidFill>
                <a:latin typeface="Calibri"/>
              </a:rPr>
              <a:t>No more "who owns the Argo CD cluster?"</a:t>
            </a:r>
            <a:r>
              <a:rPr sz="1400" b="0" i="0">
                <a:solidFill>
                  <a:srgbClr val="1F2A44"/>
                </a:solidFill>
                <a:latin typeface="Calibri"/>
              </a:rPr>
              <a:t> — Microsoft runs the control plane components, upgrades, CVEs, backups</a:t>
            </a:r>
          </a:p>
          <a:p>
            <a:pPr>
              <a:spcAft>
                <a:spcPts val="200"/>
              </a:spcAft>
            </a:pPr>
            <a:r>
              <a:rPr sz="1400" b="1">
                <a:solidFill>
                  <a:srgbClr val="0078D4"/>
                </a:solidFill>
                <a:latin typeface="Calibri"/>
              </a:rPr>
              <a:t>▸ </a:t>
            </a:r>
            <a:r>
              <a:rPr sz="1400" b="1" i="0">
                <a:solidFill>
                  <a:srgbClr val="1F2A44"/>
                </a:solidFill>
                <a:latin typeface="Calibri"/>
              </a:rPr>
              <a:t>Identity integrated with Entra ID</a:t>
            </a:r>
            <a:r>
              <a:rPr sz="1400" b="0" i="0">
                <a:solidFill>
                  <a:srgbClr val="1F2A44"/>
                </a:solidFill>
                <a:latin typeface="Calibri"/>
              </a:rPr>
              <a:t> — SSO, RBAC mapped to AAD groups out of the box</a:t>
            </a:r>
          </a:p>
          <a:p>
            <a:pPr>
              <a:spcAft>
                <a:spcPts val="200"/>
              </a:spcAft>
            </a:pPr>
            <a:r>
              <a:rPr sz="1400" b="1">
                <a:solidFill>
                  <a:srgbClr val="0078D4"/>
                </a:solidFill>
                <a:latin typeface="Calibri"/>
              </a:rPr>
              <a:t>▸ </a:t>
            </a:r>
            <a:r>
              <a:rPr sz="1400" b="1" i="0">
                <a:solidFill>
                  <a:srgbClr val="1F2A44"/>
                </a:solidFill>
                <a:latin typeface="Calibri"/>
              </a:rPr>
              <a:t>Workload Identity to target clusters</a:t>
            </a:r>
            <a:r>
              <a:rPr sz="1400" b="0" i="0">
                <a:solidFill>
                  <a:srgbClr val="1F2A44"/>
                </a:solidFill>
                <a:latin typeface="Calibri"/>
              </a:rPr>
              <a:t> — no kubeconfig secrets stored in Argo CD</a:t>
            </a:r>
          </a:p>
          <a:p>
            <a:pPr>
              <a:spcAft>
                <a:spcPts val="200"/>
              </a:spcAft>
            </a:pPr>
            <a:r>
              <a:rPr sz="1400" b="1">
                <a:solidFill>
                  <a:srgbClr val="0078D4"/>
                </a:solidFill>
                <a:latin typeface="Calibri"/>
              </a:rPr>
              <a:t>▸ </a:t>
            </a:r>
            <a:r>
              <a:rPr sz="1400" b="1" i="0">
                <a:solidFill>
                  <a:srgbClr val="1F2A44"/>
                </a:solidFill>
                <a:latin typeface="Calibri"/>
              </a:rPr>
              <a:t>Azure Monitor integration</a:t>
            </a:r>
            <a:r>
              <a:rPr sz="1400" b="0" i="0">
                <a:solidFill>
                  <a:srgbClr val="1F2A44"/>
                </a:solidFill>
                <a:latin typeface="Calibri"/>
              </a:rPr>
              <a:t> — sync status, drift, app health as standard metrics</a:t>
            </a:r>
          </a:p>
          <a:p>
            <a:pPr>
              <a:spcAft>
                <a:spcPts val="200"/>
              </a:spcAft>
            </a:pPr>
            <a:r>
              <a:rPr sz="1400" b="1">
                <a:solidFill>
                  <a:srgbClr val="0078D4"/>
                </a:solidFill>
                <a:latin typeface="Calibri"/>
              </a:rPr>
              <a:t>▸ </a:t>
            </a:r>
            <a:r>
              <a:rPr sz="1400" b="1" i="0">
                <a:solidFill>
                  <a:srgbClr val="1F2A44"/>
                </a:solidFill>
                <a:latin typeface="Calibri"/>
              </a:rPr>
              <a:t>Fleet-scale</a:t>
            </a:r>
            <a:r>
              <a:rPr sz="1400" b="0" i="0">
                <a:solidFill>
                  <a:srgbClr val="1F2A44"/>
                </a:solidFill>
                <a:latin typeface="Calibri"/>
              </a:rPr>
              <a:t> — install via Azure Arc / AKS extension on many clusters with one ARM template</a:t>
            </a:r>
          </a:p>
          <a:p>
            <a:pPr>
              <a:spcAft>
                <a:spcPts val="200"/>
              </a:spcAft>
            </a:pPr>
            <a:r>
              <a:rPr sz="1400" b="1">
                <a:solidFill>
                  <a:srgbClr val="0078D4"/>
                </a:solidFill>
                <a:latin typeface="Calibri"/>
              </a:rPr>
              <a:t>▸ </a:t>
            </a:r>
            <a:r>
              <a:rPr sz="1400" b="1" i="0">
                <a:solidFill>
                  <a:srgbClr val="1F2A44"/>
                </a:solidFill>
                <a:latin typeface="Calibri"/>
              </a:rPr>
              <a:t>Same upstream API</a:t>
            </a:r>
            <a:r>
              <a:rPr sz="1400" b="0" i="0">
                <a:solidFill>
                  <a:srgbClr val="1F2A44"/>
                </a:solidFill>
                <a:latin typeface="Calibri"/>
              </a:rPr>
              <a:t> — your existing </a:t>
            </a:r>
            <a:r>
              <a:rPr sz="1400" b="0">
                <a:solidFill>
                  <a:srgbClr val="B01060"/>
                </a:solidFill>
                <a:latin typeface="Consolas"/>
              </a:rPr>
              <a:t>Application</a:t>
            </a:r>
            <a:r>
              <a:rPr sz="1400" b="0" i="0">
                <a:solidFill>
                  <a:srgbClr val="1F2A44"/>
                </a:solidFill>
                <a:latin typeface="Calibri"/>
              </a:rPr>
              <a:t>, </a:t>
            </a:r>
            <a:r>
              <a:rPr sz="1400" b="0">
                <a:solidFill>
                  <a:srgbClr val="B01060"/>
                </a:solidFill>
                <a:latin typeface="Consolas"/>
              </a:rPr>
              <a:t>ApplicationSet</a:t>
            </a:r>
            <a:r>
              <a:rPr sz="1400" b="0" i="0">
                <a:solidFill>
                  <a:srgbClr val="1F2A44"/>
                </a:solidFill>
                <a:latin typeface="Calibri"/>
              </a:rPr>
              <a:t>, </a:t>
            </a:r>
            <a:r>
              <a:rPr sz="1400" b="0">
                <a:solidFill>
                  <a:srgbClr val="B01060"/>
                </a:solidFill>
                <a:latin typeface="Consolas"/>
              </a:rPr>
              <a:t>AppProject</a:t>
            </a:r>
            <a:r>
              <a:rPr sz="1400" b="0" i="0">
                <a:solidFill>
                  <a:srgbClr val="1F2A44"/>
                </a:solidFill>
                <a:latin typeface="Calibri"/>
              </a:rPr>
              <a:t> manifests work unchanged</a:t>
            </a:r>
          </a:p>
        </p:txBody>
      </p:sp>
      <p:sp>
        <p:nvSpPr>
          <p:cNvPr id="8" name="TextBox 7"/>
          <p:cNvSpPr txBox="1"/>
          <p:nvPr/>
        </p:nvSpPr>
        <p:spPr>
          <a:xfrm>
            <a:off x="457200" y="3198360"/>
            <a:ext cx="11277295" cy="1050540"/>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Where it fits</a:t>
            </a:r>
          </a:p>
          <a:p>
            <a:pPr>
              <a:spcAft>
                <a:spcPts val="200"/>
              </a:spcAft>
            </a:pPr>
            <a:r>
              <a:rPr sz="1400" b="1">
                <a:solidFill>
                  <a:srgbClr val="0078D4"/>
                </a:solidFill>
                <a:latin typeface="Calibri"/>
              </a:rPr>
              <a:t>▸ </a:t>
            </a:r>
            <a:r>
              <a:rPr sz="1400" b="0" i="0">
                <a:solidFill>
                  <a:srgbClr val="1F2A44"/>
                </a:solidFill>
                <a:latin typeface="Calibri"/>
              </a:rPr>
              <a:t>Platform teams running 10s–100s of clusters who want a single pane of glass per app</a:t>
            </a:r>
          </a:p>
          <a:p>
            <a:pPr>
              <a:spcAft>
                <a:spcPts val="200"/>
              </a:spcAft>
            </a:pPr>
            <a:r>
              <a:rPr sz="1400" b="1">
                <a:solidFill>
                  <a:srgbClr val="0078D4"/>
                </a:solidFill>
                <a:latin typeface="Calibri"/>
              </a:rPr>
              <a:t>▸ </a:t>
            </a:r>
            <a:r>
              <a:rPr sz="1400" b="0" i="0">
                <a:solidFill>
                  <a:srgbClr val="1F2A44"/>
                </a:solidFill>
                <a:latin typeface="Calibri"/>
              </a:rPr>
              <a:t>Organizations standardizing on Entra ID for everything (Argo's native auth is replaced)</a:t>
            </a:r>
          </a:p>
          <a:p>
            <a:pPr>
              <a:spcAft>
                <a:spcPts val="200"/>
              </a:spcAft>
            </a:pPr>
            <a:r>
              <a:rPr sz="1400" b="1">
                <a:solidFill>
                  <a:srgbClr val="0078D4"/>
                </a:solidFill>
                <a:latin typeface="Calibri"/>
              </a:rPr>
              <a:t>▸ </a:t>
            </a:r>
            <a:r>
              <a:rPr sz="1400" b="0" i="0">
                <a:solidFill>
                  <a:srgbClr val="1F2A44"/>
                </a:solidFill>
                <a:latin typeface="Calibri"/>
              </a:rPr>
              <a:t>Teams that want UI-driven rollback / sync without giving cluster-admin to developers</a:t>
            </a:r>
          </a:p>
        </p:txBody>
      </p:sp>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22 / 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Enabling managed Argo CD</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Turn AKS into a GitOps target with the managed Argo CD extension. SSO via Entra ID, target-cluster access via Workload Identity, and Argo's Application CRDs untouched.</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Ensure the K8s-configuration provider + extension CLI are available</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Install the managed Argo CD extension on the cluster</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Bootstrap an Application from Git</a:t>
            </a:r>
          </a:p>
        </p:txBody>
      </p:sp>
      <p:sp>
        <p:nvSpPr>
          <p:cNvPr id="18" name="Rounded Rectangle 17"/>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21" name="Oval 20"/>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AKS cluster with OIDC issuer and Workload Identity</a:t>
            </a:r>
          </a:p>
        </p:txBody>
      </p:sp>
      <p:sp>
        <p:nvSpPr>
          <p:cNvPr id="23" name="Oval 22"/>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Managed Argo CD extension installed (Microsoft.ArgoCD)</a:t>
            </a:r>
          </a:p>
        </p:txBody>
      </p:sp>
      <p:sp>
        <p:nvSpPr>
          <p:cNvPr id="25" name="Oval 24"/>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Entra ID SSO turned on for the Argo CD UI</a:t>
            </a:r>
          </a:p>
        </p:txBody>
      </p:sp>
      <p:sp>
        <p:nvSpPr>
          <p:cNvPr id="27" name="Oval 26"/>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Bootstrap Application syncing from Git into the demo namespace</a:t>
            </a:r>
          </a:p>
        </p:txBody>
      </p:sp>
      <p:sp>
        <p:nvSpPr>
          <p:cNvPr id="29" name="Rounded Rectangle 28"/>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31" name="TextBox 30"/>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32" name="Rectangle 3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4" name="Rounded Rectangle 33"/>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36" name="TextBox 3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23 / 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Recap</a:t>
            </a:r>
          </a:p>
        </p:txBody>
      </p:sp>
      <p:sp>
        <p:nvSpPr>
          <p:cNvPr id="7" name="TextBox 6"/>
          <p:cNvSpPr txBox="1"/>
          <p:nvPr/>
        </p:nvSpPr>
        <p:spPr>
          <a:xfrm>
            <a:off x="457200" y="1097280"/>
            <a:ext cx="11277295" cy="2046216"/>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1" i="0">
                <a:solidFill>
                  <a:srgbClr val="1F2A44"/>
                </a:solidFill>
                <a:latin typeface="Calibri"/>
              </a:rPr>
              <a:t>Mesh:</a:t>
            </a:r>
            <a:r>
              <a:rPr sz="1400" b="0" i="0">
                <a:solidFill>
                  <a:srgbClr val="1F2A44"/>
                </a:solidFill>
                <a:latin typeface="Calibri"/>
              </a:rPr>
              <a:t> ambient Istio splits security (always-on, cheap ztunnel) from L7 (opt-in waypoints). No sidecars, no pod restarts on mesh upgrade.</a:t>
            </a:r>
          </a:p>
          <a:p>
            <a:pPr>
              <a:spcAft>
                <a:spcPts val="200"/>
              </a:spcAft>
            </a:pPr>
            <a:r>
              <a:rPr sz="1400" b="1">
                <a:solidFill>
                  <a:srgbClr val="0078D4"/>
                </a:solidFill>
                <a:latin typeface="Calibri"/>
              </a:rPr>
              <a:t>▸ </a:t>
            </a:r>
            <a:r>
              <a:rPr sz="1400" b="1" i="0">
                <a:solidFill>
                  <a:srgbClr val="1F2A44"/>
                </a:solidFill>
                <a:latin typeface="Calibri"/>
              </a:rPr>
              <a:t>Ingress → Gateway API:</a:t>
            </a:r>
            <a:r>
              <a:rPr sz="1400" b="0" i="0">
                <a:solidFill>
                  <a:srgbClr val="1F2A44"/>
                </a:solidFill>
                <a:latin typeface="Calibri"/>
              </a:rPr>
              <a:t> role-oriented, portable, structured status. Same YAML across Envoy, AGC, and others.</a:t>
            </a:r>
          </a:p>
          <a:p>
            <a:pPr>
              <a:spcAft>
                <a:spcPts val="200"/>
              </a:spcAft>
            </a:pPr>
            <a:r>
              <a:rPr sz="1400" b="1">
                <a:solidFill>
                  <a:srgbClr val="0078D4"/>
                </a:solidFill>
                <a:latin typeface="Calibri"/>
              </a:rPr>
              <a:t>▸ </a:t>
            </a:r>
            <a:r>
              <a:rPr sz="1400" b="1" i="0">
                <a:solidFill>
                  <a:srgbClr val="1F2A44"/>
                </a:solidFill>
                <a:latin typeface="Calibri"/>
              </a:rPr>
              <a:t>AGC:</a:t>
            </a:r>
            <a:r>
              <a:rPr sz="1400" b="0" i="0">
                <a:solidFill>
                  <a:srgbClr val="1F2A44"/>
                </a:solidFill>
                <a:latin typeface="Calibri"/>
              </a:rPr>
              <a:t> Azure-native Gateway API implementation; PaaS L7 LB in your VNet talking directly to pod IPs via Azure CNI; ALB Controller bridges Gateway API ↔ ARM with Workload Identity.</a:t>
            </a:r>
          </a:p>
          <a:p>
            <a:pPr>
              <a:spcAft>
                <a:spcPts val="200"/>
              </a:spcAft>
            </a:pPr>
            <a:r>
              <a:rPr sz="1400" b="1">
                <a:solidFill>
                  <a:srgbClr val="0078D4"/>
                </a:solidFill>
                <a:latin typeface="Calibri"/>
              </a:rPr>
              <a:t>▸ </a:t>
            </a:r>
            <a:r>
              <a:rPr sz="1400" b="1" i="0">
                <a:solidFill>
                  <a:srgbClr val="1F2A44"/>
                </a:solidFill>
                <a:latin typeface="Calibri"/>
              </a:rPr>
              <a:t>Managed Argo CD:</a:t>
            </a:r>
            <a:r>
              <a:rPr sz="1400" b="0" i="0">
                <a:solidFill>
                  <a:srgbClr val="1F2A44"/>
                </a:solidFill>
                <a:latin typeface="Calibri"/>
              </a:rPr>
              <a:t> AKS extension, Entra-SSO, Workload Identity, sits alongside managed Flux — pick per team.</a:t>
            </a:r>
          </a:p>
        </p:txBody>
      </p:sp>
      <p:sp>
        <p:nvSpPr>
          <p:cNvPr id="8" name="TextBox 7"/>
          <p:cNvSpPr txBox="1"/>
          <p:nvPr/>
        </p:nvSpPr>
        <p:spPr>
          <a:xfrm>
            <a:off x="457200" y="3198360"/>
            <a:ext cx="11277295" cy="552702"/>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One-liner to remember:</a:t>
            </a:r>
            <a:r>
              <a:rPr sz="1400" b="0" i="0">
                <a:solidFill>
                  <a:srgbClr val="1F2A44"/>
                </a:solidFill>
                <a:latin typeface="Calibri"/>
              </a:rPr>
              <a:t> </a:t>
            </a:r>
            <a:r>
              <a:rPr sz="1400" b="0" i="1">
                <a:solidFill>
                  <a:srgbClr val="1F2A44"/>
                </a:solidFill>
                <a:latin typeface="Calibri"/>
              </a:rPr>
              <a:t>Gateway API is the contract. Ambient is the safety net. AGC is the Azure on-ramp. Managed Argo CD is how the platform team keeps it all reconciled.</a:t>
            </a:r>
          </a:p>
        </p:txBody>
      </p:sp>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24 / 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Q&amp;A</a:t>
            </a:r>
          </a:p>
        </p:txBody>
      </p:sp>
      <p:sp>
        <p:nvSpPr>
          <p:cNvPr id="7" name="TextBox 6"/>
          <p:cNvSpPr txBox="1"/>
          <p:nvPr/>
        </p:nvSpPr>
        <p:spPr>
          <a:xfrm>
            <a:off x="457200" y="1097280"/>
            <a:ext cx="11277295" cy="303783"/>
          </a:xfrm>
          <a:prstGeom prst="rect">
            <a:avLst/>
          </a:prstGeom>
          <a:noFill/>
        </p:spPr>
        <p:txBody>
          <a:bodyPr wrap="square" lIns="45720" rIns="45720" tIns="18288" bIns="18288">
            <a:spAutoFit/>
          </a:bodyPr>
          <a:lstStyle/>
          <a:p>
            <a:pPr>
              <a:spcAft>
                <a:spcPts val="200"/>
              </a:spcAft>
            </a:pPr>
            <a:r>
              <a:rPr sz="1400" b="0" i="0">
                <a:solidFill>
                  <a:srgbClr val="1F2A44"/>
                </a:solidFill>
                <a:latin typeface="Calibri"/>
              </a:rPr>
              <a:t>Thank you. Questions?</a:t>
            </a:r>
          </a:p>
        </p:txBody>
      </p:sp>
      <p:sp>
        <p:nvSpPr>
          <p:cNvPr id="8" name="Rectangle 7"/>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0" name="TextBox 9"/>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25 / 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