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We will cover four shifts that change how we build platforms on AKS this year:</a:t>
            </a:r>
          </a:p>
          <a:p>
            <a:r>
              <a:rPr sz="1100"/>
              <a:t>1. Istio: sidecar → ambient mode (now generally available in the AKS-managed Istio add-on).</a:t>
            </a:r>
          </a:p>
          <a:p>
            <a:r>
              <a:rPr sz="1100"/>
              <a:t>2. Ingress → Gateway API (the new standard, role-oriented, vendor-neutral).</a:t>
            </a:r>
          </a:p>
          <a:p>
            <a:r>
              <a:rPr sz="1100"/>
              <a:t>3. Application Gateway for Containers (AGC) — the Azure-native Gateway API implementation,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On AKS, ambient is delivered through the managed Istio add-on. You don't run istiod yourself; AKS does. You opt namespaces in with a label. Waypoints are deployed as standard Gateway API `Gateway` objects — that is a nice preview of part 2 of the talk.</a:t>
            </a:r>
          </a:p>
          <a:p>
            <a:r>
              <a:rPr sz="1100"/>
              <a:t/>
            </a:r>
          </a:p>
          <a:p>
            <a:r>
              <a:rPr sz="1100"/>
              <a:t>--- Azure CLI script ---</a:t>
            </a:r>
          </a:p>
          <a:p>
            <a:r>
              <a:rPr sz="1100"/>
              <a:t># Variables</a:t>
            </a:r>
          </a:p>
          <a:p>
            <a:r>
              <a:rPr sz="1100"/>
              <a:t>RG=rg-mesh-demo</a:t>
            </a:r>
          </a:p>
          <a:p>
            <a:r>
              <a:rPr sz="1100"/>
              <a:t>LOC=swedencentral</a:t>
            </a:r>
          </a:p>
          <a:p>
            <a:r>
              <a:rPr sz="1100"/>
              <a:t>AKS=aks-mesh-demo</a:t>
            </a:r>
          </a:p>
          <a:p>
            <a:r>
              <a:rPr sz="1100"/>
              <a:t/>
            </a:r>
          </a:p>
          <a:p>
            <a:r>
              <a:rPr sz="1100"/>
              <a:t># 1. Create resource group + AKS (Free tier, pinned K8s 1.34.7, Sweden Central)</a:t>
            </a:r>
          </a:p>
          <a:p>
            <a:r>
              <a:rPr sz="1100"/>
              <a:t>az group create -n $RG -l $LOC</a:t>
            </a:r>
          </a:p>
          <a:p>
            <a:r>
              <a:rPr sz="1100"/>
              <a:t/>
            </a:r>
          </a:p>
          <a:p>
            <a:r>
              <a:rPr sz="1100"/>
              <a:t>az aks create \</a:t>
            </a:r>
          </a:p>
          <a:p>
            <a:r>
              <a:rPr sz="1100"/>
              <a:t>  -g $RG -n $AKS \</a:t>
            </a:r>
          </a:p>
          <a:p>
            <a:r>
              <a:rPr sz="1100"/>
              <a:t>  --location $LOC \</a:t>
            </a:r>
          </a:p>
          <a:p>
            <a:r>
              <a:rPr sz="1100"/>
              <a:t>  --kubernetes-version 1.34.7 \</a:t>
            </a:r>
          </a:p>
          <a:p>
            <a:r>
              <a:rPr sz="1100"/>
              <a:t>  --tier free \</a:t>
            </a:r>
          </a:p>
          <a:p>
            <a:r>
              <a:rPr sz="1100"/>
              <a:t>  --node-vm-size Standard_B4as_v2 \</a:t>
            </a:r>
          </a:p>
          <a:p>
            <a:r>
              <a:rPr sz="1100"/>
              <a:t>  --node-count 3 \</a:t>
            </a:r>
          </a:p>
          <a:p>
            <a:r>
              <a:rPr sz="1100"/>
              <a:t>  --network-plugin azure \</a:t>
            </a:r>
          </a:p>
          <a:p>
            <a:r>
              <a:rPr sz="1100"/>
              <a:t>  --network-dataplane cilium \</a:t>
            </a:r>
          </a:p>
          <a:p>
            <a:r>
              <a:rPr sz="1100"/>
              <a:t>  --network-policy cilium \</a:t>
            </a:r>
          </a:p>
          <a:p>
            <a:r>
              <a:rPr sz="1100"/>
              <a:t>  --enable-oidc-issuer \</a:t>
            </a:r>
          </a:p>
          <a:p>
            <a:r>
              <a:rPr sz="1100"/>
              <a:t>  --enable-workload-identity \</a:t>
            </a:r>
          </a:p>
          <a:p>
            <a:r>
              <a:rPr sz="1100"/>
              <a:t>  --generate-ssh-keys</a:t>
            </a:r>
          </a:p>
          <a:p>
            <a:r>
              <a:rPr sz="1100"/>
              <a:t/>
            </a:r>
          </a:p>
          <a:p>
            <a:r>
              <a:rPr sz="1100"/>
              <a:t>az aks get-credentials -g $RG -n $AKS</a:t>
            </a:r>
          </a:p>
          <a:p>
            <a:r>
              <a:rPr sz="1100"/>
              <a:t/>
            </a:r>
          </a:p>
          <a:p>
            <a:r>
              <a:rPr sz="1100"/>
              <a:t># 2. Enable the AKS-managed Istio add-on (ambient profile)</a:t>
            </a:r>
          </a:p>
          <a:p>
            <a:r>
              <a:rPr sz="1100"/>
              <a:t>az aks mesh enable \</a:t>
            </a:r>
          </a:p>
          <a:p>
            <a:r>
              <a:rPr sz="1100"/>
              <a:t>  -g $RG -n $AKS \</a:t>
            </a:r>
          </a:p>
          <a:p>
            <a:r>
              <a:rPr sz="1100"/>
              <a:t>  --revision asm-1-24</a:t>
            </a:r>
          </a:p>
          <a:p>
            <a:r>
              <a:rPr sz="1100"/>
              <a:t/>
            </a:r>
          </a:p>
          <a:p>
            <a:r>
              <a:rPr sz="1100"/>
              <a:t># 3. Switch the add-on to ambient profile (AKS exposes via mesh profile)</a:t>
            </a:r>
          </a:p>
          <a:p>
            <a:r>
              <a:rPr sz="1100"/>
              <a:t>az aks mesh upgrade complete -g $RG -n $AKS</a:t>
            </a:r>
          </a:p>
          <a:p>
            <a:r>
              <a:rPr sz="1100"/>
              <a:t/>
            </a:r>
          </a:p>
          <a:p>
            <a:r>
              <a:rPr sz="1100"/>
              <a:t># 4. Opt a namespace into ambient (no sidecar injection!)</a:t>
            </a:r>
          </a:p>
          <a:p>
            <a:r>
              <a:rPr sz="1100"/>
              <a:t>kubectl label namespace demo istio.io/dataplane-mode=ambient</a:t>
            </a:r>
          </a:p>
          <a:p>
            <a:r>
              <a:rPr sz="1100"/>
              <a:t/>
            </a:r>
          </a:p>
          <a:p>
            <a:r>
              <a:rPr sz="1100"/>
              <a:t># 5. (Optional) Add a Waypoint for L7 policy on a namespace</a:t>
            </a:r>
          </a:p>
          <a:p>
            <a:r>
              <a:rPr sz="1100"/>
              <a:t>kubectl apply -n demo -f - &lt;&lt;'YAML'</a:t>
            </a:r>
          </a:p>
          <a:p>
            <a:r>
              <a:rPr sz="1100"/>
              <a:t>apiVersion: gateway.networking.k8s.io/v1</a:t>
            </a:r>
          </a:p>
          <a:p>
            <a:r>
              <a:rPr sz="1100"/>
              <a:t>kind: Gateway</a:t>
            </a:r>
          </a:p>
          <a:p>
            <a:r>
              <a:rPr sz="1100"/>
              <a:t>metadata:</a:t>
            </a:r>
          </a:p>
          <a:p>
            <a:r>
              <a:rPr sz="1100"/>
              <a:t>  name: waypoint</a:t>
            </a:r>
          </a:p>
          <a:p>
            <a:r>
              <a:rPr sz="1100"/>
              <a:t>  labels:</a:t>
            </a:r>
          </a:p>
          <a:p>
            <a:r>
              <a:rPr sz="1100"/>
              <a:t>    istio.io/waypoint-for: service</a:t>
            </a:r>
          </a:p>
          <a:p>
            <a:r>
              <a:rPr sz="1100"/>
              <a:t>spec:</a:t>
            </a:r>
          </a:p>
          <a:p>
            <a:r>
              <a:rPr sz="1100"/>
              <a:t>  gatewayClassName: istio-waypoint</a:t>
            </a:r>
          </a:p>
          <a:p>
            <a:r>
              <a:rPr sz="1100"/>
              <a:t>  listeners:</a:t>
            </a:r>
          </a:p>
          <a:p>
            <a:r>
              <a:rPr sz="1100"/>
              <a:t>  - name: mesh</a:t>
            </a:r>
          </a:p>
          <a:p>
            <a:r>
              <a:rPr sz="1100"/>
              <a:t>    port: 15008</a:t>
            </a:r>
          </a:p>
          <a:p>
            <a:r>
              <a:rPr sz="1100"/>
              <a:t>    protocol: HBONE</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Before we talk about *why* Ingress isn't enough anymore, let's make sure everyone has the same mental model. An `Ingress` object is just YAML — it does nothing on its own. The Ingress Controller is what brings it to life: it watches the API server and programs a reverse proxy (NGINX, Envoy, …) that actually handles the requests. Externally, a cloud load balancer fronts the controller's pods. Some implementations (like Application Gateway for Containers) push the data plane *outside* the cluster, but the conceptual model is the same: a controller reconciles intent, a proxy carries traffic.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 precise here: the Kubernetes `Ingress` API is stable and existing workloads can keep using it. The retirement concern is specifically the community `kubernetes/ingress-nginx` controller implementation, not the core API. 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Envoy Gateway is the upstream-reference implementation. The controller watches GatewayClass/Gateway/HTTPRoute and renders an Envoy Deployment + Service per Gateway. On AKS, the Service of type LoadBalancer triggers an Azure SLB and a public IP — same model you already use, but the routing is now portable Gateway API YAML rather than NGINX annotations.</a:t>
            </a:r>
          </a:p>
          <a:p>
            <a:r>
              <a:rPr sz="1100"/>
              <a:t/>
            </a:r>
          </a:p>
          <a:p>
            <a:r>
              <a:rPr sz="1100"/>
              <a:t>--- Azure CLI script ---</a:t>
            </a:r>
          </a:p>
          <a:p>
            <a:r>
              <a:rPr sz="1100"/>
              <a:t># Install Envoy Gateway (CRDs + controller)</a:t>
            </a:r>
          </a:p>
          <a:p>
            <a:r>
              <a:rPr sz="1100"/>
              <a:t>helm install eg oci://docker.io/envoyproxy/gateway-helm \</a:t>
            </a:r>
          </a:p>
          <a:p>
            <a:r>
              <a:rPr sz="1100"/>
              <a:t>  --version v1.3.0 \</a:t>
            </a:r>
          </a:p>
          <a:p>
            <a:r>
              <a:rPr sz="1100"/>
              <a:t>  -n envoy-gateway-system --create-namespace</a:t>
            </a:r>
          </a:p>
          <a:p>
            <a:r>
              <a:rPr sz="1100"/>
              <a:t/>
            </a:r>
          </a:p>
          <a:p>
            <a:r>
              <a:rPr sz="1100"/>
              <a:t>kubectl apply -f - &lt;&lt;'YAML'</a:t>
            </a:r>
          </a:p>
          <a:p>
            <a:r>
              <a:rPr sz="1100"/>
              <a:t>---</a:t>
            </a:r>
          </a:p>
          <a:p>
            <a:r>
              <a:rPr sz="1100"/>
              <a:t>apiVersion: gateway.networking.k8s.io/v1</a:t>
            </a:r>
          </a:p>
          <a:p>
            <a:r>
              <a:rPr sz="1100"/>
              <a:t>kind: GatewayClass</a:t>
            </a:r>
          </a:p>
          <a:p>
            <a:r>
              <a:rPr sz="1100"/>
              <a:t>metadata: { name: envoy }</a:t>
            </a:r>
          </a:p>
          <a:p>
            <a:r>
              <a:rPr sz="1100"/>
              <a:t>spec:   { controllerName: gateway.envoyproxy.io/gatewayclass-controller }</a:t>
            </a:r>
          </a:p>
          <a:p>
            <a:r>
              <a:rPr sz="1100"/>
              <a:t>---</a:t>
            </a:r>
          </a:p>
          <a:p>
            <a:r>
              <a:rPr sz="1100"/>
              <a:t>apiVersion: gateway.networking.k8s.io/v1</a:t>
            </a:r>
          </a:p>
          <a:p>
            <a:r>
              <a:rPr sz="1100"/>
              <a:t>kind: Gateway</a:t>
            </a:r>
          </a:p>
          <a:p>
            <a:r>
              <a:rPr sz="1100"/>
              <a:t>metadata: { name: public, namespace: edge }</a:t>
            </a:r>
          </a:p>
          <a:p>
            <a:r>
              <a:rPr sz="1100"/>
              <a:t>spec:</a:t>
            </a:r>
          </a:p>
          <a:p>
            <a:r>
              <a:rPr sz="1100"/>
              <a:t>  gatewayClassName: envoy</a:t>
            </a:r>
          </a:p>
          <a:p>
            <a:r>
              <a:rPr sz="1100"/>
              <a:t>  listeners:</a:t>
            </a:r>
          </a:p>
          <a:p>
            <a:r>
              <a:rPr sz="1100"/>
              <a:t>  - name: http</a:t>
            </a:r>
          </a:p>
          <a:p>
            <a:r>
              <a:rPr sz="1100"/>
              <a:t>    port: 80</a:t>
            </a:r>
          </a:p>
          <a:p>
            <a:r>
              <a:rPr sz="1100"/>
              <a:t>    protocol: HTTP</a:t>
            </a:r>
          </a:p>
          <a:p>
            <a:r>
              <a:rPr sz="1100"/>
              <a:t>    allowedRoutes:</a:t>
            </a:r>
          </a:p>
          <a:p>
            <a:r>
              <a:rPr sz="1100"/>
              <a:t>      namespaces: { from: All }</a:t>
            </a:r>
          </a:p>
          <a:p>
            <a:r>
              <a:rPr sz="1100"/>
              <a:t>---</a:t>
            </a:r>
          </a:p>
          <a:p>
            <a:r>
              <a:rPr sz="1100"/>
              <a:t>apiVersion: gateway.networking.k8s.io/v1</a:t>
            </a:r>
          </a:p>
          <a:p>
            <a:r>
              <a:rPr sz="1100"/>
              <a:t>kind: HTTPRoute</a:t>
            </a:r>
          </a:p>
          <a:p>
            <a:r>
              <a:rPr sz="1100"/>
              <a:t>metadata: { name: app, namespace: demo }</a:t>
            </a:r>
          </a:p>
          <a:p>
            <a:r>
              <a:rPr sz="1100"/>
              <a:t>spec:</a:t>
            </a:r>
          </a:p>
          <a:p>
            <a:r>
              <a:rPr sz="1100"/>
              <a:t>  parentRefs:</a:t>
            </a:r>
          </a:p>
          <a:p>
            <a:r>
              <a:rPr sz="1100"/>
              <a:t>  - { name: public, namespace: edge }</a:t>
            </a:r>
          </a:p>
          <a:p>
            <a:r>
              <a:rPr sz="1100"/>
              <a:t>  hostnames: [ "app.contoso.com" ]</a:t>
            </a:r>
          </a:p>
          <a:p>
            <a:r>
              <a:rPr sz="1100"/>
              <a:t>  rules:</a:t>
            </a:r>
          </a:p>
          <a:p>
            <a:r>
              <a:rPr sz="1100"/>
              <a:t>  - matches: [ { path: { type: PathPrefix, value: / } } ]</a:t>
            </a:r>
          </a:p>
          <a:p>
            <a:r>
              <a:rPr sz="1100"/>
              <a:t>    backendRefs:</a:t>
            </a:r>
          </a:p>
          <a:p>
            <a:r>
              <a:rPr sz="1100"/>
              <a:t>    - { name: sample-app, port: 80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to remember: AGC is a *PaaS L7 LB* that lives in your VNet via a delegated subnet, and it talks to pod IPs directly because AKS uses Azure CNI. The in-cluster ALB Controller is just the bridge that translates Gateway API objects into ARM calls. There's no in-cluster proxy hop, which is the latency win over Envoy/NGINX-in-cluster designs.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Pay attention to two things: (1) the `Association` resource ties AGC to the delegated subnet — that's how the PaaS LB gets a foothold inside *your* VNet; (2) the ALB Controller uses Workload Identity (federated credential on its ServiceAccount) — no secrets, no service principals. This is the AKS-recommended pattern across the board.</a:t>
            </a:r>
          </a:p>
          <a:p>
            <a:r>
              <a:rPr sz="1100"/>
              <a:t/>
            </a:r>
          </a:p>
          <a:p>
            <a:r>
              <a:rPr sz="1100"/>
              <a:t>--- Azure CLI script ---</a:t>
            </a:r>
          </a:p>
          <a:p>
            <a:r>
              <a:rPr sz="1100"/>
              <a:t>RG=rg-agc-demo</a:t>
            </a:r>
          </a:p>
          <a:p>
            <a:r>
              <a:rPr sz="1100"/>
              <a:t>LOC=swedencentral</a:t>
            </a:r>
          </a:p>
          <a:p>
            <a:r>
              <a:rPr sz="1100"/>
              <a:t>AKS=aks-agc-demo</a:t>
            </a:r>
          </a:p>
          <a:p>
            <a:r>
              <a:rPr sz="1100"/>
              <a:t>VNET=vnet-agc</a:t>
            </a:r>
          </a:p>
          <a:p>
            <a:r>
              <a:rPr sz="1100"/>
              <a:t>SUBNET_NODE=snet-nodes</a:t>
            </a:r>
          </a:p>
          <a:p>
            <a:r>
              <a:rPr sz="1100"/>
              <a:t>SUBNET_ALB=snet-alb</a:t>
            </a:r>
          </a:p>
          <a:p>
            <a:r>
              <a:rPr sz="1100"/>
              <a:t/>
            </a:r>
          </a:p>
          <a:p>
            <a:r>
              <a:rPr sz="1100"/>
              <a:t># 1. Networking</a:t>
            </a:r>
          </a:p>
          <a:p>
            <a:r>
              <a:rPr sz="1100"/>
              <a:t>az group create -n $RG -l $LOC</a:t>
            </a:r>
          </a:p>
          <a:p>
            <a:r>
              <a:rPr sz="1100"/>
              <a:t>az network vnet create -g $RG -n $VNET --address-prefixes 10.20.0.0/16 \</a:t>
            </a:r>
          </a:p>
          <a:p>
            <a:r>
              <a:rPr sz="1100"/>
              <a:t>  --subnet-name $SUBNET_NODE --subnet-prefixes 10.20.0.0/22</a:t>
            </a:r>
          </a:p>
          <a:p>
            <a:r>
              <a:rPr sz="1100"/>
              <a:t>az network vnet subnet create -g $RG --vnet-name $VNET -n $SUBNET_ALB \</a:t>
            </a:r>
          </a:p>
          <a:p>
            <a:r>
              <a:rPr sz="1100"/>
              <a:t>  --address-prefixes 10.20.4.0/24 \</a:t>
            </a:r>
          </a:p>
          <a:p>
            <a:r>
              <a:rPr sz="1100"/>
              <a:t>  --delegations Microsoft.ServiceNetworking/trafficControllers</a:t>
            </a:r>
          </a:p>
          <a:p>
            <a:r>
              <a:rPr sz="1100"/>
              <a:t/>
            </a:r>
          </a:p>
          <a:p>
            <a:r>
              <a:rPr sz="1100"/>
              <a:t>SUBNET_NODE_ID=$(az network vnet subnet show -g $RG --vnet-name $VNET -n $SUBNET_NODE --query id -o tsv)</a:t>
            </a:r>
          </a:p>
          <a:p>
            <a:r>
              <a:rPr sz="1100"/>
              <a:t>SUBNET_ALB_ID=$(az network vnet subnet show  -g $RG --vnet-name $VNET -n $SUBNET_ALB  --query id -o tsv)</a:t>
            </a:r>
          </a:p>
          <a:p>
            <a:r>
              <a:rPr sz="1100"/>
              <a:t/>
            </a:r>
          </a:p>
          <a:p>
            <a:r>
              <a:rPr sz="1100"/>
              <a:t># 2. AKS with workload identity + Azure CNI</a:t>
            </a:r>
          </a:p>
          <a:p>
            <a:r>
              <a:rPr sz="1100"/>
              <a:t># Pinned demo Kubernetes version for reproducibility</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--network-plugin azure --network-dataplane cilium \</a:t>
            </a:r>
          </a:p>
          <a:p>
            <a:r>
              <a:rPr sz="1100"/>
              <a:t>  --vnet-subnet-id $SUBNET_NODE_ID \</a:t>
            </a:r>
          </a:p>
          <a:p>
            <a:r>
              <a:rPr sz="1100"/>
              <a:t>  --enable-oidc-issuer --enable-workload-identity \</a:t>
            </a:r>
          </a:p>
          <a:p>
            <a:r>
              <a:rPr sz="1100"/>
              <a:t>  --generate-ssh-keys</a:t>
            </a:r>
          </a:p>
          <a:p>
            <a:r>
              <a:rPr sz="1100"/>
              <a:t>az aks get-credentials -g $RG -n $AKS</a:t>
            </a:r>
          </a:p>
          <a:p>
            <a:r>
              <a:rPr sz="1100"/>
              <a:t/>
            </a:r>
          </a:p>
          <a:p>
            <a:r>
              <a:rPr sz="1100"/>
              <a:t># 3. Managed identity + federated credential for the ALB Controller</a:t>
            </a:r>
          </a:p>
          <a:p>
            <a:r>
              <a:rPr sz="1100"/>
              <a:t>IDENTITY=mi-alb</a:t>
            </a:r>
          </a:p>
          <a:p>
            <a:r>
              <a:rPr sz="1100"/>
              <a:t>az identity create -g $RG -n $IDENTITY -l $LOC</a:t>
            </a:r>
          </a:p>
          <a:p>
            <a:r>
              <a:rPr sz="1100"/>
              <a:t>PRINCIPAL=$(az identity show -g $RG -n $IDENTITY --query principalId -o tsv)</a:t>
            </a:r>
          </a:p>
          <a:p>
            <a:r>
              <a:rPr sz="1100"/>
              <a:t>CLIENT=$(az identity show   -g $RG -n $IDENTITY --query clientId    -o tsv)</a:t>
            </a:r>
          </a:p>
          <a:p>
            <a:r>
              <a:rPr sz="1100"/>
              <a:t/>
            </a:r>
          </a:p>
          <a:p>
            <a:r>
              <a:rPr sz="1100"/>
              <a:t># Allow ALB Controller to manage AGC</a:t>
            </a:r>
          </a:p>
          <a:p>
            <a:r>
              <a:rPr sz="1100"/>
              <a:t>az role assignment create --assignee-object-id $PRINCIPAL --assignee-principal-type ServicePrincipal \</a:t>
            </a:r>
          </a:p>
          <a:p>
            <a:r>
              <a:rPr sz="1100"/>
              <a:t>  --role "AppGw for Containers Configuration Manager" \</a:t>
            </a:r>
          </a:p>
          <a:p>
            <a:r>
              <a:rPr sz="1100"/>
              <a:t>  --scope $(az group show -g $RG --query id -o tsv)</a:t>
            </a:r>
          </a:p>
          <a:p>
            <a:r>
              <a:rPr sz="1100"/>
              <a:t>az role assignment create --assignee-object-id $PRINCIPAL --assignee-principal-type ServicePrincipal \</a:t>
            </a:r>
          </a:p>
          <a:p>
            <a:r>
              <a:rPr sz="1100"/>
              <a:t>  --role "Network Contributor" --scope $SUBNET_ALB_ID</a:t>
            </a:r>
          </a:p>
          <a:p>
            <a:r>
              <a:rPr sz="1100"/>
              <a:t/>
            </a:r>
          </a:p>
          <a:p>
            <a:r>
              <a:rPr sz="1100"/>
              <a:t>ISSUER=$(az aks show -g $RG -n $AKS --query oidcIssuerProfile.issuerUrl -o tsv)</a:t>
            </a:r>
          </a:p>
          <a:p>
            <a:r>
              <a:rPr sz="1100"/>
              <a:t>az identity federated-credential create -g $RG --identity-name $IDENTITY \</a:t>
            </a:r>
          </a:p>
          <a:p>
            <a:r>
              <a:rPr sz="1100"/>
              <a:t>  --name fedcred --issuer "$ISSUER" \</a:t>
            </a:r>
          </a:p>
          <a:p>
            <a:r>
              <a:rPr sz="1100"/>
              <a:t>  --subject "system:serviceaccount:azure-alb-system:alb-controller-sa" \</a:t>
            </a:r>
          </a:p>
          <a:p>
            <a:r>
              <a:rPr sz="1100"/>
              <a:t>  --audiences api://AzureADTokenExchange</a:t>
            </a:r>
          </a:p>
          <a:p>
            <a:r>
              <a:rPr sz="1100"/>
              <a:t/>
            </a:r>
          </a:p>
          <a:p>
            <a:r>
              <a:rPr sz="1100"/>
              <a:t># 4. Install the ALB Controller</a:t>
            </a:r>
          </a:p>
          <a:p>
            <a:r>
              <a:rPr sz="1100"/>
              <a:t>helm install alb-controller oci://mcr.microsoft.com/application-lb/charts/alb-controller \</a:t>
            </a:r>
          </a:p>
          <a:p>
            <a:r>
              <a:rPr sz="1100"/>
              <a:t>  --version 1.0.0 \</a:t>
            </a:r>
          </a:p>
          <a:p>
            <a:r>
              <a:rPr sz="1100"/>
              <a:t>  -n azure-alb-system --create-namespace \</a:t>
            </a:r>
          </a:p>
          <a:p>
            <a:r>
              <a:rPr sz="1100"/>
              <a:t>  --set albController.podIdentity.clientID=$CLIENT</a:t>
            </a:r>
          </a:p>
          <a:p>
            <a:r>
              <a:rPr sz="1100"/>
              <a:t/>
            </a:r>
          </a:p>
          <a:p>
            <a:r>
              <a:rPr sz="1100"/>
              <a:t># 5. Create the AGC resource and Association (delegated subnet)</a:t>
            </a:r>
          </a:p>
          <a:p>
            <a:r>
              <a:rPr sz="1100"/>
              <a:t>az network alb create -g $RG -n agc-demo</a:t>
            </a:r>
          </a:p>
          <a:p>
            <a:r>
              <a:rPr sz="1100"/>
              <a:t>az network alb frontend create -g $RG --alb-name agc-demo -n fe-public</a:t>
            </a:r>
          </a:p>
          <a:p>
            <a:r>
              <a:rPr sz="1100"/>
              <a:t>az network alb association create -g $RG --alb-name agc-demo -n assoc \</a:t>
            </a:r>
          </a:p>
          <a:p>
            <a:r>
              <a:rPr sz="1100"/>
              <a:t>  --subnet $SUBNET_ALB_ID</a:t>
            </a:r>
          </a:p>
          <a:p>
            <a:r>
              <a:rPr sz="1100"/>
              <a:t/>
            </a:r>
          </a:p>
          <a:p>
            <a:r>
              <a:rPr sz="1100"/>
              <a:t># 6. Gateway + HTTPRoute (managed by ALB Controller)</a:t>
            </a:r>
          </a:p>
          <a:p>
            <a:r>
              <a:rPr sz="1100"/>
              <a:t>kubectl apply -f - &lt;&lt;'YAML'</a:t>
            </a:r>
          </a:p>
          <a:p>
            <a:r>
              <a:rPr sz="1100"/>
              <a:t>---</a:t>
            </a:r>
          </a:p>
          <a:p>
            <a:r>
              <a:rPr sz="1100"/>
              <a:t>apiVersion: gateway.networking.k8s.io/v1</a:t>
            </a:r>
          </a:p>
          <a:p>
            <a:r>
              <a:rPr sz="1100"/>
              <a:t>kind: Gateway</a:t>
            </a:r>
          </a:p>
          <a:p>
            <a:r>
              <a:rPr sz="1100"/>
              <a:t>metadata:</a:t>
            </a:r>
          </a:p>
          <a:p>
            <a:r>
              <a:rPr sz="1100"/>
              <a:t>  name: agc-gw</a:t>
            </a:r>
          </a:p>
          <a:p>
            <a:r>
              <a:rPr sz="1100"/>
              <a:t>  namespace: edge</a:t>
            </a:r>
          </a:p>
          <a:p>
            <a:r>
              <a:rPr sz="1100"/>
              <a:t>  annotations:</a:t>
            </a:r>
          </a:p>
          <a:p>
            <a:r>
              <a:rPr sz="1100"/>
              <a:t>    alb.networking.azure.io/alb-namespace: azure-alb-system</a:t>
            </a:r>
          </a:p>
          <a:p>
            <a:r>
              <a:rPr sz="1100"/>
              <a:t>    alb.networking.azure.io/alb-name: agc-demo</a:t>
            </a:r>
          </a:p>
          <a:p>
            <a:r>
              <a:rPr sz="1100"/>
              <a:t>spec:</a:t>
            </a:r>
          </a:p>
          <a:p>
            <a:r>
              <a:rPr sz="1100"/>
              <a:t>  gatewayClassName: azure-alb-external</a:t>
            </a:r>
          </a:p>
          <a:p>
            <a:r>
              <a:rPr sz="1100"/>
              <a:t>  listeners:</a:t>
            </a:r>
          </a:p>
          <a:p>
            <a:r>
              <a:rPr sz="1100"/>
              <a:t>  - { name: http, port: 80, protocol: HTTP, allowedRoutes: { namespaces: { from: All } } }</a:t>
            </a:r>
          </a:p>
          <a:p>
            <a:r>
              <a:rPr sz="1100"/>
              <a:t>---</a:t>
            </a:r>
          </a:p>
          <a:p>
            <a:r>
              <a:rPr sz="1100"/>
              <a:t>apiVersion: gateway.networking.k8s.io/v1</a:t>
            </a:r>
          </a:p>
          <a:p>
            <a:r>
              <a:rPr sz="1100"/>
              <a:t>kind: HTTPRoute</a:t>
            </a:r>
          </a:p>
          <a:p>
            <a:r>
              <a:rPr sz="1100"/>
              <a:t>metadata: { name: app, namespace: demo }</a:t>
            </a:r>
          </a:p>
          <a:p>
            <a:r>
              <a:rPr sz="1100"/>
              <a:t>spec:</a:t>
            </a:r>
          </a:p>
          <a:p>
            <a:r>
              <a:rPr sz="1100"/>
              <a:t>  parentRefs: [ { name: agc-gw, namespace: edge } ]</a:t>
            </a:r>
          </a:p>
          <a:p>
            <a:r>
              <a:rPr sz="1100"/>
              <a:t>  hostnames: [ "app.contoso.com" ]</a:t>
            </a:r>
          </a:p>
          <a:p>
            <a:r>
              <a:rPr sz="1100"/>
              <a:t>  rules:</a:t>
            </a:r>
          </a:p>
          <a:p>
            <a:r>
              <a:rPr sz="1100"/>
              <a:t>  - matches: [ { path: { type: PathPrefix, value: / } } ]</a:t>
            </a:r>
          </a:p>
          <a:p>
            <a:r>
              <a:rPr sz="1100"/>
              <a:t>    backendRefs: [ { name: sample-app, port: 80 }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this last in the ingress part of the talk. It is what many teams have had in production for years, and the `Ingress` API itself remains a valid Kubernetes API. The correction is that the community `kubernetes/ingress-nginx` controller is the piece being retired, so new designs should avoid depending on it. Gateway API better matches modern platform requirements: clearer ownership, fewer controller-specific annotations, and more portable routing semantics.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slide to land the point of part 2 + part 3: Gateway API is the *contract*, AGC is the *Azure-native implementation*. Teams write the same YAML for any environment; the platform team picks the implementation per environment (Envoy in dev, AGC in production). That is what "vendor-neutral with managed-service benefits"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r>
              <a:rPr sz="1100"/>
              <a:t/>
            </a:r>
          </a:p>
          <a:p>
            <a:r>
              <a:rPr sz="1100"/>
              <a:t>--- Azure CLI script ---</a:t>
            </a:r>
          </a:p>
          <a:p>
            <a:r>
              <a:rPr sz="1100"/>
              <a:t>RG=rg-gitops-demo</a:t>
            </a:r>
          </a:p>
          <a:p>
            <a:r>
              <a:rPr sz="1100"/>
              <a:t>LOC=swedencentral</a:t>
            </a:r>
          </a:p>
          <a:p>
            <a:r>
              <a:rPr sz="1100"/>
              <a:t>AKS=aks-gitops-demo</a:t>
            </a:r>
          </a:p>
          <a:p>
            <a:r>
              <a:rPr sz="1100"/>
              <a:t/>
            </a:r>
          </a:p>
          <a:p>
            <a:r>
              <a:rPr sz="1100"/>
              <a:t>az group create -n $RG -l $LOC</a:t>
            </a:r>
          </a:p>
          <a:p>
            <a:r>
              <a:rPr sz="1100"/>
              <a:t># Pinned demo Kubernetes version for reproducibility</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--enable-oidc-issuer --enable-workload-identity \</a:t>
            </a:r>
          </a:p>
          <a:p>
            <a:r>
              <a:rPr sz="1100"/>
              <a:t>  --generate-ssh-keys</a:t>
            </a:r>
          </a:p>
          <a:p>
            <a:r>
              <a:rPr sz="1100"/>
              <a:t>az aks get-credentials -g $RG -n $AKS</a:t>
            </a:r>
          </a:p>
          <a:p>
            <a:r>
              <a:rPr sz="1100"/>
              <a:t/>
            </a:r>
          </a:p>
          <a:p>
            <a:r>
              <a:rPr sz="1100"/>
              <a:t># Ensure the K8s-configuration provider + extension CLI are available</a:t>
            </a:r>
          </a:p>
          <a:p>
            <a:r>
              <a:rPr sz="1100"/>
              <a:t>az extension add --name k8s-extension --upgrade</a:t>
            </a:r>
          </a:p>
          <a:p>
            <a:r>
              <a:rPr sz="1100"/>
              <a:t>az provider register --namespace Microsoft.KubernetesConfiguration</a:t>
            </a:r>
          </a:p>
          <a:p>
            <a:r>
              <a:rPr sz="1100"/>
              <a:t/>
            </a:r>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r>
              <a:rPr sz="1100"/>
              <a:t/>
            </a:r>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2926080" cy="320040"/>
          </a:xfrm>
          <a:prstGeom prst="rect">
            <a:avLst/>
          </a:prstGeom>
          <a:noFill/>
        </p:spPr>
        <p:txBody>
          <a:bodyPr wrap="square" lIns="45720" rIns="45720" tIns="18288"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rIns="45720" tIns="18288"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911535" cy="640080"/>
          </a:xfrm>
          <a:prstGeom prst="rect">
            <a:avLst/>
          </a:prstGeom>
          <a:noFill/>
        </p:spPr>
        <p:txBody>
          <a:bodyPr wrap="square" lIns="45720" rIns="45720" tIns="18288"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rIns="45720" tIns="18288"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46520"/>
            <a:ext cx="10911535" cy="411480"/>
          </a:xfrm>
          <a:prstGeom prst="rect">
            <a:avLst/>
          </a:prstGeom>
          <a:noFill/>
        </p:spPr>
        <p:txBody>
          <a:bodyPr wrap="square" lIns="45720" rIns="45720" tIns="18288"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68735" cy="640080"/>
          </a:xfrm>
          <a:prstGeom prst="rect">
            <a:avLst/>
          </a:prstGeom>
          <a:noFill/>
        </p:spPr>
        <p:txBody>
          <a:bodyPr wrap="square" lIns="45720" rIns="45720" tIns="18288"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rIns="45720" tIns="18288"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544568"/>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0160" y="4590288"/>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12967"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35927"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12967"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35927"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Legacy: community ingress-nginx on AKS (retirement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2967"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5927"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2967"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35927"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rIns="45720" tIns="18288"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ambient Istio on AKS</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6492240" cy="320040"/>
          </a:xfrm>
          <a:prstGeom prst="rect">
            <a:avLst/>
          </a:prstGeom>
          <a:noFill/>
        </p:spPr>
        <p:txBody>
          <a:bodyPr wrap="square" lIns="45720" rIns="45720" tIns="18288"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rIns="45720" tIns="18288"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7223760" cy="320040"/>
          </a:xfrm>
          <a:prstGeom prst="rect">
            <a:avLst/>
          </a:prstGeom>
          <a:noFill/>
        </p:spPr>
        <p:txBody>
          <a:bodyPr wrap="square" lIns="45720" rIns="45720" tIns="18288"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3611880"/>
            <a:ext cx="2286000" cy="365760"/>
          </a:xfrm>
          <a:prstGeom prst="rect">
            <a:avLst/>
          </a:prstGeom>
          <a:noFill/>
        </p:spPr>
        <p:txBody>
          <a:bodyPr wrap="square" lIns="45720" rIns="45720" tIns="18288"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rIns="45720" tIns="18288"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rIns="45720" tIns="18288"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2369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ambient Istio on AKS</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Stand up an AKS cluster with the managed Istio add-on in ambient mode. Workloads get mTLS the moment a namespace is labeled — no sidecars to inject, no pod restarts on mesh upgrade.</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resource group + AKS (Free tier, pinned K8s 1.34.7, Sweden Central)</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Enable the AKS-managed Istio add-on (ambient profile)</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Switch the add-on to ambient profile (AKS exposes via mesh profile)</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 a namespace into ambient (no sidecar injection!)</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(Optional) Add a Waypoint for L7 policy on a namespace</a:t>
            </a:r>
          </a:p>
        </p:txBody>
      </p:sp>
      <p:sp>
        <p:nvSpPr>
          <p:cNvPr id="24" name="Rounded Rectangle 23"/>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7" name="Oval 26"/>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Pinned AKS 1.34.7 with Cilium dataplane in Sweden Central</a:t>
            </a:r>
          </a:p>
        </p:txBody>
      </p:sp>
      <p:sp>
        <p:nvSpPr>
          <p:cNvPr id="29" name="Oval 28"/>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Istio add-on running, ambient profile active</a:t>
            </a:r>
          </a:p>
        </p:txBody>
      </p:sp>
      <p:sp>
        <p:nvSpPr>
          <p:cNvPr id="31" name="Oval 30"/>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demo namespace opted in via label — zero pod restarts</a:t>
            </a:r>
          </a:p>
        </p:txBody>
      </p:sp>
      <p:sp>
        <p:nvSpPr>
          <p:cNvPr id="33" name="Oval 32"/>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Optional namespace-scoped Waypoint for L7 features</a:t>
            </a:r>
          </a:p>
        </p:txBody>
      </p:sp>
      <p:sp>
        <p:nvSpPr>
          <p:cNvPr id="35" name="Rounded Rectangle 34"/>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7" name="TextBox 36"/>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8" name="Rectangle 3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0" name="Rounded Rectangle 39"/>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2" name="TextBox 4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What is Ingress?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Ingress alone is no longer enough</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Ingress vs Gateway API side-by-side</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Gateway API with Envoy Gateway on AKS</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Application Gateway for Containers (AGC)</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534924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Deploying AGC with Gateway API</a:t>
            </a:r>
          </a:p>
        </p:txBody>
      </p:sp>
      <p:sp>
        <p:nvSpPr>
          <p:cNvPr id="21" name="Oval 20"/>
          <p:cNvSpPr/>
          <p:nvPr/>
        </p:nvSpPr>
        <p:spPr>
          <a:xfrm>
            <a:off x="5029200" y="582472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573328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Legacy reference: community ingress-nginx on AKS</a:t>
            </a:r>
          </a:p>
        </p:txBody>
      </p:sp>
      <p:sp>
        <p:nvSpPr>
          <p:cNvPr id="23" name="TextBox 2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What is Ingress?</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Ingress is how external HTTP/HTTPS traffic gets into a Kubernetes cluster.</a:t>
            </a:r>
          </a:p>
        </p:txBody>
      </p:sp>
      <p:sp>
        <p:nvSpPr>
          <p:cNvPr id="8" name="TextBox 7"/>
          <p:cNvSpPr txBox="1"/>
          <p:nvPr/>
        </p:nvSpPr>
        <p:spPr>
          <a:xfrm>
            <a:off x="457200" y="1455927"/>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It's made up of a few cooperating pieces:</a:t>
            </a:r>
          </a:p>
        </p:txBody>
      </p:sp>
      <p:graphicFrame>
        <p:nvGraphicFramePr>
          <p:cNvPr id="9" name="Table 8"/>
          <p:cNvGraphicFramePr>
            <a:graphicFrameLocks noGrp="1"/>
          </p:cNvGraphicFramePr>
          <p:nvPr/>
        </p:nvGraphicFramePr>
        <p:xfrm>
          <a:off x="457200" y="1814574"/>
          <a:ext cx="11277294" cy="2350008"/>
        </p:xfrm>
        <a:graphic>
          <a:graphicData uri="http://schemas.openxmlformats.org/drawingml/2006/table">
            <a:tbl>
              <a:tblPr firstRow="1" bandRow="1">
                <a:tableStyleId>{5C22544A-7EE6-4342-B048-85BDC9FD1C3A}</a:tableStyleId>
              </a:tblPr>
              <a:tblGrid>
                <a:gridCol w="5638647"/>
                <a:gridCol w="5638647"/>
              </a:tblGrid>
              <a:tr h="391668">
                <a:tc>
                  <a:txBody>
                    <a:bodyPr lIns="73152" rIns="73152" tIns="27432" bIns="27432"/>
                    <a:lstStyle/>
                    <a:p>
                      <a:r>
                        <a:rPr sz="1200" b="1">
                          <a:solidFill>
                            <a:srgbClr val="FFFFFF"/>
                          </a:solidFill>
                          <a:latin typeface="Calibri"/>
                        </a:rPr>
                        <a:t>Term</a:t>
                      </a:r>
                    </a:p>
                  </a:txBody>
                  <a:tcPr>
                    <a:solidFill>
                      <a:srgbClr val="103A6E"/>
                    </a:solidFill>
                  </a:tcPr>
                </a:tc>
                <a:tc>
                  <a:txBody>
                    <a:bodyPr lIns="73152" rIns="73152" tIns="27432" bIns="27432"/>
                    <a:lstStyle/>
                    <a:p>
                      <a:r>
                        <a:rPr sz="1200" b="1">
                          <a:solidFill>
                            <a:srgbClr val="FFFFFF"/>
                          </a:solidFill>
                          <a:latin typeface="Calibri"/>
                        </a:rPr>
                        <a:t>What it is</a:t>
                      </a:r>
                    </a:p>
                  </a:txBody>
                  <a:tcPr>
                    <a:solidFill>
                      <a:srgbClr val="103A6E"/>
                    </a:solidFill>
                  </a:tcPr>
                </a:tc>
              </a:tr>
              <a:tr h="391668">
                <a:tc>
                  <a:txBody>
                    <a:bodyPr lIns="73152" rIns="73152" tIns="27432" bIns="27432"/>
                    <a:lstStyle/>
                    <a:p>
                      <a:r>
                        <a:rPr sz="1200" b="1" i="0">
                          <a:solidFill>
                            <a:srgbClr val="1F2A44"/>
                          </a:solidFill>
                          <a:latin typeface="Calibri"/>
                        </a:rPr>
                        <a:t>Ingress (resource)</a:t>
                      </a:r>
                    </a:p>
                  </a:txBody>
                  <a:tcPr>
                    <a:solidFill>
                      <a:srgbClr val="F3F5F9"/>
                    </a:solidFill>
                  </a:tcPr>
                </a:tc>
                <a:tc>
                  <a:txBody>
                    <a:bodyPr lIns="73152" rIns="73152" tIns="27432" bIns="27432"/>
                    <a:lstStyle/>
                    <a:p>
                      <a:r>
                        <a:rPr sz="1200" b="0" i="0">
                          <a:solidFill>
                            <a:srgbClr val="1F2A44"/>
                          </a:solidFill>
                          <a:latin typeface="Calibri"/>
                        </a:rPr>
                        <a:t>Kubernetes API object describing host/path routing rules — pure configuration</a:t>
                      </a:r>
                    </a:p>
                  </a:txBody>
                  <a:tcPr>
                    <a:solidFill>
                      <a:srgbClr val="F3F5F9"/>
                    </a:solidFill>
                  </a:tcPr>
                </a:tc>
              </a:tr>
              <a:tr h="391668">
                <a:tc>
                  <a:txBody>
                    <a:bodyPr lIns="73152" rIns="73152" tIns="27432" bIns="27432"/>
                    <a:lstStyle/>
                    <a:p>
                      <a:r>
                        <a:rPr sz="1200" b="1" i="0">
                          <a:solidFill>
                            <a:srgbClr val="1F2A44"/>
                          </a:solidFill>
                          <a:latin typeface="Calibri"/>
                        </a:rPr>
                        <a:t>Ingress Controller</a:t>
                      </a:r>
                    </a:p>
                  </a:txBody>
                  <a:tcPr>
                    <a:solidFill>
                      <a:srgbClr val="FFFFFF"/>
                    </a:solidFill>
                  </a:tcPr>
                </a:tc>
                <a:tc>
                  <a:txBody>
                    <a:bodyPr lIns="73152" rIns="73152" tIns="27432" bIns="27432"/>
                    <a:lstStyle/>
                    <a:p>
                      <a:r>
                        <a:rPr sz="1200" b="0" i="0">
                          <a:solidFill>
                            <a:srgbClr val="1F2A44"/>
                          </a:solidFill>
                          <a:latin typeface="Calibri"/>
                        </a:rPr>
                        <a:t>The software (pods) that watches Ingress resources and configures a proxy</a:t>
                      </a:r>
                    </a:p>
                  </a:txBody>
                  <a:tcPr>
                    <a:solidFill>
                      <a:srgbClr val="FFFFFF"/>
                    </a:solidFill>
                  </a:tcPr>
                </a:tc>
              </a:tr>
              <a:tr h="391668">
                <a:tc>
                  <a:txBody>
                    <a:bodyPr lIns="73152" rIns="73152" tIns="27432" bIns="27432"/>
                    <a:lstStyle/>
                    <a:p>
                      <a:r>
                        <a:rPr sz="1200" b="1" i="0">
                          <a:solidFill>
                            <a:srgbClr val="1F2A44"/>
                          </a:solidFill>
                          <a:latin typeface="Calibri"/>
                        </a:rPr>
                        <a:t>IngressClass</a:t>
                      </a:r>
                    </a:p>
                  </a:txBody>
                  <a:tcPr>
                    <a:solidFill>
                      <a:srgbClr val="F3F5F9"/>
                    </a:solidFill>
                  </a:tcPr>
                </a:tc>
                <a:tc>
                  <a:txBody>
                    <a:bodyPr lIns="73152" rIns="73152" tIns="27432" bIns="27432"/>
                    <a:lstStyle/>
                    <a:p>
                      <a:r>
                        <a:rPr sz="1200" b="0" i="0">
                          <a:solidFill>
                            <a:srgbClr val="1F2A44"/>
                          </a:solidFill>
                          <a:latin typeface="Calibri"/>
                        </a:rPr>
                        <a:t>Tells Kubernetes which controller should handle a given Ingress</a:t>
                      </a:r>
                    </a:p>
                  </a:txBody>
                  <a:tcPr>
                    <a:solidFill>
                      <a:srgbClr val="F3F5F9"/>
                    </a:solidFill>
                  </a:tcPr>
                </a:tc>
              </a:tr>
              <a:tr h="391668">
                <a:tc>
                  <a:txBody>
                    <a:bodyPr lIns="73152" rIns="73152" tIns="27432" bIns="27432"/>
                    <a:lstStyle/>
                    <a:p>
                      <a:r>
                        <a:rPr sz="1200" b="1" i="0">
                          <a:solidFill>
                            <a:srgbClr val="1F2A44"/>
                          </a:solidFill>
                          <a:latin typeface="Calibri"/>
                        </a:rPr>
                        <a:t>Backend Service</a:t>
                      </a:r>
                    </a:p>
                  </a:txBody>
                  <a:tcPr>
                    <a:solidFill>
                      <a:srgbClr val="FFFFFF"/>
                    </a:solidFill>
                  </a:tcPr>
                </a:tc>
                <a:tc>
                  <a:txBody>
                    <a:bodyPr lIns="73152" rIns="73152" tIns="27432" bIns="27432"/>
                    <a:lstStyle/>
                    <a:p>
                      <a:r>
                        <a:rPr sz="1200" b="0" i="0">
                          <a:solidFill>
                            <a:srgbClr val="1F2A44"/>
                          </a:solidFill>
                          <a:latin typeface="Calibri"/>
                        </a:rPr>
                        <a:t>The </a:t>
                      </a:r>
                      <a:r>
                        <a:rPr sz="1200" b="0">
                          <a:solidFill>
                            <a:srgbClr val="B01060"/>
                          </a:solidFill>
                          <a:latin typeface="Consolas"/>
                        </a:rPr>
                        <a:t>Service</a:t>
                      </a:r>
                      <a:r>
                        <a:rPr sz="1200" b="0" i="0">
                          <a:solidFill>
                            <a:srgbClr val="1F2A44"/>
                          </a:solidFill>
                          <a:latin typeface="Calibri"/>
                        </a:rPr>
                        <a:t> the Ingress routes traffic to</a:t>
                      </a:r>
                    </a:p>
                  </a:txBody>
                  <a:tcPr>
                    <a:solidFill>
                      <a:srgbClr val="FFFFFF"/>
                    </a:solidFill>
                  </a:tcPr>
                </a:tc>
              </a:tr>
              <a:tr h="391668">
                <a:tc>
                  <a:txBody>
                    <a:bodyPr lIns="73152" rIns="73152" tIns="27432" bIns="27432"/>
                    <a:lstStyle/>
                    <a:p>
                      <a:r>
                        <a:rPr sz="1200" b="1" i="0">
                          <a:solidFill>
                            <a:srgbClr val="1F2A44"/>
                          </a:solidFill>
                          <a:latin typeface="Calibri"/>
                        </a:rPr>
                        <a:t>TLS Secret</a:t>
                      </a:r>
                    </a:p>
                  </a:txBody>
                  <a:tcPr>
                    <a:solidFill>
                      <a:srgbClr val="F3F5F9"/>
                    </a:solidFill>
                  </a:tcPr>
                </a:tc>
                <a:tc>
                  <a:txBody>
                    <a:bodyPr lIns="73152" rIns="73152" tIns="27432" bIns="27432"/>
                    <a:lstStyle/>
                    <a:p>
                      <a:r>
                        <a:rPr sz="1200" b="0">
                          <a:solidFill>
                            <a:srgbClr val="B01060"/>
                          </a:solidFill>
                          <a:latin typeface="Consolas"/>
                        </a:rPr>
                        <a:t>kubernetes.io/tls</a:t>
                      </a:r>
                      <a:r>
                        <a:rPr sz="1200" b="0" i="0">
                          <a:solidFill>
                            <a:srgbClr val="1F2A44"/>
                          </a:solidFill>
                          <a:latin typeface="Calibri"/>
                        </a:rPr>
                        <a:t> secret used for HTTPS termination</a:t>
                      </a:r>
                    </a:p>
                  </a:txBody>
                  <a:tcPr>
                    <a:solidFill>
                      <a:srgbClr val="F3F5F9"/>
                    </a:solidFill>
                  </a:tcPr>
                </a:tc>
              </a:tr>
            </a:tbl>
          </a:graphicData>
        </a:graphic>
      </p:graphicFrame>
      <p:sp>
        <p:nvSpPr>
          <p:cNvPr id="10" name="TextBox 9"/>
          <p:cNvSpPr txBox="1"/>
          <p:nvPr/>
        </p:nvSpPr>
        <p:spPr>
          <a:xfrm>
            <a:off x="457200" y="4301742"/>
            <a:ext cx="11277295" cy="801621"/>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The controller has two roles: a </a:t>
            </a:r>
            <a:r>
              <a:rPr sz="1400" b="1" i="0">
                <a:solidFill>
                  <a:srgbClr val="1F2A44"/>
                </a:solidFill>
                <a:latin typeface="Calibri"/>
              </a:rPr>
              <a:t>control plane</a:t>
            </a:r>
            <a:r>
              <a:rPr sz="1400" b="0" i="0">
                <a:solidFill>
                  <a:srgbClr val="1F2A44"/>
                </a:solidFill>
                <a:latin typeface="Calibri"/>
              </a:rPr>
              <a:t> (reconciles K8s resources into proxy config) and a </a:t>
            </a:r>
            <a:r>
              <a:rPr sz="1400" b="1" i="0">
                <a:solidFill>
                  <a:srgbClr val="1F2A44"/>
                </a:solidFill>
                <a:latin typeface="Calibri"/>
              </a:rPr>
              <a:t>data plane</a:t>
            </a:r>
            <a:r>
              <a:rPr sz="1400" b="0" i="0">
                <a:solidFill>
                  <a:srgbClr val="1F2A44"/>
                </a:solidFill>
                <a:latin typeface="Calibri"/>
              </a:rPr>
              <a:t> (the actual proxy — NGINX, Envoy, HAProxy — that receives traffic). In most implementations both run in the same pod.</a:t>
            </a:r>
          </a:p>
        </p:txBody>
      </p:sp>
      <p:sp>
        <p:nvSpPr>
          <p:cNvPr id="11" name="TextBox 10"/>
          <p:cNvSpPr txBox="1"/>
          <p:nvPr/>
        </p:nvSpPr>
        <p:spPr>
          <a:xfrm>
            <a:off x="457200" y="515822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Full traffic path</a:t>
            </a:r>
          </a:p>
        </p:txBody>
      </p:sp>
      <p:sp>
        <p:nvSpPr>
          <p:cNvPr id="12" name="Rectangle 11"/>
          <p:cNvSpPr/>
          <p:nvPr/>
        </p:nvSpPr>
        <p:spPr>
          <a:xfrm>
            <a:off x="457200" y="5516874"/>
            <a:ext cx="11277295" cy="1859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516874"/>
            <a:ext cx="64008" cy="1859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5590026"/>
            <a:ext cx="11048695" cy="1712976"/>
          </a:xfrm>
          <a:prstGeom prst="rect">
            <a:avLst/>
          </a:prstGeom>
          <a:noFill/>
        </p:spPr>
        <p:txBody>
          <a:bodyPr wrap="none" lIns="36576" rIns="36576" tIns="18288" bIns="18288">
            <a:spAutoFit/>
          </a:bodyPr>
          <a:lstStyle/>
          <a:p>
            <a:pPr>
              <a:lnSpc>
                <a:spcPct val="100000"/>
              </a:lnSpc>
            </a:pPr>
            <a:r>
              <a:rPr sz="1000">
                <a:solidFill>
                  <a:srgbClr val="E6E6E6"/>
                </a:solidFill>
                <a:latin typeface="Consolas"/>
              </a:rPr>
              <a:t>Client</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DNS → Public IP</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Cloud Load Balancer (from the controller's Service of type LoadBalancer)</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Ingress Controller pod (proxy / data plane)  ← traffic actually arrives here</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Backend Service (ClusterIP) → Pod Endpoints</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Application Pod</a:t>
            </a:r>
          </a:p>
        </p:txBody>
      </p:sp>
      <p:sp>
        <p:nvSpPr>
          <p:cNvPr id="15" name="Rectangle 1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7" name="TextBox 1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Ingress alone is no longer enough</a:t>
            </a:r>
          </a:p>
        </p:txBody>
      </p:sp>
      <p:sp>
        <p:nvSpPr>
          <p:cNvPr id="7" name="TextBox 6"/>
          <p:cNvSpPr txBox="1"/>
          <p:nvPr/>
        </p:nvSpPr>
        <p:spPr>
          <a:xfrm>
            <a:off x="457200" y="109728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Important distinction</a:t>
            </a:r>
          </a:p>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is stable, not deprecated</a:t>
            </a:r>
          </a:p>
          <a:p>
            <a:pPr>
              <a:spcAft>
                <a:spcPts val="200"/>
              </a:spcAft>
            </a:pPr>
            <a:r>
              <a:rPr sz="1400" b="1">
                <a:solidFill>
                  <a:srgbClr val="0078D4"/>
                </a:solidFill>
                <a:latin typeface="Calibri"/>
              </a:rPr>
              <a:t>▸ </a:t>
            </a:r>
            <a:r>
              <a:rPr sz="1400" b="0" i="0">
                <a:solidFill>
                  <a:srgbClr val="1F2A44"/>
                </a:solidFill>
                <a:latin typeface="Calibri"/>
              </a:rPr>
              <a:t>The community </a:t>
            </a:r>
            <a:r>
              <a:rPr sz="1400" b="0">
                <a:solidFill>
                  <a:srgbClr val="B01060"/>
                </a:solidFill>
                <a:latin typeface="Consolas"/>
              </a:rPr>
              <a:t>kubernetes/ingress-nginx</a:t>
            </a:r>
            <a:r>
              <a:rPr sz="1400" b="0" i="0">
                <a:solidFill>
                  <a:srgbClr val="1F2A44"/>
                </a:solidFill>
                <a:latin typeface="Calibri"/>
              </a:rPr>
              <a:t> controller is the retired/EOL component</a:t>
            </a:r>
          </a:p>
          <a:p>
            <a:pPr>
              <a:spcAft>
                <a:spcPts val="200"/>
              </a:spcAft>
            </a:pPr>
            <a:r>
              <a:rPr sz="1400" b="1">
                <a:solidFill>
                  <a:srgbClr val="0078D4"/>
                </a:solidFill>
                <a:latin typeface="Calibri"/>
              </a:rPr>
              <a:t>▸ </a:t>
            </a:r>
            <a:r>
              <a:rPr sz="1400" b="0" i="0">
                <a:solidFill>
                  <a:srgbClr val="1F2A44"/>
                </a:solidFill>
                <a:latin typeface="Calibri"/>
              </a:rPr>
              <a:t>Gateway API is the recommended direction for new, richer traffic-management designs</a:t>
            </a:r>
          </a:p>
        </p:txBody>
      </p:sp>
      <p:sp>
        <p:nvSpPr>
          <p:cNvPr id="8" name="TextBox 7"/>
          <p:cNvSpPr txBox="1"/>
          <p:nvPr/>
        </p:nvSpPr>
        <p:spPr>
          <a:xfrm>
            <a:off x="457200" y="2202684"/>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Limitations of `Ingress` as an API model</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9" name="TextBox 8"/>
          <p:cNvSpPr txBox="1"/>
          <p:nvPr/>
        </p:nvSpPr>
        <p:spPr>
          <a:xfrm>
            <a:off x="457200" y="355700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Gateway API fixes the model</a:t>
            </a:r>
          </a:p>
        </p:txBody>
      </p:sp>
      <p:graphicFrame>
        <p:nvGraphicFramePr>
          <p:cNvPr id="10" name="Table 9"/>
          <p:cNvGraphicFramePr>
            <a:graphicFrameLocks noGrp="1"/>
          </p:cNvGraphicFramePr>
          <p:nvPr/>
        </p:nvGraphicFramePr>
        <p:xfrm>
          <a:off x="457200" y="3915654"/>
          <a:ext cx="11277294" cy="1581912"/>
        </p:xfrm>
        <a:graphic>
          <a:graphicData uri="http://schemas.openxmlformats.org/drawingml/2006/table">
            <a:tbl>
              <a:tblPr firstRow="1" bandRow="1">
                <a:tableStyleId>{5C22544A-7EE6-4342-B048-85BDC9FD1C3A}</a:tableStyleId>
              </a:tblPr>
              <a:tblGrid>
                <a:gridCol w="3759098"/>
                <a:gridCol w="3759098"/>
                <a:gridCol w="3759098"/>
              </a:tblGrid>
              <a:tr h="395478">
                <a:tc>
                  <a:txBody>
                    <a:bodyPr lIns="73152" rIns="73152" tIns="27432" bIns="27432"/>
                    <a:lstStyle/>
                    <a:p>
                      <a:r>
                        <a:rPr sz="1200" b="1">
                          <a:solidFill>
                            <a:srgbClr val="FFFFFF"/>
                          </a:solidFill>
                          <a:latin typeface="Calibri"/>
                        </a:rPr>
                        <a:t>Concern</a:t>
                      </a:r>
                    </a:p>
                  </a:txBody>
                  <a:tcPr>
                    <a:solidFill>
                      <a:srgbClr val="103A6E"/>
                    </a:solidFill>
                  </a:tcPr>
                </a:tc>
                <a:tc>
                  <a:txBody>
                    <a:bodyPr lIns="73152" rIns="73152" tIns="27432" bIns="27432"/>
                    <a:lstStyle/>
                    <a:p>
                      <a:r>
                        <a:rPr sz="1200" b="1">
                          <a:solidFill>
                            <a:srgbClr val="FFFFFF"/>
                          </a:solidFill>
                          <a:latin typeface="Calibri"/>
                        </a:rPr>
                        <a:t>Resource</a:t>
                      </a:r>
                    </a:p>
                  </a:txBody>
                  <a:tcPr>
                    <a:solidFill>
                      <a:srgbClr val="103A6E"/>
                    </a:solidFill>
                  </a:tcPr>
                </a:tc>
                <a:tc>
                  <a:txBody>
                    <a:bodyPr lIns="73152" rIns="73152" tIns="27432" bIns="27432"/>
                    <a:lstStyle/>
                    <a:p>
                      <a:r>
                        <a:rPr sz="1200" b="1">
                          <a:solidFill>
                            <a:srgbClr val="FFFFFF"/>
                          </a:solidFill>
                          <a:latin typeface="Calibri"/>
                        </a:rPr>
                        <a:t>Persona</a:t>
                      </a:r>
                    </a:p>
                  </a:txBody>
                  <a:tcPr>
                    <a:solidFill>
                      <a:srgbClr val="103A6E"/>
                    </a:solidFill>
                  </a:tcPr>
                </a:tc>
              </a:tr>
              <a:tr h="395478">
                <a:tc>
                  <a:txBody>
                    <a:bodyPr lIns="73152" rIns="73152" tIns="27432" bIns="27432"/>
                    <a:lstStyle/>
                    <a:p>
                      <a:r>
                        <a:rPr sz="1200" b="0" i="0">
                          <a:solidFill>
                            <a:srgbClr val="1F2A44"/>
                          </a:solidFill>
                          <a:latin typeface="Calibri"/>
                        </a:rPr>
                        <a:t>What controller / data plane</a:t>
                      </a:r>
                    </a:p>
                  </a:txBody>
                  <a:tcPr>
                    <a:solidFill>
                      <a:srgbClr val="F3F5F9"/>
                    </a:solidFill>
                  </a:tcPr>
                </a:tc>
                <a:tc>
                  <a:txBody>
                    <a:bodyPr lIns="73152" rIns="73152" tIns="27432" bIns="27432"/>
                    <a:lstStyle/>
                    <a:p>
                      <a:r>
                        <a:rPr sz="1200" b="0">
                          <a:solidFill>
                            <a:srgbClr val="B01060"/>
                          </a:solidFill>
                          <a:latin typeface="Consolas"/>
                        </a:rPr>
                        <a:t>GatewayClass</a:t>
                      </a:r>
                    </a:p>
                  </a:txBody>
                  <a:tcPr>
                    <a:solidFill>
                      <a:srgbClr val="F3F5F9"/>
                    </a:solidFill>
                  </a:tcPr>
                </a:tc>
                <a:tc>
                  <a:txBody>
                    <a:bodyPr lIns="73152" rIns="73152" tIns="27432" bIns="27432"/>
                    <a:lstStyle/>
                    <a:p>
                      <a:r>
                        <a:rPr sz="1200" b="0" i="0">
                          <a:solidFill>
                            <a:srgbClr val="1F2A44"/>
                          </a:solidFill>
                          <a:latin typeface="Calibri"/>
                        </a:rPr>
                        <a:t>Infra provider</a:t>
                      </a:r>
                    </a:p>
                  </a:txBody>
                  <a:tcPr>
                    <a:solidFill>
                      <a:srgbClr val="F3F5F9"/>
                    </a:solidFill>
                  </a:tcPr>
                </a:tc>
              </a:tr>
              <a:tr h="395478">
                <a:tc>
                  <a:txBody>
                    <a:bodyPr lIns="73152" rIns="73152" tIns="27432" bIns="27432"/>
                    <a:lstStyle/>
                    <a:p>
                      <a:r>
                        <a:rPr sz="1200" b="0" i="0">
                          <a:solidFill>
                            <a:srgbClr val="1F2A44"/>
                          </a:solidFill>
                          <a:latin typeface="Calibri"/>
                        </a:rPr>
                        <a:t>Listeners, IP, TLS certs</a:t>
                      </a:r>
                    </a:p>
                  </a:txBody>
                  <a:tcPr>
                    <a:solidFill>
                      <a:srgbClr val="FFFFFF"/>
                    </a:solidFill>
                  </a:tcPr>
                </a:tc>
                <a:tc>
                  <a:txBody>
                    <a:bodyPr lIns="73152" rIns="73152" tIns="27432" bIns="27432"/>
                    <a:lstStyle/>
                    <a:p>
                      <a:r>
                        <a:rPr sz="1200" b="0">
                          <a:solidFill>
                            <a:srgbClr val="B01060"/>
                          </a:solidFill>
                          <a:latin typeface="Consolas"/>
                        </a:rPr>
                        <a:t>Gateway</a:t>
                      </a:r>
                    </a:p>
                  </a:txBody>
                  <a:tcPr>
                    <a:solidFill>
                      <a:srgbClr val="FFFFFF"/>
                    </a:solidFill>
                  </a:tcPr>
                </a:tc>
                <a:tc>
                  <a:txBody>
                    <a:bodyPr lIns="73152" rIns="73152" tIns="27432" bIns="27432"/>
                    <a:lstStyle/>
                    <a:p>
                      <a:r>
                        <a:rPr sz="1200" b="0" i="0">
                          <a:solidFill>
                            <a:srgbClr val="1F2A44"/>
                          </a:solidFill>
                          <a:latin typeface="Calibri"/>
                        </a:rPr>
                        <a:t>Cluster operator</a:t>
                      </a:r>
                    </a:p>
                  </a:txBody>
                  <a:tcPr>
                    <a:solidFill>
                      <a:srgbClr val="FFFFFF"/>
                    </a:solidFill>
                  </a:tcPr>
                </a:tc>
              </a:tr>
              <a:tr h="395478">
                <a:tc>
                  <a:txBody>
                    <a:bodyPr lIns="73152" rIns="73152" tIns="27432" bIns="27432"/>
                    <a:lstStyle/>
                    <a:p>
                      <a:r>
                        <a:rPr sz="1200" b="0" i="0">
                          <a:solidFill>
                            <a:srgbClr val="1F2A44"/>
                          </a:solidFill>
                          <a:latin typeface="Calibri"/>
                        </a:rPr>
                        <a:t>Routes, hosts, paths, splits</a:t>
                      </a:r>
                    </a:p>
                  </a:txBody>
                  <a:tcPr>
                    <a:solidFill>
                      <a:srgbClr val="F3F5F9"/>
                    </a:solidFill>
                  </a:tcPr>
                </a:tc>
                <a:tc>
                  <a:txBody>
                    <a:bodyPr lIns="73152" rIns="73152" tIns="27432" bIns="27432"/>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lIns="73152" rIns="73152" tIns="27432" bIns="27432"/>
                    <a:lstStyle/>
                    <a:p>
                      <a:r>
                        <a:rPr sz="1200" b="0" i="0">
                          <a:solidFill>
                            <a:srgbClr val="1F2A44"/>
                          </a:solidFill>
                          <a:latin typeface="Calibri"/>
                        </a:rPr>
                        <a:t>App developer</a:t>
                      </a:r>
                    </a:p>
                  </a:txBody>
                  <a:tcPr>
                    <a:solidFill>
                      <a:srgbClr val="F3F5F9"/>
                    </a:solidFill>
                  </a:tcPr>
                </a:tc>
              </a:tr>
            </a:tbl>
          </a:graphicData>
        </a:graphic>
      </p:graphicFrame>
      <p:sp>
        <p:nvSpPr>
          <p:cNvPr id="11" name="TextBox 10"/>
          <p:cNvSpPr txBox="1"/>
          <p:nvPr/>
        </p:nvSpPr>
        <p:spPr>
          <a:xfrm>
            <a:off x="457200" y="5634726"/>
            <a:ext cx="11277295" cy="552702"/>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rIns="45720" tIns="18288"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724247" cy="1280160"/>
          </a:xfrm>
          <a:prstGeom prst="rect">
            <a:avLst/>
          </a:prstGeom>
          <a:noFill/>
        </p:spPr>
        <p:txBody>
          <a:bodyPr wrap="square" lIns="45720" rIns="45720" tIns="18288"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724247" cy="731520"/>
          </a:xfrm>
          <a:prstGeom prst="rect">
            <a:avLst/>
          </a:prstGeom>
          <a:noFill/>
        </p:spPr>
        <p:txBody>
          <a:bodyPr wrap="square" lIns="45720" rIns="45720" tIns="18288"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rIns="45720" tIns="18288"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rIns="45720" tIns="18288"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14884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3047" y="310896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06908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63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Envoy Gateway (CRDs + controller)</a:t>
            </a:r>
          </a:p>
        </p:txBody>
      </p:sp>
      <p:sp>
        <p:nvSpPr>
          <p:cNvPr id="11" name="Rounded Rectangle 10"/>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10972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14" name="Rounded Rectangle 13"/>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8862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16" name="TextBox 15"/>
          <p:cNvSpPr txBox="1"/>
          <p:nvPr/>
        </p:nvSpPr>
        <p:spPr>
          <a:xfrm>
            <a:off x="7818120" y="42062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17" name="Rectangle 16"/>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9" name="Rounded Rectangle 18"/>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21" name="TextBox 2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it is</a:t>
            </a:r>
          </a:p>
          <a:p>
            <a:pPr>
              <a:spcAft>
                <a:spcPts val="200"/>
              </a:spcAft>
            </a:pPr>
            <a:r>
              <a:rPr sz="1400" b="1">
                <a:solidFill>
                  <a:srgbClr val="0078D4"/>
                </a:solidFill>
                <a:latin typeface="Calibri"/>
              </a:rPr>
              <a:t>▸ </a:t>
            </a:r>
            <a:r>
              <a:rPr sz="1400" b="0" i="0">
                <a:solidFill>
                  <a:srgbClr val="1F2A44"/>
                </a:solidFill>
                <a:latin typeface="Calibri"/>
              </a:rPr>
              <a:t>Azure-managed L7 load balancer, evolution of Application Gateway</a:t>
            </a:r>
          </a:p>
          <a:p>
            <a:pPr>
              <a:spcAft>
                <a:spcPts val="200"/>
              </a:spcAft>
            </a:pPr>
            <a:r>
              <a:rPr sz="1400" b="1">
                <a:solidFill>
                  <a:srgbClr val="0078D4"/>
                </a:solidFill>
                <a:latin typeface="Calibri"/>
              </a:rPr>
              <a:t>▸ </a:t>
            </a:r>
            <a:r>
              <a:rPr sz="1400" b="0" i="0">
                <a:solidFill>
                  <a:srgbClr val="1F2A44"/>
                </a:solidFill>
                <a:latin typeface="Calibri"/>
              </a:rPr>
              <a:t>Native Gateway API implementation (the ALB Controller installs </a:t>
            </a:r>
            <a:r>
              <a:rPr sz="1400" b="0">
                <a:solidFill>
                  <a:srgbClr val="B01060"/>
                </a:solidFill>
                <a:latin typeface="Consolas"/>
              </a:rPr>
              <a:t>GatewayClass: azure-alb-external</a:t>
            </a:r>
            <a:r>
              <a:rPr sz="1400" b="0" i="0">
                <a:solidFill>
                  <a:srgbClr val="1F2A44"/>
                </a:solidFill>
                <a:latin typeface="Calibri"/>
              </a:rPr>
              <a:t>)</a:t>
            </a:r>
          </a:p>
          <a:p>
            <a:pPr>
              <a:spcAft>
                <a:spcPts val="200"/>
              </a:spcAft>
            </a:pPr>
            <a:r>
              <a:rPr sz="1400" b="1">
                <a:solidFill>
                  <a:srgbClr val="0078D4"/>
                </a:solidFill>
                <a:latin typeface="Calibri"/>
              </a:rPr>
              <a:t>▸ </a:t>
            </a:r>
            <a:r>
              <a:rPr sz="1400" b="0" i="0">
                <a:solidFill>
                  <a:srgbClr val="1F2A44"/>
                </a:solidFill>
                <a:latin typeface="Calibri"/>
              </a:rPr>
              <a:t>Replaces AGIC (Ingress-based) for new workloads</a:t>
            </a:r>
          </a:p>
          <a:p>
            <a:pPr>
              <a:spcAft>
                <a:spcPts val="200"/>
              </a:spcAft>
            </a:pPr>
            <a:r>
              <a:rPr sz="1400" b="1">
                <a:solidFill>
                  <a:srgbClr val="0078D4"/>
                </a:solidFill>
                <a:latin typeface="Calibri"/>
              </a:rPr>
              <a:t>▸ </a:t>
            </a:r>
            <a:r>
              <a:rPr sz="1400" b="0" i="0">
                <a:solidFill>
                  <a:srgbClr val="1F2A44"/>
                </a:solidFill>
                <a:latin typeface="Calibri"/>
              </a:rPr>
              <a:t>WAF, mTLS to backends, HTTP/2 + gRPC, path/header routing, weighted splits</a:t>
            </a:r>
          </a:p>
        </p:txBody>
      </p:sp>
      <p:sp>
        <p:nvSpPr>
          <p:cNvPr id="8" name="TextBox 7"/>
          <p:cNvSpPr txBox="1"/>
          <p:nvPr/>
        </p:nvSpPr>
        <p:spPr>
          <a:xfrm>
            <a:off x="457200" y="2700522"/>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059169"/>
            <a:ext cx="11277295" cy="31165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059169"/>
            <a:ext cx="64008" cy="31165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132321"/>
            <a:ext cx="11048695" cy="29702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associated via Association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alb-controller (Deployment) ──┐           │</a:t>
            </a:r>
          </a:p>
          <a:p>
            <a:pPr>
              <a:lnSpc>
                <a:spcPct val="100000"/>
              </a:lnSpc>
            </a:pPr>
            <a:r>
              <a:rPr sz="900">
                <a:solidFill>
                  <a:srgbClr val="E6E6E6"/>
                </a:solidFill>
                <a:latin typeface="Consolas"/>
              </a:rPr>
              <a:t>                │     ▲ watches Gateway/Route    │ uses      │</a:t>
            </a:r>
          </a:p>
          <a:p>
            <a:pPr>
              <a:lnSpc>
                <a:spcPct val="100000"/>
              </a:lnSpc>
            </a:pPr>
            <a:r>
              <a:rPr sz="900">
                <a:solidFill>
                  <a:srgbClr val="E6E6E6"/>
                </a:solidFill>
                <a:latin typeface="Consolas"/>
              </a:rPr>
              <a:t>                │     │                          ▼  workload │</a:t>
            </a:r>
          </a:p>
          <a:p>
            <a:pPr>
              <a:lnSpc>
                <a:spcPct val="100000"/>
              </a:lnSpc>
            </a:pPr>
            <a:r>
              <a:rPr sz="900">
                <a:solidFill>
                  <a:srgbClr val="E6E6E6"/>
                </a:solidFill>
                <a:latin typeface="Consolas"/>
              </a:rPr>
              <a:t>                │  Gateway (gatewayClassName:    │  identity │</a:t>
            </a:r>
          </a:p>
          <a:p>
            <a:pPr>
              <a:lnSpc>
                <a:spcPct val="100000"/>
              </a:lnSpc>
            </a:pPr>
            <a:r>
              <a:rPr sz="900">
                <a:solidFill>
                  <a:srgbClr val="E6E6E6"/>
                </a:solidFill>
                <a:latin typeface="Consolas"/>
              </a:rPr>
              <a:t>                │      azure-alb-external) ──────┘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Networking</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AKS with workload identity + Azure CNI</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Managed identity + federated credential for the ALB Controller</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ALB Controller</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the AGC resource and Association (delegated subnet)</a:t>
            </a:r>
          </a:p>
        </p:txBody>
      </p:sp>
      <p:sp>
        <p:nvSpPr>
          <p:cNvPr id="24" name="Oval 23"/>
          <p:cNvSpPr/>
          <p:nvPr/>
        </p:nvSpPr>
        <p:spPr>
          <a:xfrm>
            <a:off x="457200" y="4434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34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6</a:t>
            </a:r>
          </a:p>
        </p:txBody>
      </p:sp>
      <p:sp>
        <p:nvSpPr>
          <p:cNvPr id="26" name="TextBox 25"/>
          <p:cNvSpPr txBox="1"/>
          <p:nvPr/>
        </p:nvSpPr>
        <p:spPr>
          <a:xfrm>
            <a:off x="960120" y="4453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Gateway + HTTPRoute (managed by ALB Controller)</a:t>
            </a:r>
          </a:p>
        </p:txBody>
      </p:sp>
      <p:sp>
        <p:nvSpPr>
          <p:cNvPr id="27" name="Rounded Rectangle 26"/>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30" name="Oval 29"/>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 VNet with a delegated subnet for AGC</a:t>
            </a:r>
          </a:p>
        </p:txBody>
      </p:sp>
      <p:sp>
        <p:nvSpPr>
          <p:cNvPr id="32" name="Oval 31"/>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User-assigned Managed Identity + federated credential</a:t>
            </a:r>
          </a:p>
        </p:txBody>
      </p:sp>
      <p:sp>
        <p:nvSpPr>
          <p:cNvPr id="34" name="Oval 33"/>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ALB Controller installed via Helm with Workload Identity</a:t>
            </a:r>
          </a:p>
        </p:txBody>
      </p:sp>
      <p:sp>
        <p:nvSpPr>
          <p:cNvPr id="36" name="Oval 35"/>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AGC resource + Association live, Gateway + HTTPRoute serving traffic</a:t>
            </a:r>
          </a:p>
        </p:txBody>
      </p:sp>
      <p:sp>
        <p:nvSpPr>
          <p:cNvPr id="38" name="Rounded Rectangle 37"/>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40" name="TextBox 39"/>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41" name="Rectangle 4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3" name="Rounded Rectangle 42"/>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5" name="TextBox 44"/>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Legacy reference: community ingress-nginx on AKS</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299459"/>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stable, still valid</a:t>
            </a:r>
          </a:p>
          <a:p>
            <a:pPr>
              <a:spcAft>
                <a:spcPts val="200"/>
              </a:spcAft>
            </a:pPr>
            <a:r>
              <a:rPr sz="1400" b="1">
                <a:solidFill>
                  <a:srgbClr val="0078D4"/>
                </a:solidFill>
                <a:latin typeface="Calibri"/>
              </a:rPr>
              <a:t>▸ </a:t>
            </a:r>
            <a:r>
              <a:rPr sz="1400" b="0" i="0">
                <a:solidFill>
                  <a:srgbClr val="1F2A44"/>
                </a:solidFill>
                <a:latin typeface="Calibri"/>
              </a:rPr>
              <a:t>Community </a:t>
            </a:r>
            <a:r>
              <a:rPr sz="1400" b="0">
                <a:solidFill>
                  <a:srgbClr val="B01060"/>
                </a:solidFill>
                <a:latin typeface="Consolas"/>
              </a:rPr>
              <a:t>kubernetes/ingress-nginx</a:t>
            </a:r>
            <a:r>
              <a:rPr sz="1400" b="0" i="0">
                <a:solidFill>
                  <a:srgbClr val="1F2A44"/>
                </a:solidFill>
                <a:latin typeface="Calibri"/>
              </a:rPr>
              <a:t> controller: retired/EOL implementation</a:t>
            </a:r>
          </a:p>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controller-specific annotations</a:t>
            </a:r>
          </a:p>
          <a:p>
            <a:pPr>
              <a:spcAft>
                <a:spcPts val="200"/>
              </a:spcAft>
            </a:pPr>
            <a:r>
              <a:rPr sz="1400" b="1">
                <a:solidFill>
                  <a:srgbClr val="0078D4"/>
                </a:solidFill>
                <a:latin typeface="Calibri"/>
              </a:rPr>
              <a:t>▸ </a:t>
            </a:r>
            <a:r>
              <a:rPr sz="1400" b="0" i="0">
                <a:solidFill>
                  <a:srgbClr val="1F2A44"/>
                </a:solidFill>
                <a:latin typeface="Calibri"/>
              </a:rPr>
              <a:t>For new platform designs, Gateway API gives cleaner ownership, portability, and typed extension points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27165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27165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25702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 App team (namespace: demo) ─┐    ┌─ Platform team (namespace: edge) ─┐</a:t>
            </a:r>
          </a:p>
          <a:p>
            <a:pPr>
              <a:lnSpc>
                <a:spcPct val="100000"/>
              </a:lnSpc>
            </a:pPr>
            <a:r>
              <a:rPr sz="900">
                <a:solidFill>
                  <a:srgbClr val="E6E6E6"/>
                </a:solidFill>
                <a:latin typeface="Consolas"/>
              </a:rPr>
              <a:t>    │                              │    │                                   │</a:t>
            </a:r>
          </a:p>
          <a:p>
            <a:pPr>
              <a:lnSpc>
                <a:spcPct val="100000"/>
              </a:lnSpc>
            </a:pPr>
            <a:r>
              <a:rPr sz="900">
                <a:solidFill>
                  <a:srgbClr val="E6E6E6"/>
                </a:solidFill>
                <a:latin typeface="Consolas"/>
              </a:rPr>
              <a:t>    │  HTTPRoute  ────parentRefs──▶│────│▶  Gateway (azure-alb-external)    │</a:t>
            </a:r>
          </a:p>
          <a:p>
            <a:pPr>
              <a:lnSpc>
                <a:spcPct val="100000"/>
              </a:lnSpc>
            </a:pPr>
            <a:r>
              <a:rPr sz="900">
                <a:solidFill>
                  <a:srgbClr val="E6E6E6"/>
                </a:solidFill>
                <a:latin typeface="Consolas"/>
              </a:rPr>
              <a:t>    │   hostnames, paths,          │    │   listeners, TLS, hostnames       │</a:t>
            </a:r>
          </a:p>
          <a:p>
            <a:pPr>
              <a:lnSpc>
                <a:spcPct val="100000"/>
              </a:lnSpc>
            </a:pPr>
            <a:r>
              <a:rPr sz="900">
                <a:solidFill>
                  <a:srgbClr val="E6E6E6"/>
                </a:solidFill>
                <a:latin typeface="Consolas"/>
              </a:rPr>
              <a:t>    │   header rules, splits       │    │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reconciled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alb-controller (in-cluster, WI)</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3905250"/>
            <a:ext cx="11277295" cy="1797297"/>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Role separation</a:t>
            </a:r>
            <a:r>
              <a:rPr sz="1400" b="0" i="0">
                <a:solidFill>
                  <a:srgbClr val="1F2A44"/>
                </a:solidFill>
                <a:latin typeface="Calibri"/>
              </a:rPr>
              <a:t>: platform owns Gateway, app owns 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gridCol w="3759098"/>
                <a:gridCol w="3759098"/>
              </a:tblGrid>
              <a:tr h="390579">
                <a:tc>
                  <a:txBody>
                    <a:bodyPr lIns="73152" rIns="73152" tIns="27432" bIns="27432"/>
                    <a:lstStyle/>
                    <a:p>
                      <a:r>
                        <a:rPr sz="1200" b="1">
                          <a:solidFill>
                            <a:srgbClr val="FFFFFF"/>
                          </a:solidFill>
                          <a:latin typeface="Calibri"/>
                        </a:rPr>
                        <a:t/>
                      </a:r>
                    </a:p>
                  </a:txBody>
                  <a:tcPr>
                    <a:solidFill>
                      <a:srgbClr val="103A6E"/>
                    </a:solidFill>
                  </a:tcPr>
                </a:tc>
                <a:tc>
                  <a:txBody>
                    <a:bodyPr lIns="73152" rIns="73152" tIns="27432" bIns="27432"/>
                    <a:lstStyle/>
                    <a:p>
                      <a:r>
                        <a:rPr sz="1200" b="1">
                          <a:solidFill>
                            <a:srgbClr val="FFFFFF"/>
                          </a:solidFill>
                          <a:latin typeface="Calibri"/>
                        </a:rPr>
                        <a:t>Managed Flux (existing)</a:t>
                      </a:r>
                    </a:p>
                  </a:txBody>
                  <a:tcPr>
                    <a:solidFill>
                      <a:srgbClr val="103A6E"/>
                    </a:solidFill>
                  </a:tcPr>
                </a:tc>
                <a:tc>
                  <a:txBody>
                    <a:bodyPr lIns="73152" rIns="73152" tIns="27432" bIns="27432"/>
                    <a:lstStyle/>
                    <a:p>
                      <a:r>
                        <a:rPr sz="1200" b="1">
                          <a:solidFill>
                            <a:srgbClr val="FFFFFF"/>
                          </a:solidFill>
                          <a:latin typeface="Calibri"/>
                        </a:rPr>
                        <a:t>Managed Argo CD (new)</a:t>
                      </a:r>
                    </a:p>
                  </a:txBody>
                  <a:tcPr>
                    <a:solidFill>
                      <a:srgbClr val="103A6E"/>
                    </a:solidFill>
                  </a:tcPr>
                </a:tc>
              </a:tr>
              <a:tr h="390579">
                <a:tc>
                  <a:txBody>
                    <a:bodyPr lIns="73152" rIns="73152" tIns="27432" bIns="27432"/>
                    <a:lstStyle/>
                    <a:p>
                      <a:r>
                        <a:rPr sz="1200" b="0" i="0">
                          <a:solidFill>
                            <a:srgbClr val="1F2A44"/>
                          </a:solidFill>
                          <a:latin typeface="Calibri"/>
                        </a:rPr>
                        <a:t>Add-on</a:t>
                      </a:r>
                    </a:p>
                  </a:txBody>
                  <a:tcPr>
                    <a:solidFill>
                      <a:srgbClr val="F3F5F9"/>
                    </a:solidFill>
                  </a:tcPr>
                </a:tc>
                <a:tc>
                  <a:txBody>
                    <a:bodyPr lIns="73152" rIns="73152" tIns="27432" bIns="27432"/>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lIns="73152" rIns="73152" tIns="27432" bIns="27432"/>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tr>
              <a:tr h="390579">
                <a:tc>
                  <a:txBody>
                    <a:bodyPr lIns="73152" rIns="73152" tIns="27432" bIns="27432"/>
                    <a:lstStyle/>
                    <a:p>
                      <a:r>
                        <a:rPr sz="1200" b="0" i="0">
                          <a:solidFill>
                            <a:srgbClr val="1F2A44"/>
                          </a:solidFill>
                          <a:latin typeface="Calibri"/>
                        </a:rPr>
                        <a:t>UI</a:t>
                      </a:r>
                    </a:p>
                  </a:txBody>
                  <a:tcPr>
                    <a:solidFill>
                      <a:srgbClr val="FFFFFF"/>
                    </a:solidFill>
                  </a:tcPr>
                </a:tc>
                <a:tc>
                  <a:txBody>
                    <a:bodyPr lIns="73152" rIns="73152" tIns="27432" bIns="27432"/>
                    <a:lstStyle/>
                    <a:p>
                      <a:r>
                        <a:rPr sz="1200" b="0" i="0">
                          <a:solidFill>
                            <a:srgbClr val="1F2A44"/>
                          </a:solidFill>
                          <a:latin typeface="Calibri"/>
                        </a:rPr>
                        <a:t>None (CLI / Git only)</a:t>
                      </a:r>
                    </a:p>
                  </a:txBody>
                  <a:tcPr>
                    <a:solidFill>
                      <a:srgbClr val="FFFFFF"/>
                    </a:solidFill>
                  </a:tcPr>
                </a:tc>
                <a:tc>
                  <a:txBody>
                    <a:bodyPr lIns="73152" rIns="73152" tIns="27432" bIns="27432"/>
                    <a:lstStyle/>
                    <a:p>
                      <a:r>
                        <a:rPr sz="1200" b="0" i="0">
                          <a:solidFill>
                            <a:srgbClr val="1F2A44"/>
                          </a:solidFill>
                          <a:latin typeface="Calibri"/>
                        </a:rPr>
                        <a:t>Argo CD Web UI + CLI</a:t>
                      </a:r>
                    </a:p>
                  </a:txBody>
                  <a:tcPr>
                    <a:solidFill>
                      <a:srgbClr val="FFFFFF"/>
                    </a:solidFill>
                  </a:tcPr>
                </a:tc>
              </a:tr>
              <a:tr h="390579">
                <a:tc>
                  <a:txBody>
                    <a:bodyPr lIns="73152" rIns="73152" tIns="27432" bIns="27432"/>
                    <a:lstStyle/>
                    <a:p>
                      <a:r>
                        <a:rPr sz="1200" b="0" i="0">
                          <a:solidFill>
                            <a:srgbClr val="1F2A44"/>
                          </a:solidFill>
                          <a:latin typeface="Calibri"/>
                        </a:rPr>
                        <a:t>Reconciler</a:t>
                      </a:r>
                    </a:p>
                  </a:txBody>
                  <a:tcPr>
                    <a:solidFill>
                      <a:srgbClr val="F3F5F9"/>
                    </a:solidFill>
                  </a:tcPr>
                </a:tc>
                <a:tc>
                  <a:txBody>
                    <a:bodyPr lIns="73152" rIns="73152" tIns="27432" bIns="27432"/>
                    <a:lstStyle/>
                    <a:p>
                      <a:r>
                        <a:rPr sz="1200" b="0" i="0">
                          <a:solidFill>
                            <a:srgbClr val="1F2A44"/>
                          </a:solidFill>
                          <a:latin typeface="Calibri"/>
                        </a:rPr>
                        <a:t>Flux controllers</a:t>
                      </a:r>
                    </a:p>
                  </a:txBody>
                  <a:tcPr>
                    <a:solidFill>
                      <a:srgbClr val="F3F5F9"/>
                    </a:solidFill>
                  </a:tcPr>
                </a:tc>
                <a:tc>
                  <a:txBody>
                    <a:bodyPr lIns="73152" rIns="73152" tIns="27432" bIns="27432"/>
                    <a:lstStyle/>
                    <a:p>
                      <a:r>
                        <a:rPr sz="1200" b="0" i="0">
                          <a:solidFill>
                            <a:srgbClr val="1F2A44"/>
                          </a:solidFill>
                          <a:latin typeface="Calibri"/>
                        </a:rPr>
                        <a:t>Argo CD controllers</a:t>
                      </a:r>
                    </a:p>
                  </a:txBody>
                  <a:tcPr>
                    <a:solidFill>
                      <a:srgbClr val="F3F5F9"/>
                    </a:solidFill>
                  </a:tcPr>
                </a:tc>
              </a:tr>
              <a:tr h="390579">
                <a:tc>
                  <a:txBody>
                    <a:bodyPr lIns="73152" rIns="73152" tIns="27432" bIns="27432"/>
                    <a:lstStyle/>
                    <a:p>
                      <a:r>
                        <a:rPr sz="1200" b="0" i="0">
                          <a:solidFill>
                            <a:srgbClr val="1F2A44"/>
                          </a:solidFill>
                          <a:latin typeface="Calibri"/>
                        </a:rPr>
                        <a:t>Multi-cluster</a:t>
                      </a:r>
                    </a:p>
                  </a:txBody>
                  <a:tcPr>
                    <a:solidFill>
                      <a:srgbClr val="FFFFFF"/>
                    </a:solidFill>
                  </a:tcPr>
                </a:tc>
                <a:tc>
                  <a:txBody>
                    <a:bodyPr lIns="73152" rIns="73152" tIns="27432" bIns="27432"/>
                    <a:lstStyle/>
                    <a:p>
                      <a:r>
                        <a:rPr sz="1200" b="0" i="0">
                          <a:solidFill>
                            <a:srgbClr val="1F2A44"/>
                          </a:solidFill>
                          <a:latin typeface="Calibri"/>
                        </a:rPr>
                        <a:t>Per-cluster</a:t>
                      </a:r>
                    </a:p>
                  </a:txBody>
                  <a:tcPr>
                    <a:solidFill>
                      <a:srgbClr val="FFFFFF"/>
                    </a:solidFill>
                  </a:tcPr>
                </a:tc>
                <a:tc>
                  <a:txBody>
                    <a:bodyPr lIns="73152" rIns="73152" tIns="27432" bIns="27432"/>
                    <a:lstStyle/>
                    <a:p>
                      <a:r>
                        <a:rPr sz="1200" b="0" i="0">
                          <a:solidFill>
                            <a:srgbClr val="1F2A44"/>
                          </a:solidFill>
                          <a:latin typeface="Calibri"/>
                        </a:rPr>
                        <a:t>Hub-and-spoke from one Argo CD</a:t>
                      </a:r>
                    </a:p>
                  </a:txBody>
                  <a:tcPr>
                    <a:solidFill>
                      <a:srgbClr val="FFFFFF"/>
                    </a:solidFill>
                  </a:tcPr>
                </a:tc>
              </a:tr>
              <a:tr h="390579">
                <a:tc>
                  <a:txBody>
                    <a:bodyPr lIns="73152" rIns="73152" tIns="27432" bIns="27432"/>
                    <a:lstStyle/>
                    <a:p>
                      <a:r>
                        <a:rPr sz="1200" b="0" i="0">
                          <a:solidFill>
                            <a:srgbClr val="1F2A44"/>
                          </a:solidFill>
                          <a:latin typeface="Calibri"/>
                        </a:rPr>
                        <a:t>Tenancy model</a:t>
                      </a:r>
                    </a:p>
                  </a:txBody>
                  <a:tcPr>
                    <a:solidFill>
                      <a:srgbClr val="F3F5F9"/>
                    </a:solidFill>
                  </a:tcPr>
                </a:tc>
                <a:tc>
                  <a:txBody>
                    <a:bodyPr lIns="73152" rIns="73152" tIns="27432" bIns="27432"/>
                    <a:lstStyle/>
                    <a:p>
                      <a:r>
                        <a:rPr sz="1200" b="0" i="0">
                          <a:solidFill>
                            <a:srgbClr val="1F2A44"/>
                          </a:solidFill>
                          <a:latin typeface="Calibri"/>
                        </a:rPr>
                        <a:t>Kustomization / HelmRelease</a:t>
                      </a:r>
                    </a:p>
                  </a:txBody>
                  <a:tcPr>
                    <a:solidFill>
                      <a:srgbClr val="F3F5F9"/>
                    </a:solidFill>
                  </a:tcPr>
                </a:tc>
                <a:tc>
                  <a:txBody>
                    <a:bodyPr lIns="73152" rIns="73152" tIns="27432" bIns="27432"/>
                    <a:lstStyle/>
                    <a:p>
                      <a:r>
                        <a:rPr sz="1200" b="0" i="0">
                          <a:solidFill>
                            <a:srgbClr val="1F2A44"/>
                          </a:solidFill>
                          <a:latin typeface="Calibri"/>
                        </a:rPr>
                        <a:t>Application / ApplicationSet / Project</a:t>
                      </a:r>
                    </a:p>
                  </a:txBody>
                  <a:tcPr>
                    <a:solidFill>
                      <a:srgbClr val="F3F5F9"/>
                    </a:solidFill>
                  </a:tcPr>
                </a:tc>
              </a:tr>
              <a:tr h="390582">
                <a:tc>
                  <a:txBody>
                    <a:bodyPr lIns="73152" rIns="73152" tIns="27432" bIns="27432"/>
                    <a:lstStyle/>
                    <a:p>
                      <a:r>
                        <a:rPr sz="1200" b="0" i="0">
                          <a:solidFill>
                            <a:srgbClr val="1F2A44"/>
                          </a:solidFill>
                          <a:latin typeface="Calibri"/>
                        </a:rPr>
                        <a:t>Strength</a:t>
                      </a:r>
                    </a:p>
                  </a:txBody>
                  <a:tcPr>
                    <a:solidFill>
                      <a:srgbClr val="FFFFFF"/>
                    </a:solidFill>
                  </a:tcPr>
                </a:tc>
                <a:tc>
                  <a:txBody>
                    <a:bodyPr lIns="73152" rIns="73152" tIns="27432" bIns="27432"/>
                    <a:lstStyle/>
                    <a:p>
                      <a:r>
                        <a:rPr sz="1200" b="0" i="0">
                          <a:solidFill>
                            <a:srgbClr val="1F2A44"/>
                          </a:solidFill>
                          <a:latin typeface="Calibri"/>
                        </a:rPr>
                        <a:t>Lightweight, pull-only, great for fleet</a:t>
                      </a:r>
                    </a:p>
                  </a:txBody>
                  <a:tcPr>
                    <a:solidFill>
                      <a:srgbClr val="FFFFFF"/>
                    </a:solidFill>
                  </a:tcPr>
                </a:tc>
                <a:tc>
                  <a:txBody>
                    <a:bodyPr lIns="73152" rIns="73152" tIns="27432" bIns="27432"/>
                    <a:lstStyle/>
                    <a:p>
                      <a:r>
                        <a:rPr sz="1200" b="0" i="0">
                          <a:solidFill>
                            <a:srgbClr val="1F2A44"/>
                          </a:solidFill>
                          <a:latin typeface="Calibri"/>
                        </a:rPr>
                        <a:t>Visual, app-centric, great for dev teams</a:t>
                      </a:r>
                    </a:p>
                  </a:txBody>
                  <a:tcPr>
                    <a:solidFill>
                      <a:srgbClr val="FFFFFF"/>
                    </a:solidFill>
                  </a:tcPr>
                </a:tc>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Pinned demo Kubernetes version for reproducibility</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Ensure the K8s-configuration provider + extension CLI are available</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managed Argo CD extension on the cluster</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Bootstrap an Application from Git</a:t>
            </a:r>
          </a:p>
        </p:txBody>
      </p:sp>
      <p:sp>
        <p:nvSpPr>
          <p:cNvPr id="21" name="Rounded Rectangle 20"/>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4" name="Oval 23"/>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with OIDC issuer and Workload Identity</a:t>
            </a:r>
          </a:p>
        </p:txBody>
      </p:sp>
      <p:sp>
        <p:nvSpPr>
          <p:cNvPr id="26" name="Oval 25"/>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Argo CD extension installed (Microsoft.ArgoCD)</a:t>
            </a:r>
          </a:p>
        </p:txBody>
      </p:sp>
      <p:sp>
        <p:nvSpPr>
          <p:cNvPr id="28" name="Oval 27"/>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Entra ID SSO turned on for the Argo CD UI</a:t>
            </a:r>
          </a:p>
        </p:txBody>
      </p:sp>
      <p:sp>
        <p:nvSpPr>
          <p:cNvPr id="30" name="Oval 29"/>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Bootstrap Application syncing from Git into the demo namespace</a:t>
            </a:r>
          </a:p>
        </p:txBody>
      </p:sp>
      <p:sp>
        <p:nvSpPr>
          <p:cNvPr id="32" name="Rounded Rectangle 31"/>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4" name="TextBox 33"/>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5" name="Rectangle 3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7" name="Rounded Rectangle 36"/>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9" name="TextBox 38"/>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bridges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198360"/>
            <a:ext cx="11277295" cy="552702"/>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25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